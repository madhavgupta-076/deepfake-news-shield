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2" r:id="rId1"/>
    <p:sldMasterId id="2147484988" r:id="rId2"/>
  </p:sldMasterIdLst>
  <p:notesMasterIdLst>
    <p:notesMasterId r:id="rId44"/>
  </p:notesMasterIdLst>
  <p:handoutMasterIdLst>
    <p:handoutMasterId r:id="rId45"/>
  </p:handoutMasterIdLst>
  <p:sldIdLst>
    <p:sldId id="325" r:id="rId3"/>
    <p:sldId id="839" r:id="rId4"/>
    <p:sldId id="840" r:id="rId5"/>
    <p:sldId id="910" r:id="rId6"/>
    <p:sldId id="859" r:id="rId7"/>
    <p:sldId id="884" r:id="rId8"/>
    <p:sldId id="885" r:id="rId9"/>
    <p:sldId id="886" r:id="rId10"/>
    <p:sldId id="881" r:id="rId11"/>
    <p:sldId id="887" r:id="rId12"/>
    <p:sldId id="843" r:id="rId13"/>
    <p:sldId id="892" r:id="rId14"/>
    <p:sldId id="845" r:id="rId15"/>
    <p:sldId id="883" r:id="rId16"/>
    <p:sldId id="898" r:id="rId17"/>
    <p:sldId id="899" r:id="rId18"/>
    <p:sldId id="902" r:id="rId19"/>
    <p:sldId id="888" r:id="rId20"/>
    <p:sldId id="903" r:id="rId21"/>
    <p:sldId id="889" r:id="rId22"/>
    <p:sldId id="890" r:id="rId23"/>
    <p:sldId id="893" r:id="rId24"/>
    <p:sldId id="894" r:id="rId25"/>
    <p:sldId id="873" r:id="rId26"/>
    <p:sldId id="895" r:id="rId27"/>
    <p:sldId id="896" r:id="rId28"/>
    <p:sldId id="876" r:id="rId29"/>
    <p:sldId id="904" r:id="rId30"/>
    <p:sldId id="906" r:id="rId31"/>
    <p:sldId id="905" r:id="rId32"/>
    <p:sldId id="907" r:id="rId33"/>
    <p:sldId id="878" r:id="rId34"/>
    <p:sldId id="880" r:id="rId35"/>
    <p:sldId id="879" r:id="rId36"/>
    <p:sldId id="909" r:id="rId37"/>
    <p:sldId id="891" r:id="rId38"/>
    <p:sldId id="854" r:id="rId39"/>
    <p:sldId id="911" r:id="rId40"/>
    <p:sldId id="882" r:id="rId41"/>
    <p:sldId id="908" r:id="rId42"/>
    <p:sldId id="858" r:id="rId43"/>
  </p:sldIdLst>
  <p:sldSz cx="9144000" cy="6858000" type="screen4x3"/>
  <p:notesSz cx="9942513" cy="6761163"/>
  <p:custDataLst>
    <p:tags r:id="rId46"/>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689EA8C8-584C-4C01-89E3-CC153F351FCF}">
          <p14:sldIdLst>
            <p14:sldId id="325"/>
            <p14:sldId id="839"/>
            <p14:sldId id="840"/>
            <p14:sldId id="910"/>
            <p14:sldId id="859"/>
            <p14:sldId id="884"/>
            <p14:sldId id="885"/>
            <p14:sldId id="886"/>
            <p14:sldId id="881"/>
            <p14:sldId id="887"/>
            <p14:sldId id="843"/>
            <p14:sldId id="892"/>
            <p14:sldId id="845"/>
            <p14:sldId id="883"/>
            <p14:sldId id="898"/>
            <p14:sldId id="899"/>
            <p14:sldId id="902"/>
            <p14:sldId id="888"/>
            <p14:sldId id="903"/>
            <p14:sldId id="889"/>
            <p14:sldId id="890"/>
            <p14:sldId id="893"/>
            <p14:sldId id="894"/>
            <p14:sldId id="873"/>
            <p14:sldId id="895"/>
            <p14:sldId id="896"/>
            <p14:sldId id="876"/>
            <p14:sldId id="904"/>
            <p14:sldId id="906"/>
            <p14:sldId id="905"/>
            <p14:sldId id="907"/>
            <p14:sldId id="878"/>
            <p14:sldId id="880"/>
            <p14:sldId id="879"/>
            <p14:sldId id="909"/>
            <p14:sldId id="891"/>
            <p14:sldId id="854"/>
            <p14:sldId id="911"/>
            <p14:sldId id="882"/>
            <p14:sldId id="908"/>
            <p14:sldId id="858"/>
          </p14:sldIdLst>
        </p14:section>
      </p14:sectionLst>
    </p:ext>
    <p:ext uri="{EFAFB233-063F-42B5-8137-9DF3F51BA10A}">
      <p15:sldGuideLst xmlns:p15="http://schemas.microsoft.com/office/powerpoint/2012/main">
        <p15:guide id="1" orient="horz" pos="816">
          <p15:clr>
            <a:srgbClr val="A4A3A4"/>
          </p15:clr>
        </p15:guide>
        <p15:guide id="2" pos="521">
          <p15:clr>
            <a:srgbClr val="A4A3A4"/>
          </p15:clr>
        </p15:guide>
      </p15:sldGuideLst>
    </p:ext>
    <p:ext uri="{2D200454-40CA-4A62-9FC3-DE9A4176ACB9}">
      <p15:notesGuideLst xmlns:p15="http://schemas.microsoft.com/office/powerpoint/2012/main">
        <p15:guide id="1" orient="horz" pos="2130">
          <p15:clr>
            <a:srgbClr val="A4A3A4"/>
          </p15:clr>
        </p15:guide>
        <p15:guide id="2" pos="31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8295A6"/>
    <a:srgbClr val="8C9EAE"/>
    <a:srgbClr val="A2B1BE"/>
    <a:srgbClr val="A8B6C2"/>
    <a:srgbClr val="D6E5D1"/>
    <a:srgbClr val="CDE0C7"/>
    <a:srgbClr val="E8F1FF"/>
    <a:srgbClr val="FFFFC9"/>
    <a:srgbClr val="D5DC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3" autoAdjust="0"/>
    <p:restoredTop sz="94082" autoAdjust="0"/>
  </p:normalViewPr>
  <p:slideViewPr>
    <p:cSldViewPr snapToGrid="0">
      <p:cViewPr varScale="1">
        <p:scale>
          <a:sx n="70" d="100"/>
          <a:sy n="70" d="100"/>
        </p:scale>
        <p:origin x="1168" y="40"/>
      </p:cViewPr>
      <p:guideLst>
        <p:guide orient="horz" pos="816"/>
        <p:guide pos="521"/>
      </p:guideLst>
    </p:cSldViewPr>
  </p:slideViewPr>
  <p:outlineViewPr>
    <p:cViewPr>
      <p:scale>
        <a:sx n="33" d="100"/>
        <a:sy n="33" d="100"/>
      </p:scale>
      <p:origin x="0" y="-49901"/>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7" d="100"/>
          <a:sy n="77" d="100"/>
        </p:scale>
        <p:origin x="1599" y="43"/>
      </p:cViewPr>
      <p:guideLst>
        <p:guide orient="horz" pos="2130"/>
        <p:guide pos="31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dirty="0">
                <a:latin typeface="Helvetica" charset="0"/>
                <a:ea typeface="ＭＳ Ｐゴシック" charset="-128"/>
              </a:defRPr>
            </a:lvl1pPr>
          </a:lstStyle>
          <a:p>
            <a:pPr>
              <a:defRPr/>
            </a:pPr>
            <a:endParaRPr lang="en-US"/>
          </a:p>
        </p:txBody>
      </p:sp>
      <p:sp>
        <p:nvSpPr>
          <p:cNvPr id="62467" name="Rectangle 3"/>
          <p:cNvSpPr>
            <a:spLocks noGrp="1" noChangeArrowheads="1"/>
          </p:cNvSpPr>
          <p:nvPr>
            <p:ph type="dt" sz="quarter"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62468" name="Rectangle 4"/>
          <p:cNvSpPr>
            <a:spLocks noGrp="1" noChangeArrowheads="1"/>
          </p:cNvSpPr>
          <p:nvPr>
            <p:ph type="ftr" sz="quarter" idx="2"/>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62469" name="Rectangle 5"/>
          <p:cNvSpPr>
            <a:spLocks noGrp="1" noChangeArrowheads="1"/>
          </p:cNvSpPr>
          <p:nvPr>
            <p:ph type="sldNum" sz="quarter" idx="3"/>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5FAB118C-9CC5-46C6-A261-8E8616325EE7}" type="slidenum">
              <a:rPr lang="en-US" altLang="en-US"/>
              <a:pPr>
                <a:defRPr/>
              </a:pPr>
              <a:t>‹#›</a:t>
            </a:fld>
            <a:endParaRPr lang="en-US" altLang="en-US"/>
          </a:p>
        </p:txBody>
      </p:sp>
    </p:spTree>
    <p:extLst>
      <p:ext uri="{BB962C8B-B14F-4D97-AF65-F5344CB8AC3E}">
        <p14:creationId xmlns:p14="http://schemas.microsoft.com/office/powerpoint/2010/main" val="1629937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5" name="Rectangle 3"/>
          <p:cNvSpPr>
            <a:spLocks noGrp="1" noChangeArrowheads="1"/>
          </p:cNvSpPr>
          <p:nvPr>
            <p:ph type="dt"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3230563" y="500063"/>
            <a:ext cx="3400425" cy="25511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1300163" y="3221038"/>
            <a:ext cx="7369175" cy="30511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4758" name="Rectangle 6"/>
          <p:cNvSpPr>
            <a:spLocks noGrp="1" noChangeArrowheads="1"/>
          </p:cNvSpPr>
          <p:nvPr>
            <p:ph type="ftr" sz="quarter" idx="4"/>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9" name="Rectangle 7"/>
          <p:cNvSpPr>
            <a:spLocks noGrp="1" noChangeArrowheads="1"/>
          </p:cNvSpPr>
          <p:nvPr>
            <p:ph type="sldNum" sz="quarter" idx="5"/>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CA46AE8F-55D5-467D-8760-46AABFD6E887}" type="slidenum">
              <a:rPr lang="en-US" altLang="en-US"/>
              <a:pPr>
                <a:defRPr/>
              </a:pPr>
              <a:t>‹#›</a:t>
            </a:fld>
            <a:endParaRPr lang="en-US" altLang="en-US"/>
          </a:p>
        </p:txBody>
      </p:sp>
    </p:spTree>
    <p:extLst>
      <p:ext uri="{BB962C8B-B14F-4D97-AF65-F5344CB8AC3E}">
        <p14:creationId xmlns:p14="http://schemas.microsoft.com/office/powerpoint/2010/main" val="10897200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rgbClr val="E36C0A"/>
        </a:solidFill>
        <a:latin typeface="Times New Roman" charset="0"/>
        <a:ea typeface="MS PGothic" panose="020B0600070205080204"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93253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a:t>
            </a:fld>
            <a:endParaRPr lang="en-US" altLang="en-US"/>
          </a:p>
        </p:txBody>
      </p:sp>
    </p:spTree>
    <p:extLst>
      <p:ext uri="{BB962C8B-B14F-4D97-AF65-F5344CB8AC3E}">
        <p14:creationId xmlns:p14="http://schemas.microsoft.com/office/powerpoint/2010/main" val="1870429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12</a:t>
            </a:fld>
            <a:endParaRPr lang="en-US" altLang="en-US"/>
          </a:p>
        </p:txBody>
      </p:sp>
    </p:spTree>
    <p:extLst>
      <p:ext uri="{BB962C8B-B14F-4D97-AF65-F5344CB8AC3E}">
        <p14:creationId xmlns:p14="http://schemas.microsoft.com/office/powerpoint/2010/main" val="3683982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14</a:t>
            </a:fld>
            <a:endParaRPr lang="en-US" altLang="en-US"/>
          </a:p>
        </p:txBody>
      </p:sp>
    </p:spTree>
    <p:extLst>
      <p:ext uri="{BB962C8B-B14F-4D97-AF65-F5344CB8AC3E}">
        <p14:creationId xmlns:p14="http://schemas.microsoft.com/office/powerpoint/2010/main" val="2440877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15</a:t>
            </a:fld>
            <a:endParaRPr lang="en-US" altLang="en-US"/>
          </a:p>
        </p:txBody>
      </p:sp>
    </p:spTree>
    <p:extLst>
      <p:ext uri="{BB962C8B-B14F-4D97-AF65-F5344CB8AC3E}">
        <p14:creationId xmlns:p14="http://schemas.microsoft.com/office/powerpoint/2010/main" val="244047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AD4A-6C3F-CA11-4EB9-4D1293D69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A166F-38E6-6DA3-CF83-74D6952CA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0AC1C-670D-CF83-F96C-F4352C78C7A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1C6B83-D12E-8AB0-0A41-6CA008E94DCD}"/>
              </a:ext>
            </a:extLst>
          </p:cNvPr>
          <p:cNvSpPr>
            <a:spLocks noGrp="1"/>
          </p:cNvSpPr>
          <p:nvPr>
            <p:ph type="sldNum" sz="quarter" idx="5"/>
          </p:nvPr>
        </p:nvSpPr>
        <p:spPr/>
        <p:txBody>
          <a:bodyPr/>
          <a:lstStyle/>
          <a:p>
            <a:pPr>
              <a:defRPr/>
            </a:pPr>
            <a:fld id="{CA46AE8F-55D5-467D-8760-46AABFD6E887}" type="slidenum">
              <a:rPr lang="en-US" altLang="en-US" smtClean="0"/>
              <a:pPr>
                <a:defRPr/>
              </a:pPr>
              <a:t>16</a:t>
            </a:fld>
            <a:endParaRPr lang="en-US" altLang="en-US"/>
          </a:p>
        </p:txBody>
      </p:sp>
    </p:spTree>
    <p:extLst>
      <p:ext uri="{BB962C8B-B14F-4D97-AF65-F5344CB8AC3E}">
        <p14:creationId xmlns:p14="http://schemas.microsoft.com/office/powerpoint/2010/main" val="1596215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27</a:t>
            </a:fld>
            <a:endParaRPr lang="en-US" altLang="en-US"/>
          </a:p>
        </p:txBody>
      </p:sp>
    </p:spTree>
    <p:extLst>
      <p:ext uri="{BB962C8B-B14F-4D97-AF65-F5344CB8AC3E}">
        <p14:creationId xmlns:p14="http://schemas.microsoft.com/office/powerpoint/2010/main" val="102180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29</a:t>
            </a:fld>
            <a:endParaRPr lang="en-US" altLang="en-US"/>
          </a:p>
        </p:txBody>
      </p:sp>
    </p:spTree>
    <p:extLst>
      <p:ext uri="{BB962C8B-B14F-4D97-AF65-F5344CB8AC3E}">
        <p14:creationId xmlns:p14="http://schemas.microsoft.com/office/powerpoint/2010/main" val="923926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755373" y="685800"/>
            <a:ext cx="7901609" cy="1615966"/>
          </a:xfrm>
          <a:solidFill>
            <a:srgbClr val="D2691E"/>
          </a:solidFill>
          <a:ln>
            <a:solidFill>
              <a:srgbClr val="D2691E"/>
            </a:solidFill>
          </a:ln>
        </p:spPr>
        <p:txBody>
          <a:bodyPr/>
          <a:lstStyle>
            <a:lvl1pPr algn="ctr">
              <a:defRPr sz="3200"/>
            </a:lvl1pPr>
          </a:lstStyle>
          <a:p>
            <a:r>
              <a:rPr lang="en-US" dirty="0"/>
              <a:t>Click to edit Master title style</a:t>
            </a:r>
          </a:p>
        </p:txBody>
      </p:sp>
    </p:spTree>
    <p:extLst>
      <p:ext uri="{BB962C8B-B14F-4D97-AF65-F5344CB8AC3E}">
        <p14:creationId xmlns:p14="http://schemas.microsoft.com/office/powerpoint/2010/main" val="3988190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60772DA-5EEF-F2DB-EA3A-53ED2791DE5A}"/>
              </a:ext>
            </a:extLst>
          </p:cNvPr>
          <p:cNvSpPr>
            <a:spLocks noGrp="1" noChangeArrowheads="1"/>
          </p:cNvSpPr>
          <p:nvPr>
            <p:ph type="title"/>
          </p:nvPr>
        </p:nvSpPr>
        <p:spPr bwMode="auto">
          <a:xfrm>
            <a:off x="40640" y="30480"/>
            <a:ext cx="8328752"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lvl1pPr marL="90488" indent="0">
              <a:tabLst/>
              <a:defRPr/>
            </a:lvl1pPr>
          </a:lstStyle>
          <a:p>
            <a:pPr lvl="0"/>
            <a:r>
              <a:rPr lang="en-US" altLang="en-US" dirty="0"/>
              <a:t>Click to edit Master title style</a:t>
            </a:r>
          </a:p>
        </p:txBody>
      </p:sp>
      <p:sp>
        <p:nvSpPr>
          <p:cNvPr id="7" name="Rectangle 4">
            <a:extLst>
              <a:ext uri="{FF2B5EF4-FFF2-40B4-BE49-F238E27FC236}">
                <a16:creationId xmlns:a16="http://schemas.microsoft.com/office/drawing/2014/main" id="{83A4BD7D-405F-9CB0-AA2C-010D5B4F7D04}"/>
              </a:ext>
            </a:extLst>
          </p:cNvPr>
          <p:cNvSpPr>
            <a:spLocks noGrp="1" noChangeArrowheads="1"/>
          </p:cNvSpPr>
          <p:nvPr>
            <p:ph idx="1" hasCustomPrompt="1"/>
          </p:nvPr>
        </p:nvSpPr>
        <p:spPr bwMode="auto">
          <a:xfrm>
            <a:off x="86197" y="782321"/>
            <a:ext cx="8953500" cy="59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800">
                <a:latin typeface="Helvetica" pitchFamily="2" charset="0"/>
              </a:defRPr>
            </a:lvl1pPr>
            <a:lvl2pPr>
              <a:defRPr sz="1600">
                <a:latin typeface="Helvetica" pitchFamily="2" charset="0"/>
              </a:defRPr>
            </a:lvl2pPr>
            <a:lvl3pPr>
              <a:defRPr sz="1600">
                <a:latin typeface="Helvetica" pitchFamily="2" charset="0"/>
              </a:defRPr>
            </a:lvl3pPr>
            <a:lvl4pPr>
              <a:defRPr sz="1600">
                <a:latin typeface="Helvetica" pitchFamily="2" charset="0"/>
              </a:defRPr>
            </a:lvl4pPr>
            <a:lvl5pPr>
              <a:defRPr sz="1600">
                <a:latin typeface="Helvetica" pitchFamily="2" charset="0"/>
              </a:defRPr>
            </a:lvl5p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cxnSp>
        <p:nvCxnSpPr>
          <p:cNvPr id="3" name="Straight Connector 2">
            <a:extLst>
              <a:ext uri="{FF2B5EF4-FFF2-40B4-BE49-F238E27FC236}">
                <a16:creationId xmlns:a16="http://schemas.microsoft.com/office/drawing/2014/main" id="{3B490A3F-A374-7A6E-AF01-14E3ADC8E0A4}"/>
              </a:ext>
            </a:extLst>
          </p:cNvPr>
          <p:cNvCxnSpPr/>
          <p:nvPr userDrawn="1"/>
        </p:nvCxnSpPr>
        <p:spPr bwMode="auto">
          <a:xfrm>
            <a:off x="579120" y="6658235"/>
            <a:ext cx="7934960" cy="0"/>
          </a:xfrm>
          <a:prstGeom prst="line">
            <a:avLst/>
          </a:prstGeom>
          <a:solidFill>
            <a:schemeClr val="accent1"/>
          </a:solidFill>
          <a:ln w="9525" cap="flat" cmpd="sng" algn="ctr">
            <a:solidFill>
              <a:srgbClr val="005493"/>
            </a:solidFill>
            <a:prstDash val="solid"/>
            <a:round/>
            <a:headEnd type="none" w="med" len="med"/>
            <a:tailEnd type="none" w="med" len="med"/>
          </a:ln>
          <a:effectLst/>
        </p:spPr>
      </p:cxnSp>
    </p:spTree>
    <p:extLst>
      <p:ext uri="{BB962C8B-B14F-4D97-AF65-F5344CB8AC3E}">
        <p14:creationId xmlns:p14="http://schemas.microsoft.com/office/powerpoint/2010/main" val="3137477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2F549-2A59-0EBE-B20C-FDD132AA057F}"/>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5CF5E6B-4232-7F47-6572-C584B6248A3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E4AA181-A82F-DFFF-0C75-00D161BB85DB}"/>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A78AAFD2-15E4-94FD-6B2F-AED1EAD5A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A8875-6B38-F6E0-7F20-3D45C9D45C63}"/>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721718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0DF3-5750-400D-C0A3-FD269105FD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D39BC4B-D896-69F5-E7C3-62A4AB7A325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607398-FDC7-1A26-6F22-383DEF795CD9}"/>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38FFA35C-7866-57F6-19ED-0D2C92949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3EC1F-A855-3058-4205-BD67617BF5F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83470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3BD2-D04D-C43F-C5DB-F859BE6BDC28}"/>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95B6478-CD27-AAB2-D9C3-903711F7DC3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40C36A2-37B4-E9CC-9FE7-FA068FC45CED}"/>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43DF65CB-C85A-1BEC-7089-2FDF5A62D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94C664-95ED-AD50-E01A-84573DB4423E}"/>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94316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BCED-5EB5-47E1-0BF0-783FDEFE60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35DFF23-8CDF-00B4-69A6-7A113B7A156E}"/>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491131A-DEEA-72E3-2147-21823668A37F}"/>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15BF4E-F3EE-751A-3277-A34B448B89E3}"/>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6" name="Footer Placeholder 5">
            <a:extLst>
              <a:ext uri="{FF2B5EF4-FFF2-40B4-BE49-F238E27FC236}">
                <a16:creationId xmlns:a16="http://schemas.microsoft.com/office/drawing/2014/main" id="{666E018C-DE01-DD2D-91A4-8E4F4C4E0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027FA-4DB8-8064-7F50-FC33CF298986}"/>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81975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C92F-1A51-C9CF-592B-B791F2B1B5F2}"/>
              </a:ext>
            </a:extLst>
          </p:cNvPr>
          <p:cNvSpPr>
            <a:spLocks noGrp="1"/>
          </p:cNvSpPr>
          <p:nvPr>
            <p:ph type="title"/>
          </p:nvPr>
        </p:nvSpPr>
        <p:spPr>
          <a:xfrm>
            <a:off x="630238" y="365125"/>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C3D5B5-0196-29B0-0C59-AFC50C28658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90ECBA-F070-B624-1183-A804AB30FBAF}"/>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2231DF-2850-ABEF-478F-712432FBF20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4D5C47-74CF-B0D8-AF5E-B61C5DF65AF9}"/>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BBD41A-DE03-A4C3-D852-986217220238}"/>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8" name="Footer Placeholder 7">
            <a:extLst>
              <a:ext uri="{FF2B5EF4-FFF2-40B4-BE49-F238E27FC236}">
                <a16:creationId xmlns:a16="http://schemas.microsoft.com/office/drawing/2014/main" id="{CFAD5BAC-5376-F14B-A7C2-6448B9DA1F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2040C-B4AA-29B9-072C-53D2377076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610206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5863-EB41-7519-D5D8-504BBCE0E13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75EA473-481E-7A4E-0D15-CA8C91261FAC}"/>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4" name="Footer Placeholder 3">
            <a:extLst>
              <a:ext uri="{FF2B5EF4-FFF2-40B4-BE49-F238E27FC236}">
                <a16:creationId xmlns:a16="http://schemas.microsoft.com/office/drawing/2014/main" id="{2D5B42F5-5CDF-FCB6-3FFD-50104AC035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D58FF-0702-F585-C5E9-AF667AD1D451}"/>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1317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D166C8-F956-7DF6-EF97-BF79F049F572}"/>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3" name="Footer Placeholder 2">
            <a:extLst>
              <a:ext uri="{FF2B5EF4-FFF2-40B4-BE49-F238E27FC236}">
                <a16:creationId xmlns:a16="http://schemas.microsoft.com/office/drawing/2014/main" id="{6ADDFCA2-8259-1499-BB18-43AF6234E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E0F6BB-25BE-AE16-B87C-55A7EA6EEDE4}"/>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36035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372F-13DF-2C8B-A02E-7FA8660C1A30}"/>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C1FA82C-ED11-0064-5D40-A0969ACEB32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B86AD5D-C77F-2DEB-F932-42D23B45915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C924465-317D-30C8-E120-77B800504FCE}"/>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6" name="Footer Placeholder 5">
            <a:extLst>
              <a:ext uri="{FF2B5EF4-FFF2-40B4-BE49-F238E27FC236}">
                <a16:creationId xmlns:a16="http://schemas.microsoft.com/office/drawing/2014/main" id="{B6CA9908-C7A3-84A0-B790-860F5DA77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D6993-9C35-41D2-39DB-C35CAC96EB49}"/>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14082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5142-42C2-98C6-191B-7D76312C8DDF}"/>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3B79E1E-F134-700D-EE57-D753560BAA2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D13C7F-9F56-6EE4-7729-50E8E87ABDB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5A8426-D088-EB2C-AA97-0F35A0F9350E}"/>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6" name="Footer Placeholder 5">
            <a:extLst>
              <a:ext uri="{FF2B5EF4-FFF2-40B4-BE49-F238E27FC236}">
                <a16:creationId xmlns:a16="http://schemas.microsoft.com/office/drawing/2014/main" id="{E3B94F67-DE2A-27E0-A332-10FED3DE1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3980A-1732-61A9-1869-56D8BB428C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36136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0EA8-09A8-DB4C-245F-2B2ACFAFDA2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BB735B-DE2A-097B-BF58-29178F6E8D5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4DBF62-F6A7-8AA2-F96A-D569858AFC61}"/>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00562532-AE81-CABD-BF79-AE45984E0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80679-0A10-B48C-45F5-CD24BEF1920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794544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BEC8-8876-DCEC-4C31-E710E5C6668C}"/>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927F8C-50FA-23DD-E83D-04B4768148E6}"/>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BBE797-D19F-0A9F-0C01-A618122567E9}"/>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5F2A5B23-40E1-9EB6-E8AB-800821F5B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CA9C8-FF39-4ACB-2644-7DBFF351F56F}"/>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435908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0007-9E92-488F-FBC3-8F416B54870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D95664E-E30C-F040-0357-44B0CD989C0E}"/>
              </a:ext>
            </a:extLst>
          </p:cNvPr>
          <p:cNvSpPr>
            <a:spLocks noGrp="1"/>
          </p:cNvSpPr>
          <p:nvPr>
            <p:ph type="dt" sz="half" idx="10"/>
          </p:nvPr>
        </p:nvSpPr>
        <p:spPr/>
        <p:txBody>
          <a:bodyPr/>
          <a:lstStyle/>
          <a:p>
            <a:fld id="{93A0509C-50A6-7446-A231-A4C5FA90B28F}" type="datetimeFigureOut">
              <a:rPr lang="en-US" smtClean="0"/>
              <a:t>12/4/2025</a:t>
            </a:fld>
            <a:endParaRPr lang="en-US"/>
          </a:p>
        </p:txBody>
      </p:sp>
      <p:sp>
        <p:nvSpPr>
          <p:cNvPr id="4" name="Footer Placeholder 3">
            <a:extLst>
              <a:ext uri="{FF2B5EF4-FFF2-40B4-BE49-F238E27FC236}">
                <a16:creationId xmlns:a16="http://schemas.microsoft.com/office/drawing/2014/main" id="{FF909917-0B98-9D01-2161-181852C1E7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F9CBC5-B5C7-CB3D-CD6C-C05C764C1828}"/>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5540585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30480" y="27846"/>
            <a:ext cx="8328751"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p>
            <a:pPr lvl="0"/>
            <a:r>
              <a:rPr lang="en-US" altLang="en-US" dirty="0"/>
              <a:t> Click to edit Master title style</a:t>
            </a:r>
          </a:p>
        </p:txBody>
      </p:sp>
      <p:sp>
        <p:nvSpPr>
          <p:cNvPr id="1027" name="Rectangle 4"/>
          <p:cNvSpPr>
            <a:spLocks noGrp="1" noChangeArrowheads="1"/>
          </p:cNvSpPr>
          <p:nvPr>
            <p:ph type="body" idx="1"/>
          </p:nvPr>
        </p:nvSpPr>
        <p:spPr bwMode="auto">
          <a:xfrm>
            <a:off x="86197" y="782321"/>
            <a:ext cx="8953500" cy="583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sp>
        <p:nvSpPr>
          <p:cNvPr id="1028" name="Text Box 11"/>
          <p:cNvSpPr txBox="1">
            <a:spLocks noChangeArrowheads="1"/>
          </p:cNvSpPr>
          <p:nvPr userDrawn="1"/>
        </p:nvSpPr>
        <p:spPr bwMode="auto">
          <a:xfrm>
            <a:off x="4259263" y="6126163"/>
            <a:ext cx="19288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defRPr/>
            </a:pPr>
            <a:fld id="{FEE6AF91-C5F0-494A-81BE-8C742BFB874C}" type="datetime2">
              <a:rPr lang="en-US" altLang="en-US" sz="1000" b="1" smtClean="0">
                <a:solidFill>
                  <a:schemeClr val="bg1"/>
                </a:solidFill>
                <a:latin typeface="Helvetica" panose="020B0604020202020204" pitchFamily="34" charset="0"/>
              </a:rPr>
              <a:pPr algn="ctr">
                <a:spcBef>
                  <a:spcPct val="50000"/>
                </a:spcBef>
                <a:defRPr/>
              </a:pPr>
              <a:t>Thursday, December 4, 2025</a:t>
            </a:fld>
            <a:endParaRPr lang="en-US" altLang="en-US" sz="1000" b="1">
              <a:solidFill>
                <a:schemeClr val="bg1"/>
              </a:solidFill>
              <a:latin typeface="Helvetica" panose="020B0604020202020204" pitchFamily="34" charset="0"/>
            </a:endParaRPr>
          </a:p>
        </p:txBody>
      </p:sp>
      <p:pic>
        <p:nvPicPr>
          <p:cNvPr id="3" name="Picture 2" descr="JUIT Office Photos | Glassdoor">
            <a:extLst>
              <a:ext uri="{FF2B5EF4-FFF2-40B4-BE49-F238E27FC236}">
                <a16:creationId xmlns:a16="http://schemas.microsoft.com/office/drawing/2014/main" id="{9C49182E-65AF-DD89-1EC9-BD22AFA98742}"/>
              </a:ext>
            </a:extLst>
          </p:cNvPr>
          <p:cNvPicPr>
            <a:picLocks noChangeAspect="1" noChangeArrowheads="1"/>
          </p:cNvPicPr>
          <p:nvPr userDrawn="1"/>
        </p:nvPicPr>
        <p:blipFill>
          <a:blip r:embed="rId4" cstate="print"/>
          <a:srcRect/>
          <a:stretch>
            <a:fillRect/>
          </a:stretch>
        </p:blipFill>
        <p:spPr bwMode="auto">
          <a:xfrm>
            <a:off x="8349072" y="42901"/>
            <a:ext cx="815248" cy="679009"/>
          </a:xfrm>
          <a:prstGeom prst="rect">
            <a:avLst/>
          </a:prstGeom>
          <a:noFill/>
        </p:spPr>
      </p:pic>
      <p:sp>
        <p:nvSpPr>
          <p:cNvPr id="2" name="Footer Placeholder 11">
            <a:extLst>
              <a:ext uri="{FF2B5EF4-FFF2-40B4-BE49-F238E27FC236}">
                <a16:creationId xmlns:a16="http://schemas.microsoft.com/office/drawing/2014/main" id="{1EF5F1E6-CB5A-2AA7-E80E-C34A90324CDF}"/>
              </a:ext>
            </a:extLst>
          </p:cNvPr>
          <p:cNvSpPr txBox="1">
            <a:spLocks/>
          </p:cNvSpPr>
          <p:nvPr userDrawn="1"/>
        </p:nvSpPr>
        <p:spPr>
          <a:xfrm>
            <a:off x="123673" y="6687228"/>
            <a:ext cx="8694256" cy="195391"/>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50" dirty="0">
                <a:solidFill>
                  <a:srgbClr val="002060"/>
                </a:solidFill>
                <a:latin typeface="Palatino" pitchFamily="2" charset="77"/>
                <a:ea typeface="Palatino" pitchFamily="2" charset="77"/>
              </a:rPr>
              <a:t>       </a:t>
            </a:r>
            <a:r>
              <a:rPr lang="en-US" sz="900" dirty="0">
                <a:solidFill>
                  <a:srgbClr val="002060"/>
                </a:solidFill>
                <a:latin typeface="Palatino" pitchFamily="2" charset="77"/>
                <a:ea typeface="Palatino" pitchFamily="2" charset="77"/>
              </a:rPr>
              <a:t>Major Project – I (18B19CI791) End-Term Evaluation (ETE) | Department of CSE &amp; IT | AY 2025-26. </a:t>
            </a:r>
          </a:p>
        </p:txBody>
      </p:sp>
      <p:sp>
        <p:nvSpPr>
          <p:cNvPr id="4" name="Footer Placeholder 11">
            <a:extLst>
              <a:ext uri="{FF2B5EF4-FFF2-40B4-BE49-F238E27FC236}">
                <a16:creationId xmlns:a16="http://schemas.microsoft.com/office/drawing/2014/main" id="{8C0F4A93-94A3-EEA3-40A0-2AA166503844}"/>
              </a:ext>
            </a:extLst>
          </p:cNvPr>
          <p:cNvSpPr txBox="1">
            <a:spLocks/>
          </p:cNvSpPr>
          <p:nvPr userDrawn="1"/>
        </p:nvSpPr>
        <p:spPr>
          <a:xfrm>
            <a:off x="8798560" y="6613912"/>
            <a:ext cx="259243" cy="246062"/>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950" dirty="0">
              <a:solidFill>
                <a:srgbClr val="002060"/>
              </a:solidFill>
              <a:latin typeface="Palatino" pitchFamily="2" charset="77"/>
              <a:ea typeface="Palatino" pitchFamily="2" charset="77"/>
            </a:endParaRPr>
          </a:p>
        </p:txBody>
      </p:sp>
      <p:sp>
        <p:nvSpPr>
          <p:cNvPr id="5" name="TextBox 4">
            <a:extLst>
              <a:ext uri="{FF2B5EF4-FFF2-40B4-BE49-F238E27FC236}">
                <a16:creationId xmlns:a16="http://schemas.microsoft.com/office/drawing/2014/main" id="{11C1E367-86B8-5C9F-E2DA-EA8B374AA0AD}"/>
              </a:ext>
            </a:extLst>
          </p:cNvPr>
          <p:cNvSpPr txBox="1"/>
          <p:nvPr userDrawn="1"/>
        </p:nvSpPr>
        <p:spPr>
          <a:xfrm>
            <a:off x="8798560" y="6644391"/>
            <a:ext cx="365760" cy="230832"/>
          </a:xfrm>
          <a:prstGeom prst="rect">
            <a:avLst/>
          </a:prstGeom>
          <a:noFill/>
        </p:spPr>
        <p:txBody>
          <a:bodyPr wrap="square" rtlCol="0">
            <a:spAutoFit/>
          </a:bodyPr>
          <a:lstStyle/>
          <a:p>
            <a:pPr algn="ctr"/>
            <a:fld id="{EF37DA46-7849-8B45-8870-09779661198C}" type="slidenum">
              <a:rPr lang="en-US" sz="900" smtClean="0">
                <a:solidFill>
                  <a:srgbClr val="005493"/>
                </a:solidFill>
                <a:latin typeface="Palatino" pitchFamily="2" charset="77"/>
                <a:ea typeface="Palatino" pitchFamily="2" charset="77"/>
              </a:rPr>
              <a:pPr algn="ctr"/>
              <a:t>‹#›</a:t>
            </a:fld>
            <a:r>
              <a:rPr lang="en-US" sz="900" dirty="0">
                <a:solidFill>
                  <a:srgbClr val="005493"/>
                </a:solidFill>
                <a:latin typeface="Palatino" pitchFamily="2" charset="77"/>
                <a:ea typeface="Palatino" pitchFamily="2" charset="77"/>
              </a:rPr>
              <a:t>.</a:t>
            </a:r>
          </a:p>
        </p:txBody>
      </p:sp>
    </p:spTree>
  </p:cSld>
  <p:clrMap bg1="lt1" tx1="dk1" bg2="lt2" tx2="dk2" accent1="accent1" accent2="accent2" accent3="accent3" accent4="accent4" accent5="accent5" accent6="accent6" hlink="hlink" folHlink="folHlink"/>
  <p:sldLayoutIdLst>
    <p:sldLayoutId id="2147484987" r:id="rId1"/>
    <p:sldLayoutId id="2147484985" r:id="rId2"/>
  </p:sldLayoutIdLst>
  <p:hf hdr="0" ftr="0" dt="0"/>
  <p:txStyles>
    <p:titleStyle>
      <a:lvl1pPr algn="l" rtl="0" eaLnBrk="0" fontAlgn="base" hangingPunct="0">
        <a:spcBef>
          <a:spcPct val="0"/>
        </a:spcBef>
        <a:spcAft>
          <a:spcPct val="0"/>
        </a:spcAft>
        <a:defRPr sz="2400" b="1">
          <a:solidFill>
            <a:schemeClr val="bg1"/>
          </a:solidFill>
          <a:latin typeface="+mn-lt"/>
          <a:ea typeface="MS PGothic" panose="020B0600070205080204" pitchFamily="34" charset="-128"/>
          <a:cs typeface="ＭＳ Ｐゴシック" charset="-128"/>
        </a:defRPr>
      </a:lvl1pPr>
      <a:lvl2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2pPr>
      <a:lvl3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3pPr>
      <a:lvl4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4pPr>
      <a:lvl5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31EF06-99F3-7E6C-9BF2-BD4BE618539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0F1F65-9F9F-07B2-D418-72BC478BF55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F58697-C660-8953-14A2-614079BBDE6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A0509C-50A6-7446-A231-A4C5FA90B28F}" type="datetimeFigureOut">
              <a:rPr lang="en-US" smtClean="0"/>
              <a:t>12/4/2025</a:t>
            </a:fld>
            <a:endParaRPr lang="en-US"/>
          </a:p>
        </p:txBody>
      </p:sp>
      <p:sp>
        <p:nvSpPr>
          <p:cNvPr id="5" name="Footer Placeholder 4">
            <a:extLst>
              <a:ext uri="{FF2B5EF4-FFF2-40B4-BE49-F238E27FC236}">
                <a16:creationId xmlns:a16="http://schemas.microsoft.com/office/drawing/2014/main" id="{4E11EF59-EF14-9B74-67DE-1763E5B7A25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78D9C0-D19B-AF9A-1547-969981E038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D7B32-6FB4-9B4F-9C66-D4AD63211B8B}" type="slidenum">
              <a:rPr lang="en-US" smtClean="0"/>
              <a:t>‹#›</a:t>
            </a:fld>
            <a:endParaRPr lang="en-US"/>
          </a:p>
        </p:txBody>
      </p:sp>
    </p:spTree>
    <p:extLst>
      <p:ext uri="{BB962C8B-B14F-4D97-AF65-F5344CB8AC3E}">
        <p14:creationId xmlns:p14="http://schemas.microsoft.com/office/powerpoint/2010/main" val="4234593331"/>
      </p:ext>
    </p:extLst>
  </p:cSld>
  <p:clrMap bg1="lt1" tx1="dk1" bg2="lt2" tx2="dk2" accent1="accent1" accent2="accent2" accent3="accent3" accent4="accent4" accent5="accent5" accent6="accent6" hlink="hlink" folHlink="folHlink"/>
  <p:sldLayoutIdLst>
    <p:sldLayoutId id="2147484989" r:id="rId1"/>
    <p:sldLayoutId id="2147484990" r:id="rId2"/>
    <p:sldLayoutId id="2147484991" r:id="rId3"/>
    <p:sldLayoutId id="2147484992" r:id="rId4"/>
    <p:sldLayoutId id="2147484993" r:id="rId5"/>
    <p:sldLayoutId id="2147484994" r:id="rId6"/>
    <p:sldLayoutId id="2147484995" r:id="rId7"/>
    <p:sldLayoutId id="2147484996" r:id="rId8"/>
    <p:sldLayoutId id="2147484997" r:id="rId9"/>
    <p:sldLayoutId id="2147484998" r:id="rId10"/>
    <p:sldLayoutId id="2147484999" r:id="rId11"/>
    <p:sldLayoutId id="21474850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3273060"/>
            <a:ext cx="9144000" cy="1225546"/>
          </a:xfrm>
          <a:solidFill>
            <a:srgbClr val="0037A4"/>
          </a:solidFill>
          <a:ln w="19050">
            <a:solidFill>
              <a:schemeClr val="bg1"/>
            </a:solidFill>
          </a:ln>
        </p:spPr>
        <p:txBody>
          <a:bodyPr anchor="t"/>
          <a:lstStyle/>
          <a:p>
            <a:pPr eaLnBrk="1" hangingPunct="1">
              <a:lnSpc>
                <a:spcPct val="150000"/>
              </a:lnSpc>
            </a:pPr>
            <a:r>
              <a:rPr lang="en-US" altLang="en-US" sz="2400" b="1" dirty="0">
                <a:cs typeface="Tahoma" panose="020B0604030504040204" pitchFamily="34" charset="0"/>
              </a:rPr>
              <a:t>Deepfake-News Shield: Detecting False Articles and Manipulated Photos</a:t>
            </a:r>
          </a:p>
        </p:txBody>
      </p:sp>
      <p:sp>
        <p:nvSpPr>
          <p:cNvPr id="5" name="Rectangle 4">
            <a:extLst>
              <a:ext uri="{FF2B5EF4-FFF2-40B4-BE49-F238E27FC236}">
                <a16:creationId xmlns:a16="http://schemas.microsoft.com/office/drawing/2014/main" id="{DC1FB7B0-90E1-217E-359E-488BB2E7656E}"/>
              </a:ext>
            </a:extLst>
          </p:cNvPr>
          <p:cNvSpPr/>
          <p:nvPr/>
        </p:nvSpPr>
        <p:spPr>
          <a:xfrm>
            <a:off x="1457427" y="2108091"/>
            <a:ext cx="6229141" cy="1069524"/>
          </a:xfrm>
          <a:prstGeom prst="rect">
            <a:avLst/>
          </a:prstGeom>
        </p:spPr>
        <p:txBody>
          <a:bodyPr wrap="none">
            <a:spAutoFit/>
          </a:bodyPr>
          <a:lstStyle/>
          <a:p>
            <a:pPr algn="ctr">
              <a:lnSpc>
                <a:spcPct val="150000"/>
              </a:lnSpc>
            </a:pPr>
            <a:r>
              <a:rPr lang="en-IN" sz="2400" b="1" dirty="0">
                <a:latin typeface="Palatino" pitchFamily="2" charset="77"/>
                <a:ea typeface="Palatino" pitchFamily="2" charset="77"/>
                <a:cs typeface="Times New Roman" pitchFamily="18" charset="0"/>
              </a:rPr>
              <a:t>Major Project - I (18B19CI791) | AY 2025-26</a:t>
            </a:r>
          </a:p>
          <a:p>
            <a:pPr algn="ctr">
              <a:lnSpc>
                <a:spcPct val="150000"/>
              </a:lnSpc>
            </a:pPr>
            <a:r>
              <a:rPr lang="en-IN" sz="2000" b="1" dirty="0">
                <a:latin typeface="Palatino" pitchFamily="2" charset="77"/>
                <a:ea typeface="Palatino" pitchFamily="2" charset="77"/>
                <a:cs typeface="Times New Roman" pitchFamily="18" charset="0"/>
              </a:rPr>
              <a:t>End-Term Evaluation | December 2025.</a:t>
            </a:r>
          </a:p>
        </p:txBody>
      </p:sp>
      <p:sp>
        <p:nvSpPr>
          <p:cNvPr id="6" name="TextBox 5">
            <a:extLst>
              <a:ext uri="{FF2B5EF4-FFF2-40B4-BE49-F238E27FC236}">
                <a16:creationId xmlns:a16="http://schemas.microsoft.com/office/drawing/2014/main" id="{C24B7EDF-18D7-C792-681D-E69AE68A4AAB}"/>
              </a:ext>
            </a:extLst>
          </p:cNvPr>
          <p:cNvSpPr txBox="1"/>
          <p:nvPr/>
        </p:nvSpPr>
        <p:spPr>
          <a:xfrm>
            <a:off x="517798" y="4498606"/>
            <a:ext cx="3620582" cy="2450543"/>
          </a:xfrm>
          <a:prstGeom prst="rect">
            <a:avLst/>
          </a:prstGeom>
          <a:noFill/>
        </p:spPr>
        <p:txBody>
          <a:bodyPr wrap="square" rtlCol="0">
            <a:spAutoFit/>
          </a:bodyPr>
          <a:lstStyle/>
          <a:p>
            <a:r>
              <a:rPr lang="en-US" b="1" dirty="0">
                <a:latin typeface="Helvetica" pitchFamily="2" charset="0"/>
                <a:ea typeface="Palatino" pitchFamily="2" charset="77"/>
                <a:cs typeface="Times New Roman" panose="02020603050405020304" pitchFamily="18" charset="0"/>
              </a:rPr>
              <a:t>Group No.: 17 </a:t>
            </a:r>
          </a:p>
          <a:p>
            <a:endParaRPr lang="en-IN" sz="1600" dirty="0">
              <a:latin typeface="Helvetica" pitchFamily="2" charset="0"/>
              <a:ea typeface="Palatino" pitchFamily="2" charset="77"/>
              <a:cs typeface="Times New Roman" panose="02020603050405020304" pitchFamily="18" charset="0"/>
            </a:endParaRPr>
          </a:p>
          <a:p>
            <a:pPr>
              <a:lnSpc>
                <a:spcPct val="114000"/>
              </a:lnSpc>
            </a:pPr>
            <a:r>
              <a:rPr lang="en-IN" sz="1600" b="1" dirty="0">
                <a:latin typeface="Helvetica" pitchFamily="2" charset="0"/>
                <a:ea typeface="Palatino" pitchFamily="2" charset="77"/>
                <a:cs typeface="Times New Roman" panose="02020603050405020304" pitchFamily="18" charset="0"/>
              </a:rPr>
              <a:t>Team Member (s)</a:t>
            </a:r>
            <a:endParaRPr lang="en-US" sz="1600" b="1" dirty="0">
              <a:latin typeface="Helvetica" pitchFamily="2" charset="0"/>
              <a:ea typeface="Palatino" pitchFamily="2" charset="77"/>
              <a:cs typeface="Times New Roman" pitchFamily="18" charset="0"/>
            </a:endParaRPr>
          </a:p>
          <a:p>
            <a:pPr marL="285750" indent="-285750">
              <a:lnSpc>
                <a:spcPct val="125000"/>
              </a:lnSpc>
              <a:spcBef>
                <a:spcPts val="1200"/>
              </a:spcBef>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Madhav (221030283) </a:t>
            </a:r>
          </a:p>
          <a:p>
            <a:pPr marL="285750" indent="-285750">
              <a:lnSpc>
                <a:spcPct val="125000"/>
              </a:lnSpc>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Soha Khan (221031049)</a:t>
            </a:r>
          </a:p>
          <a:p>
            <a:pPr marL="285750" indent="-285750">
              <a:lnSpc>
                <a:spcPct val="125000"/>
              </a:lnSpc>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Harshit Thakur (221031013)</a:t>
            </a:r>
          </a:p>
          <a:p>
            <a:pPr marL="285750" indent="-285750">
              <a:lnSpc>
                <a:spcPct val="125000"/>
              </a:lnSpc>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Divyam Saini (221030070)</a:t>
            </a:r>
          </a:p>
          <a:p>
            <a:pPr algn="ctr"/>
            <a:endParaRPr lang="en-US" sz="1600" dirty="0">
              <a:latin typeface="Helvetica" pitchFamily="2" charset="0"/>
              <a:ea typeface="Palatino" pitchFamily="2" charset="77"/>
              <a:cs typeface="Times New Roman" pitchFamily="18" charset="0"/>
            </a:endParaRPr>
          </a:p>
        </p:txBody>
      </p:sp>
      <p:sp>
        <p:nvSpPr>
          <p:cNvPr id="7" name="TextBox 6">
            <a:extLst>
              <a:ext uri="{FF2B5EF4-FFF2-40B4-BE49-F238E27FC236}">
                <a16:creationId xmlns:a16="http://schemas.microsoft.com/office/drawing/2014/main" id="{E3E2713F-9CAD-198F-43B7-75929E7A5424}"/>
              </a:ext>
            </a:extLst>
          </p:cNvPr>
          <p:cNvSpPr txBox="1"/>
          <p:nvPr/>
        </p:nvSpPr>
        <p:spPr>
          <a:xfrm>
            <a:off x="4871438" y="5041029"/>
            <a:ext cx="4118326" cy="1036887"/>
          </a:xfrm>
          <a:prstGeom prst="rect">
            <a:avLst/>
          </a:prstGeom>
          <a:noFill/>
        </p:spPr>
        <p:txBody>
          <a:bodyPr wrap="square" rtlCol="0">
            <a:spAutoFit/>
          </a:bodyPr>
          <a:lstStyle/>
          <a:p>
            <a:r>
              <a:rPr lang="en-US" sz="1600" b="1" dirty="0">
                <a:latin typeface="Helvetica" pitchFamily="2" charset="0"/>
                <a:ea typeface="Tahoma" panose="020B0604030504040204" pitchFamily="34" charset="0"/>
                <a:cs typeface="Tahoma" panose="020B0604030504040204" pitchFamily="34" charset="0"/>
              </a:rPr>
              <a:t>Supervisor</a:t>
            </a:r>
          </a:p>
          <a:p>
            <a:pPr marL="342900" indent="-342900">
              <a:lnSpc>
                <a:spcPct val="125000"/>
              </a:lnSpc>
              <a:spcBef>
                <a:spcPts val="1200"/>
              </a:spcBef>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Name: Dr. Deepak Gupta</a:t>
            </a:r>
          </a:p>
          <a:p>
            <a:pPr marL="357188">
              <a:lnSpc>
                <a:spcPct val="125000"/>
              </a:lnSpc>
            </a:pPr>
            <a:r>
              <a:rPr lang="en-US" sz="1500" dirty="0">
                <a:latin typeface="Tahoma" panose="020B0604030504040204" pitchFamily="34" charset="0"/>
                <a:ea typeface="Tahoma" panose="020B0604030504040204" pitchFamily="34" charset="0"/>
                <a:cs typeface="Tahoma" panose="020B0604030504040204" pitchFamily="34" charset="0"/>
              </a:rPr>
              <a:t>Designation: Assistant Professor (SG)</a:t>
            </a:r>
          </a:p>
        </p:txBody>
      </p:sp>
      <p:pic>
        <p:nvPicPr>
          <p:cNvPr id="9" name="Picture 8">
            <a:extLst>
              <a:ext uri="{FF2B5EF4-FFF2-40B4-BE49-F238E27FC236}">
                <a16:creationId xmlns:a16="http://schemas.microsoft.com/office/drawing/2014/main" id="{6B314CA5-1CBF-7BB0-83BB-4FDA4318A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2492" y="-165253"/>
            <a:ext cx="1178805" cy="895833"/>
          </a:xfrm>
          <a:prstGeom prst="rect">
            <a:avLst/>
          </a:prstGeom>
        </p:spPr>
      </p:pic>
      <p:pic>
        <p:nvPicPr>
          <p:cNvPr id="11" name="Picture 10">
            <a:extLst>
              <a:ext uri="{FF2B5EF4-FFF2-40B4-BE49-F238E27FC236}">
                <a16:creationId xmlns:a16="http://schemas.microsoft.com/office/drawing/2014/main" id="{9DD618C9-A35C-A359-4E30-21B6471F5DC4}"/>
              </a:ext>
            </a:extLst>
          </p:cNvPr>
          <p:cNvPicPr>
            <a:picLocks noChangeAspect="1"/>
          </p:cNvPicPr>
          <p:nvPr/>
        </p:nvPicPr>
        <p:blipFill>
          <a:blip r:embed="rId4"/>
          <a:stretch>
            <a:fillRect/>
          </a:stretch>
        </p:blipFill>
        <p:spPr>
          <a:xfrm>
            <a:off x="8054901" y="160424"/>
            <a:ext cx="1015707" cy="345492"/>
          </a:xfrm>
          <a:prstGeom prst="rect">
            <a:avLst/>
          </a:prstGeom>
        </p:spPr>
      </p:pic>
      <p:pic>
        <p:nvPicPr>
          <p:cNvPr id="12" name="Picture 11" descr="JUIT Office Photos | Glassdoor">
            <a:extLst>
              <a:ext uri="{FF2B5EF4-FFF2-40B4-BE49-F238E27FC236}">
                <a16:creationId xmlns:a16="http://schemas.microsoft.com/office/drawing/2014/main" id="{7647374D-C05A-F866-81A8-19ED5262B840}"/>
              </a:ext>
            </a:extLst>
          </p:cNvPr>
          <p:cNvPicPr>
            <a:picLocks noChangeAspect="1" noChangeArrowheads="1"/>
          </p:cNvPicPr>
          <p:nvPr/>
        </p:nvPicPr>
        <p:blipFill>
          <a:blip r:embed="rId5" cstate="print"/>
          <a:srcRect/>
          <a:stretch>
            <a:fillRect/>
          </a:stretch>
        </p:blipFill>
        <p:spPr bwMode="auto">
          <a:xfrm>
            <a:off x="11017" y="93342"/>
            <a:ext cx="815248" cy="679009"/>
          </a:xfrm>
          <a:prstGeom prst="rect">
            <a:avLst/>
          </a:prstGeom>
          <a:noFill/>
        </p:spPr>
      </p:pic>
      <p:sp>
        <p:nvSpPr>
          <p:cNvPr id="2" name="Footer Placeholder 15">
            <a:extLst>
              <a:ext uri="{FF2B5EF4-FFF2-40B4-BE49-F238E27FC236}">
                <a16:creationId xmlns:a16="http://schemas.microsoft.com/office/drawing/2014/main" id="{7539BDE9-603E-4BD3-A201-EB56FD66F79C}"/>
              </a:ext>
            </a:extLst>
          </p:cNvPr>
          <p:cNvSpPr txBox="1">
            <a:spLocks/>
          </p:cNvSpPr>
          <p:nvPr/>
        </p:nvSpPr>
        <p:spPr>
          <a:xfrm>
            <a:off x="-2" y="601361"/>
            <a:ext cx="9144000" cy="1411285"/>
          </a:xfrm>
          <a:prstGeom prst="rect">
            <a:avLst/>
          </a:prstGeom>
        </p:spPr>
        <p:txBody>
          <a:bodyPr anchor="b"/>
          <a:lstStyle/>
          <a:p>
            <a:pPr algn="ctr" eaLnBrk="1" fontAlgn="auto" hangingPunct="1">
              <a:lnSpc>
                <a:spcPts val="3400"/>
              </a:lnSpc>
              <a:spcBef>
                <a:spcPts val="0"/>
              </a:spcBef>
              <a:spcAft>
                <a:spcPts val="0"/>
              </a:spcAft>
              <a:defRPr/>
            </a:pPr>
            <a:r>
              <a:rPr kumimoji="0" lang="en-IN" sz="28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Jaypee University of Information Technology</a:t>
            </a:r>
          </a:p>
          <a:p>
            <a:pPr marL="0" marR="0" lvl="0" indent="0" algn="ctr" defTabSz="914400" rtl="0" eaLnBrk="1" fontAlgn="auto" latinLnBrk="0" hangingPunct="1">
              <a:lnSpc>
                <a:spcPts val="3400"/>
              </a:lnSpc>
              <a:spcBef>
                <a:spcPts val="0"/>
              </a:spcBef>
              <a:spcAft>
                <a:spcPts val="0"/>
              </a:spcAft>
              <a:buClrTx/>
              <a:buSzTx/>
              <a:buFontTx/>
              <a:buNone/>
              <a:tabLst/>
              <a:defRPr/>
            </a:pPr>
            <a:r>
              <a:rPr kumimoji="0" lang="en-IN" sz="26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Department of Computer Science and Engineering and Information Technology</a:t>
            </a:r>
            <a:endParaRPr kumimoji="0" lang="en-IN" sz="2600" b="1" i="0" u="none" strike="noStrike" kern="1200" spc="0" normalizeH="0" baseline="0" noProof="0" dirty="0">
              <a:ln>
                <a:noFill/>
              </a:ln>
              <a:solidFill>
                <a:srgbClr val="002060"/>
              </a:solidFill>
              <a:effectLst/>
              <a:uLnTx/>
              <a:uFillTx/>
              <a:latin typeface="Palatino" pitchFamily="2" charset="77"/>
              <a:ea typeface="Palatino" pitchFamily="2" charset="77"/>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Outline</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4153359"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40000"/>
              </a:lnSpc>
              <a:buFont typeface="Arial" pitchFamily="34" charset="0"/>
              <a:buChar char="•"/>
            </a:pPr>
            <a:r>
              <a:rPr lang="en-IN" sz="1600" dirty="0">
                <a:ea typeface="Palatino" pitchFamily="2" charset="77"/>
              </a:rPr>
              <a:t>Introduction</a:t>
            </a:r>
          </a:p>
          <a:p>
            <a:pPr marL="357188" indent="-261938" algn="just">
              <a:lnSpc>
                <a:spcPct val="140000"/>
              </a:lnSpc>
              <a:buFont typeface="Arial" pitchFamily="34" charset="0"/>
              <a:buChar char="•"/>
            </a:pPr>
            <a:r>
              <a:rPr lang="en-IN" sz="1600" dirty="0">
                <a:ea typeface="Palatino" pitchFamily="2" charset="77"/>
              </a:rPr>
              <a:t>Problem Statement</a:t>
            </a:r>
          </a:p>
          <a:p>
            <a:pPr marL="357188" indent="-261938" algn="just">
              <a:lnSpc>
                <a:spcPct val="140000"/>
              </a:lnSpc>
              <a:buFont typeface="Arial" pitchFamily="34" charset="0"/>
              <a:buChar char="•"/>
            </a:pPr>
            <a:r>
              <a:rPr lang="en-IN" sz="1600" dirty="0">
                <a:ea typeface="Palatino" pitchFamily="2" charset="77"/>
              </a:rPr>
              <a:t>Objectives</a:t>
            </a:r>
          </a:p>
          <a:p>
            <a:pPr marL="357188" indent="-261938">
              <a:lnSpc>
                <a:spcPct val="140000"/>
              </a:lnSpc>
            </a:pPr>
            <a:r>
              <a:rPr lang="en-IN" sz="1600" dirty="0">
                <a:ea typeface="Palatino" pitchFamily="2" charset="77"/>
              </a:rPr>
              <a:t>Literature Review</a:t>
            </a:r>
          </a:p>
          <a:p>
            <a:pPr marL="357188" indent="-261938">
              <a:lnSpc>
                <a:spcPct val="140000"/>
              </a:lnSpc>
            </a:pPr>
            <a:r>
              <a:rPr lang="en-IN" sz="1600" dirty="0">
                <a:ea typeface="Palatino" pitchFamily="2" charset="77"/>
              </a:rPr>
              <a:t>Work Done (after Mid-Term Evaluation)</a:t>
            </a:r>
          </a:p>
          <a:p>
            <a:pPr marL="357188" indent="-261938" algn="just">
              <a:lnSpc>
                <a:spcPct val="140000"/>
              </a:lnSpc>
              <a:buFont typeface="Arial" pitchFamily="34" charset="0"/>
              <a:buChar char="•"/>
            </a:pPr>
            <a:r>
              <a:rPr lang="en-IN" sz="1600" dirty="0">
                <a:ea typeface="Palatino" pitchFamily="2" charset="77"/>
              </a:rPr>
              <a:t>Project Design</a:t>
            </a:r>
          </a:p>
          <a:p>
            <a:pPr marL="357188" indent="-261938">
              <a:lnSpc>
                <a:spcPct val="140000"/>
              </a:lnSpc>
            </a:pPr>
            <a:r>
              <a:rPr lang="en-IN" sz="1600" dirty="0">
                <a:ea typeface="Palatino" pitchFamily="2" charset="77"/>
              </a:rPr>
              <a:t>Tools, Technologies and Languages</a:t>
            </a:r>
          </a:p>
          <a:p>
            <a:pPr marL="357188" indent="-261938">
              <a:lnSpc>
                <a:spcPct val="140000"/>
              </a:lnSpc>
            </a:pPr>
            <a:r>
              <a:rPr lang="en-IN" sz="1600" dirty="0">
                <a:ea typeface="Palatino" pitchFamily="2" charset="77"/>
              </a:rPr>
              <a:t>Dataset</a:t>
            </a:r>
          </a:p>
          <a:p>
            <a:pPr marL="357188" indent="-261938">
              <a:lnSpc>
                <a:spcPct val="140000"/>
              </a:lnSpc>
            </a:pPr>
            <a:r>
              <a:rPr lang="en-IN" sz="1600" dirty="0">
                <a:ea typeface="Palatino" pitchFamily="2" charset="77"/>
              </a:rPr>
              <a:t>Implementation</a:t>
            </a:r>
          </a:p>
          <a:p>
            <a:pPr marL="357188" indent="-261938">
              <a:lnSpc>
                <a:spcPct val="140000"/>
              </a:lnSpc>
            </a:pPr>
            <a:r>
              <a:rPr lang="en-IN" sz="1600" dirty="0">
                <a:ea typeface="Palatino" pitchFamily="2" charset="77"/>
              </a:rPr>
              <a:t>Experimental Results and Evaluation</a:t>
            </a:r>
          </a:p>
          <a:p>
            <a:pPr marL="357188" indent="-261938">
              <a:lnSpc>
                <a:spcPct val="140000"/>
              </a:lnSpc>
            </a:pPr>
            <a:r>
              <a:rPr lang="en-IN" sz="1600" dirty="0">
                <a:ea typeface="Palatino" pitchFamily="2" charset="77"/>
              </a:rPr>
              <a:t>Key Learnings</a:t>
            </a:r>
          </a:p>
          <a:p>
            <a:pPr marL="357188" indent="-261938">
              <a:lnSpc>
                <a:spcPct val="140000"/>
              </a:lnSpc>
            </a:pPr>
            <a:r>
              <a:rPr lang="en-IN" sz="1600" dirty="0">
                <a:ea typeface="Palatino" pitchFamily="2" charset="77"/>
              </a:rPr>
              <a:t>Work Contribution and Attendance</a:t>
            </a:r>
          </a:p>
          <a:p>
            <a:pPr marL="357188" indent="-261938">
              <a:lnSpc>
                <a:spcPct val="140000"/>
              </a:lnSpc>
            </a:pPr>
            <a:r>
              <a:rPr lang="en-IN" sz="1600" dirty="0">
                <a:ea typeface="Palatino" pitchFamily="2" charset="77"/>
              </a:rPr>
              <a:t>Supervisor Interactions</a:t>
            </a:r>
          </a:p>
          <a:p>
            <a:pPr marL="357188" indent="-261938">
              <a:lnSpc>
                <a:spcPct val="140000"/>
              </a:lnSpc>
            </a:pPr>
            <a:endParaRPr lang="en-IN" sz="1600" dirty="0">
              <a:ea typeface="Palatino" pitchFamily="2" charset="77"/>
            </a:endParaRPr>
          </a:p>
          <a:p>
            <a:pPr marL="0" indent="0">
              <a:buFont typeface="Arial" panose="020B0604020202020204" pitchFamily="34" charset="0"/>
              <a:buNone/>
            </a:pPr>
            <a:endParaRPr lang="en-IN" altLang="en-US" sz="1600" kern="0" dirty="0">
              <a:ea typeface="MS PGothic" panose="020B0600070205080204" pitchFamily="34" charset="-128"/>
            </a:endParaRPr>
          </a:p>
        </p:txBody>
      </p:sp>
      <p:sp>
        <p:nvSpPr>
          <p:cNvPr id="3" name="Content Placeholder 2">
            <a:extLst>
              <a:ext uri="{FF2B5EF4-FFF2-40B4-BE49-F238E27FC236}">
                <a16:creationId xmlns:a16="http://schemas.microsoft.com/office/drawing/2014/main" id="{17192881-9DEC-B43E-083D-F84E7CEACD33}"/>
              </a:ext>
            </a:extLst>
          </p:cNvPr>
          <p:cNvSpPr txBox="1">
            <a:spLocks/>
          </p:cNvSpPr>
          <p:nvPr/>
        </p:nvSpPr>
        <p:spPr bwMode="auto">
          <a:xfrm>
            <a:off x="5233012" y="804231"/>
            <a:ext cx="3833872"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nSpc>
                <a:spcPct val="140000"/>
              </a:lnSpc>
            </a:pPr>
            <a:r>
              <a:rPr lang="en-IN" sz="1600" dirty="0">
                <a:ea typeface="Palatino" pitchFamily="2" charset="77"/>
              </a:rPr>
              <a:t>Future Work</a:t>
            </a:r>
          </a:p>
          <a:p>
            <a:pPr marL="357188" indent="-261938">
              <a:lnSpc>
                <a:spcPct val="140000"/>
              </a:lnSpc>
            </a:pPr>
            <a:r>
              <a:rPr lang="en-IN" sz="1600" dirty="0">
                <a:ea typeface="Palatino" pitchFamily="2" charset="77"/>
              </a:rPr>
              <a:t>Project Plan</a:t>
            </a:r>
          </a:p>
          <a:p>
            <a:pPr marL="357188" indent="-261938" algn="just">
              <a:lnSpc>
                <a:spcPct val="140000"/>
              </a:lnSpc>
              <a:buFont typeface="Arial" pitchFamily="34" charset="0"/>
              <a:buChar char="•"/>
            </a:pPr>
            <a:r>
              <a:rPr lang="en-IN" sz="1600" dirty="0">
                <a:ea typeface="Palatino" pitchFamily="2" charset="77"/>
              </a:rPr>
              <a:t>References</a:t>
            </a:r>
          </a:p>
          <a:p>
            <a:pPr marL="0" indent="0">
              <a:buFont typeface="Arial" panose="020B0604020202020204" pitchFamily="34" charset="0"/>
              <a:buNone/>
            </a:pPr>
            <a:endParaRPr lang="en-IN" altLang="en-US" sz="1600" kern="0" dirty="0">
              <a:ea typeface="MS PGothic" panose="020B0600070205080204" pitchFamily="34" charset="-128"/>
            </a:endParaRPr>
          </a:p>
        </p:txBody>
      </p:sp>
    </p:spTree>
    <p:extLst>
      <p:ext uri="{BB962C8B-B14F-4D97-AF65-F5344CB8AC3E}">
        <p14:creationId xmlns:p14="http://schemas.microsoft.com/office/powerpoint/2010/main" val="389550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Introduction</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dirty="0"/>
              <a:t>Fake news and edited photos spread rapidly across digital platforms.</a:t>
            </a:r>
          </a:p>
          <a:p>
            <a:r>
              <a:rPr lang="en-US" dirty="0"/>
              <a:t>Most users cannot differentiate real content from manipulated content.</a:t>
            </a:r>
          </a:p>
          <a:p>
            <a:r>
              <a:rPr lang="en-US" dirty="0"/>
              <a:t>The objective of this project is to build an intelligent system that reads text, analyses images, and flags fake information.</a:t>
            </a:r>
          </a:p>
          <a:p>
            <a:r>
              <a:rPr lang="en-US" dirty="0"/>
              <a:t>In this semester, the complete </a:t>
            </a:r>
            <a:r>
              <a:rPr lang="en-US" b="1" dirty="0"/>
              <a:t>text-fusion system</a:t>
            </a:r>
            <a:r>
              <a:rPr lang="en-US" dirty="0"/>
              <a:t> is built.</a:t>
            </a:r>
          </a:p>
          <a:p>
            <a:r>
              <a:rPr lang="en-US" dirty="0"/>
              <a:t>Next semester, the </a:t>
            </a:r>
            <a:r>
              <a:rPr lang="en-US" b="1" dirty="0"/>
              <a:t>image-fusion system</a:t>
            </a:r>
            <a:r>
              <a:rPr lang="en-US" dirty="0"/>
              <a:t> + final </a:t>
            </a:r>
            <a:r>
              <a:rPr lang="en-US" b="1" dirty="0"/>
              <a:t>multi-fusion model</a:t>
            </a:r>
            <a:r>
              <a:rPr lang="en-US" dirty="0"/>
              <a:t> will be completed.</a:t>
            </a:r>
          </a:p>
          <a:p>
            <a:pPr marL="0" indent="0">
              <a:buNone/>
            </a:pPr>
            <a:r>
              <a:rPr lang="en-US" b="1" dirty="0"/>
              <a:t>Target: </a:t>
            </a:r>
          </a:p>
        </p:txBody>
      </p:sp>
      <p:pic>
        <p:nvPicPr>
          <p:cNvPr id="5" name="Picture 4">
            <a:extLst>
              <a:ext uri="{FF2B5EF4-FFF2-40B4-BE49-F238E27FC236}">
                <a16:creationId xmlns:a16="http://schemas.microsoft.com/office/drawing/2014/main" id="{DA24EF55-F087-83CC-46D1-F7A7801F5431}"/>
              </a:ext>
            </a:extLst>
          </p:cNvPr>
          <p:cNvPicPr>
            <a:picLocks noChangeAspect="1"/>
          </p:cNvPicPr>
          <p:nvPr/>
        </p:nvPicPr>
        <p:blipFill>
          <a:blip r:embed="rId2"/>
          <a:srcRect l="5882" t="12063" r="5668" b="14660"/>
          <a:stretch>
            <a:fillRect/>
          </a:stretch>
        </p:blipFill>
        <p:spPr>
          <a:xfrm>
            <a:off x="1185333" y="4402667"/>
            <a:ext cx="7027333" cy="1312333"/>
          </a:xfrm>
          <a:prstGeom prst="rect">
            <a:avLst/>
          </a:prstGeom>
        </p:spPr>
      </p:pic>
    </p:spTree>
    <p:extLst>
      <p:ext uri="{BB962C8B-B14F-4D97-AF65-F5344CB8AC3E}">
        <p14:creationId xmlns:p14="http://schemas.microsoft.com/office/powerpoint/2010/main" val="359526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1D002-208E-EC94-058A-2F1390A4C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72FF6-FAF4-48E7-B9F6-646FACBBB5EC}"/>
              </a:ext>
            </a:extLst>
          </p:cNvPr>
          <p:cNvSpPr>
            <a:spLocks noGrp="1"/>
          </p:cNvSpPr>
          <p:nvPr>
            <p:ph type="title"/>
          </p:nvPr>
        </p:nvSpPr>
        <p:spPr/>
        <p:txBody>
          <a:bodyPr/>
          <a:lstStyle/>
          <a:p>
            <a:r>
              <a:rPr lang="en-US" dirty="0"/>
              <a:t>Problem Statement</a:t>
            </a:r>
          </a:p>
        </p:txBody>
      </p:sp>
      <p:sp>
        <p:nvSpPr>
          <p:cNvPr id="4" name="Content Placeholder 2">
            <a:extLst>
              <a:ext uri="{FF2B5EF4-FFF2-40B4-BE49-F238E27FC236}">
                <a16:creationId xmlns:a16="http://schemas.microsoft.com/office/drawing/2014/main" id="{1296FC84-9A34-35EE-39DF-036D7AA6C161}"/>
              </a:ext>
            </a:extLst>
          </p:cNvPr>
          <p:cNvSpPr txBox="1">
            <a:spLocks/>
          </p:cNvSpPr>
          <p:nvPr/>
        </p:nvSpPr>
        <p:spPr bwMode="auto">
          <a:xfrm>
            <a:off x="40640"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SzPct val="100000"/>
              <a:buNone/>
            </a:pPr>
            <a:r>
              <a:rPr lang="en-US" dirty="0"/>
              <a:t>Fake articles easily influence people and spread misleading information across the internet. When these false stories are supported with manipulated photos, they look even more real and convincing. Manually checking every piece of content is extremely slow and almost impossible when the volume is huge. </a:t>
            </a:r>
            <a:r>
              <a:rPr lang="en-US" b="1" dirty="0"/>
              <a:t>Because of this, we need a deep learning–based automated system that can detect both fake text and edited images with reliable accuracy.</a:t>
            </a:r>
            <a:endParaRPr lang="en-IN" b="1" dirty="0">
              <a:ea typeface="Palatino" pitchFamily="2" charset="77"/>
            </a:endParaRPr>
          </a:p>
          <a:p>
            <a:pPr marL="438150">
              <a:buSzPct val="100000"/>
              <a:buFont typeface="+mj-lt"/>
              <a:buAutoNum type="arabicPeriod"/>
            </a:pPr>
            <a:endParaRPr lang="en-IN" sz="1800" dirty="0">
              <a:ea typeface="Palatino" pitchFamily="2" charset="77"/>
            </a:endParaRPr>
          </a:p>
        </p:txBody>
      </p:sp>
    </p:spTree>
    <p:extLst>
      <p:ext uri="{BB962C8B-B14F-4D97-AF65-F5344CB8AC3E}">
        <p14:creationId xmlns:p14="http://schemas.microsoft.com/office/powerpoint/2010/main" val="1109602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Objectives</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40640"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438150">
              <a:buSzPct val="100000"/>
              <a:buFont typeface="+mj-lt"/>
              <a:buAutoNum type="arabicPeriod"/>
            </a:pPr>
            <a:r>
              <a:rPr lang="en-US" dirty="0">
                <a:ea typeface="Palatino" pitchFamily="2" charset="77"/>
              </a:rPr>
              <a:t>To </a:t>
            </a:r>
            <a:r>
              <a:rPr lang="en-US" b="1" dirty="0">
                <a:solidFill>
                  <a:srgbClr val="3333FF"/>
                </a:solidFill>
                <a:ea typeface="Palatino" pitchFamily="2" charset="77"/>
              </a:rPr>
              <a:t>preprocess</a:t>
            </a:r>
            <a:r>
              <a:rPr lang="en-US" dirty="0">
                <a:ea typeface="Palatino" pitchFamily="2" charset="77"/>
              </a:rPr>
              <a:t> the IFND dataset by removing noise and fixing text inconsistencies for cleaner model input.</a:t>
            </a:r>
          </a:p>
          <a:p>
            <a:pPr marL="438150">
              <a:buSzPct val="100000"/>
              <a:buFont typeface="+mj-lt"/>
              <a:buAutoNum type="arabicPeriod"/>
            </a:pPr>
            <a:r>
              <a:rPr lang="en-US" dirty="0">
                <a:ea typeface="Palatino" pitchFamily="2" charset="77"/>
              </a:rPr>
              <a:t>To design and train deep learning models for fake-news classification.</a:t>
            </a:r>
          </a:p>
          <a:p>
            <a:pPr marL="438150">
              <a:buSzPct val="100000"/>
              <a:buFont typeface="+mj-lt"/>
              <a:buAutoNum type="arabicPeriod"/>
            </a:pPr>
            <a:r>
              <a:rPr lang="en-US" dirty="0">
                <a:ea typeface="Palatino" pitchFamily="2" charset="77"/>
              </a:rPr>
              <a:t>To compare model performances and identify the </a:t>
            </a:r>
            <a:r>
              <a:rPr lang="en-US" b="1" dirty="0">
                <a:solidFill>
                  <a:srgbClr val="3333FF"/>
                </a:solidFill>
                <a:ea typeface="Palatino" pitchFamily="2" charset="77"/>
              </a:rPr>
              <a:t>best two </a:t>
            </a:r>
            <a:r>
              <a:rPr lang="en-US" dirty="0">
                <a:ea typeface="Palatino" pitchFamily="2" charset="77"/>
              </a:rPr>
              <a:t>for fusion.</a:t>
            </a:r>
          </a:p>
          <a:p>
            <a:pPr marL="438150">
              <a:buSzPct val="100000"/>
              <a:buFont typeface="+mj-lt"/>
              <a:buAutoNum type="arabicPeriod"/>
            </a:pPr>
            <a:r>
              <a:rPr lang="en-US" dirty="0">
                <a:ea typeface="Palatino" pitchFamily="2" charset="77"/>
              </a:rPr>
              <a:t>To build a feature-level fusion model that combines strengths of both models for improved reliability.</a:t>
            </a:r>
          </a:p>
          <a:p>
            <a:pPr marL="438150">
              <a:buSzPct val="100000"/>
              <a:buFont typeface="+mj-lt"/>
              <a:buAutoNum type="arabicPeriod"/>
            </a:pPr>
            <a:r>
              <a:rPr lang="en-US" dirty="0">
                <a:ea typeface="Palatino" pitchFamily="2" charset="77"/>
              </a:rPr>
              <a:t>To </a:t>
            </a:r>
            <a:r>
              <a:rPr lang="en-US" b="1" dirty="0">
                <a:solidFill>
                  <a:srgbClr val="3333FF"/>
                </a:solidFill>
                <a:ea typeface="Palatino" pitchFamily="2" charset="77"/>
              </a:rPr>
              <a:t>extend the same fusion approach </a:t>
            </a:r>
            <a:r>
              <a:rPr lang="en-US" dirty="0">
                <a:ea typeface="Palatino" pitchFamily="2" charset="77"/>
              </a:rPr>
              <a:t>to </a:t>
            </a:r>
            <a:r>
              <a:rPr lang="en-US" b="1" dirty="0">
                <a:solidFill>
                  <a:srgbClr val="3333FF"/>
                </a:solidFill>
                <a:ea typeface="Palatino" pitchFamily="2" charset="77"/>
              </a:rPr>
              <a:t>images</a:t>
            </a:r>
            <a:r>
              <a:rPr lang="en-US" dirty="0">
                <a:ea typeface="Palatino" pitchFamily="2" charset="77"/>
              </a:rPr>
              <a:t> in the next phase of the project.</a:t>
            </a:r>
            <a:endParaRPr lang="en-IN" sz="1800" dirty="0">
              <a:ea typeface="Palatino" pitchFamily="2" charset="77"/>
            </a:endParaRPr>
          </a:p>
        </p:txBody>
      </p:sp>
    </p:spTree>
    <p:extLst>
      <p:ext uri="{BB962C8B-B14F-4D97-AF65-F5344CB8AC3E}">
        <p14:creationId xmlns:p14="http://schemas.microsoft.com/office/powerpoint/2010/main" val="256070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Literature Review</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87125FF3-733E-7FFB-B98E-115B69886CF7}"/>
              </a:ext>
            </a:extLst>
          </p:cNvPr>
          <p:cNvGraphicFramePr>
            <a:graphicFrameLocks noGrp="1"/>
          </p:cNvGraphicFramePr>
          <p:nvPr>
            <p:extLst>
              <p:ext uri="{D42A27DB-BD31-4B8C-83A1-F6EECF244321}">
                <p14:modId xmlns:p14="http://schemas.microsoft.com/office/powerpoint/2010/main" val="133674762"/>
              </p:ext>
            </p:extLst>
          </p:nvPr>
        </p:nvGraphicFramePr>
        <p:xfrm>
          <a:off x="110168" y="881348"/>
          <a:ext cx="8923663" cy="5574701"/>
        </p:xfrm>
        <a:graphic>
          <a:graphicData uri="http://schemas.openxmlformats.org/drawingml/2006/table">
            <a:tbl>
              <a:tblPr firstRow="1" bandRow="1">
                <a:tableStyleId>{00A15C55-8517-42AA-B614-E9B94910E393}</a:tableStyleId>
              </a:tblPr>
              <a:tblGrid>
                <a:gridCol w="542256">
                  <a:extLst>
                    <a:ext uri="{9D8B030D-6E8A-4147-A177-3AD203B41FA5}">
                      <a16:colId xmlns:a16="http://schemas.microsoft.com/office/drawing/2014/main" val="1580173846"/>
                    </a:ext>
                  </a:extLst>
                </a:gridCol>
                <a:gridCol w="1760270">
                  <a:extLst>
                    <a:ext uri="{9D8B030D-6E8A-4147-A177-3AD203B41FA5}">
                      <a16:colId xmlns:a16="http://schemas.microsoft.com/office/drawing/2014/main" val="1787721097"/>
                    </a:ext>
                  </a:extLst>
                </a:gridCol>
                <a:gridCol w="1465243">
                  <a:extLst>
                    <a:ext uri="{9D8B030D-6E8A-4147-A177-3AD203B41FA5}">
                      <a16:colId xmlns:a16="http://schemas.microsoft.com/office/drawing/2014/main" val="1940941142"/>
                    </a:ext>
                  </a:extLst>
                </a:gridCol>
                <a:gridCol w="1421176">
                  <a:extLst>
                    <a:ext uri="{9D8B030D-6E8A-4147-A177-3AD203B41FA5}">
                      <a16:colId xmlns:a16="http://schemas.microsoft.com/office/drawing/2014/main" val="1753147821"/>
                    </a:ext>
                  </a:extLst>
                </a:gridCol>
                <a:gridCol w="1828800">
                  <a:extLst>
                    <a:ext uri="{9D8B030D-6E8A-4147-A177-3AD203B41FA5}">
                      <a16:colId xmlns:a16="http://schemas.microsoft.com/office/drawing/2014/main" val="75906716"/>
                    </a:ext>
                  </a:extLst>
                </a:gridCol>
                <a:gridCol w="1905918">
                  <a:extLst>
                    <a:ext uri="{9D8B030D-6E8A-4147-A177-3AD203B41FA5}">
                      <a16:colId xmlns:a16="http://schemas.microsoft.com/office/drawing/2014/main" val="359970441"/>
                    </a:ext>
                  </a:extLst>
                </a:gridCol>
              </a:tblGrid>
              <a:tr h="760165">
                <a:tc>
                  <a:txBody>
                    <a:bodyPr/>
                    <a:lstStyle/>
                    <a:p>
                      <a:pPr algn="ctr"/>
                      <a:r>
                        <a:rPr lang="en-US" sz="1400" b="0" i="0" dirty="0">
                          <a:latin typeface="Helvetica" pitchFamily="2" charset="0"/>
                        </a:rPr>
                        <a:t>S. No.</a:t>
                      </a:r>
                    </a:p>
                  </a:txBody>
                  <a:tcPr>
                    <a:solidFill>
                      <a:schemeClr val="accent6">
                        <a:lumMod val="50000"/>
                      </a:schemeClr>
                    </a:solidFill>
                  </a:tcPr>
                </a:tc>
                <a:tc>
                  <a:txBody>
                    <a:bodyPr/>
                    <a:lstStyle/>
                    <a:p>
                      <a:pPr algn="ctr"/>
                      <a:r>
                        <a:rPr lang="en-US" sz="1400" b="0" i="0" dirty="0">
                          <a:latin typeface="Helvetica" pitchFamily="2" charset="0"/>
                        </a:rPr>
                        <a:t>Author &amp; </a:t>
                      </a:r>
                    </a:p>
                    <a:p>
                      <a:pPr algn="ctr"/>
                      <a:r>
                        <a:rPr lang="en-US" sz="1400" b="0" i="0" dirty="0">
                          <a:latin typeface="Helvetica" pitchFamily="2" charset="0"/>
                        </a:rPr>
                        <a:t>Paper Title </a:t>
                      </a:r>
                      <a:br>
                        <a:rPr lang="en-US" sz="1400" b="0" i="0" dirty="0">
                          <a:latin typeface="Helvetica" pitchFamily="2" charset="0"/>
                        </a:rPr>
                      </a:br>
                      <a:r>
                        <a:rPr lang="en-US" sz="1400" b="0" i="0" dirty="0">
                          <a:latin typeface="Helvetica" pitchFamily="2" charset="0"/>
                        </a:rPr>
                        <a:t>[Citation]</a:t>
                      </a:r>
                    </a:p>
                  </a:txBody>
                  <a:tcPr>
                    <a:solidFill>
                      <a:schemeClr val="accent6">
                        <a:lumMod val="50000"/>
                      </a:schemeClr>
                    </a:solidFill>
                  </a:tcPr>
                </a:tc>
                <a:tc>
                  <a:txBody>
                    <a:bodyPr/>
                    <a:lstStyle/>
                    <a:p>
                      <a:pPr algn="ctr"/>
                      <a:r>
                        <a:rPr lang="en-US" sz="1400" b="0" i="0" dirty="0">
                          <a:latin typeface="Helvetica" pitchFamily="2" charset="0"/>
                        </a:rPr>
                        <a:t>Journal/</a:t>
                      </a:r>
                    </a:p>
                    <a:p>
                      <a:pPr algn="ctr"/>
                      <a:r>
                        <a:rPr lang="en-US" sz="1400" b="0" i="0" dirty="0">
                          <a:latin typeface="Helvetica" pitchFamily="2" charset="0"/>
                        </a:rPr>
                        <a:t>Conference</a:t>
                      </a:r>
                      <a:br>
                        <a:rPr lang="en-US" sz="1400" b="0" i="0" dirty="0">
                          <a:latin typeface="Helvetica" pitchFamily="2" charset="0"/>
                        </a:rPr>
                      </a:br>
                      <a:r>
                        <a:rPr lang="en-US" sz="1400" b="0" i="0" dirty="0">
                          <a:latin typeface="Helvetica" pitchFamily="2" charset="0"/>
                        </a:rPr>
                        <a:t>(Year)</a:t>
                      </a:r>
                    </a:p>
                  </a:txBody>
                  <a:tcPr>
                    <a:solidFill>
                      <a:schemeClr val="accent6">
                        <a:lumMod val="50000"/>
                      </a:schemeClr>
                    </a:solidFill>
                  </a:tcPr>
                </a:tc>
                <a:tc>
                  <a:txBody>
                    <a:bodyPr/>
                    <a:lstStyle/>
                    <a:p>
                      <a:pPr algn="ctr"/>
                      <a:r>
                        <a:rPr lang="en-US" sz="1400" b="0" i="0" dirty="0">
                          <a:latin typeface="Helvetica" pitchFamily="2" charset="0"/>
                        </a:rPr>
                        <a:t>Tools/</a:t>
                      </a:r>
                    </a:p>
                    <a:p>
                      <a:pPr algn="ctr"/>
                      <a:r>
                        <a:rPr lang="en-US" sz="1400" b="0" i="0" dirty="0">
                          <a:latin typeface="Helvetica" pitchFamily="2" charset="0"/>
                        </a:rPr>
                        <a:t>Techniques/</a:t>
                      </a:r>
                    </a:p>
                    <a:p>
                      <a:pPr algn="ctr"/>
                      <a:r>
                        <a:rPr lang="en-US" sz="1400" b="0" i="0" dirty="0">
                          <a:latin typeface="Helvetica" pitchFamily="2" charset="0"/>
                        </a:rPr>
                        <a:t>Dataset</a:t>
                      </a:r>
                    </a:p>
                  </a:txBody>
                  <a:tcPr>
                    <a:solidFill>
                      <a:schemeClr val="accent6">
                        <a:lumMod val="50000"/>
                      </a:schemeClr>
                    </a:solidFill>
                  </a:tcPr>
                </a:tc>
                <a:tc>
                  <a:txBody>
                    <a:bodyPr/>
                    <a:lstStyle/>
                    <a:p>
                      <a:pPr algn="ctr"/>
                      <a:r>
                        <a:rPr lang="en-US" sz="1400" b="0" i="0" dirty="0">
                          <a:latin typeface="Helvetica" pitchFamily="2" charset="0"/>
                        </a:rPr>
                        <a:t>Key Findings/</a:t>
                      </a:r>
                    </a:p>
                    <a:p>
                      <a:pPr algn="ctr"/>
                      <a:r>
                        <a:rPr lang="en-US" sz="1400" b="0" i="0" dirty="0">
                          <a:latin typeface="Helvetica" pitchFamily="2" charset="0"/>
                        </a:rPr>
                        <a:t>Results</a:t>
                      </a:r>
                    </a:p>
                  </a:txBody>
                  <a:tcPr>
                    <a:solidFill>
                      <a:schemeClr val="accent6">
                        <a:lumMod val="50000"/>
                      </a:schemeClr>
                    </a:solidFill>
                  </a:tcPr>
                </a:tc>
                <a:tc>
                  <a:txBody>
                    <a:bodyPr/>
                    <a:lstStyle/>
                    <a:p>
                      <a:pPr algn="ctr"/>
                      <a:r>
                        <a:rPr lang="en-US" sz="1400" b="0" i="0" dirty="0">
                          <a:latin typeface="Helvetica" pitchFamily="2" charset="0"/>
                        </a:rPr>
                        <a:t>Limitations/</a:t>
                      </a:r>
                    </a:p>
                    <a:p>
                      <a:pPr algn="ctr"/>
                      <a:r>
                        <a:rPr lang="en-US" sz="1400" b="0" i="0" dirty="0">
                          <a:latin typeface="Helvetica" pitchFamily="2" charset="0"/>
                        </a:rPr>
                        <a:t>Gaps Identified</a:t>
                      </a:r>
                    </a:p>
                  </a:txBody>
                  <a:tcPr>
                    <a:solidFill>
                      <a:schemeClr val="accent6">
                        <a:lumMod val="50000"/>
                      </a:schemeClr>
                    </a:solidFill>
                  </a:tcPr>
                </a:tc>
                <a:extLst>
                  <a:ext uri="{0D108BD9-81ED-4DB2-BD59-A6C34878D82A}">
                    <a16:rowId xmlns:a16="http://schemas.microsoft.com/office/drawing/2014/main" val="2495431070"/>
                  </a:ext>
                </a:extLst>
              </a:tr>
              <a:tr h="1203634">
                <a:tc>
                  <a:txBody>
                    <a:bodyPr/>
                    <a:lstStyle/>
                    <a:p>
                      <a:pPr algn="ctr"/>
                      <a:r>
                        <a:rPr lang="en-US" sz="1200" b="0" i="0" dirty="0">
                          <a:latin typeface="Helvetica" pitchFamily="2" charset="0"/>
                        </a:rPr>
                        <a:t>1.</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Shivam B. Kaliya et al. – “A Comprehensive Survey on Fake News Detection Using ML”</a:t>
                      </a:r>
                      <a:r>
                        <a:rPr lang="en-US" sz="1200" b="0" i="0" dirty="0">
                          <a:latin typeface="+mn-lt"/>
                        </a:rPr>
                        <a:t>[1]</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Information Processing &amp; Management, 2021.</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Survey of ML/DL, NLP features, LIAR, </a:t>
                      </a:r>
                      <a:r>
                        <a:rPr lang="en-US" sz="1200" dirty="0" err="1"/>
                        <a:t>FakeNewsNet</a:t>
                      </a:r>
                      <a:r>
                        <a:rPr lang="en-US" sz="1200" dirty="0"/>
                        <a:t>, BuzzFeed.</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Summarized approaches &amp; trends; gaps in dataset quality &amp; generalization.</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Only survey-based, no implementation; lacks explainability</a:t>
                      </a:r>
                      <a:r>
                        <a:rPr lang="en-US" sz="1200" b="0" i="0" dirty="0">
                          <a:latin typeface="+mn-lt"/>
                        </a:rPr>
                        <a:t>.</a:t>
                      </a: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440570599"/>
                  </a:ext>
                </a:extLst>
              </a:tr>
              <a:tr h="1203634">
                <a:tc>
                  <a:txBody>
                    <a:bodyPr/>
                    <a:lstStyle/>
                    <a:p>
                      <a:pPr algn="ctr"/>
                      <a:r>
                        <a:rPr lang="en-US" sz="1200" b="0" i="0" dirty="0">
                          <a:latin typeface="Helvetica" pitchFamily="2" charset="0"/>
                        </a:rPr>
                        <a:t>2.</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Andreas Rössler, et</a:t>
                      </a:r>
                      <a:r>
                        <a:rPr lang="en-US" sz="1200" b="0" i="0" baseline="0" dirty="0">
                          <a:latin typeface="+mn-lt"/>
                        </a:rPr>
                        <a:t> al.</a:t>
                      </a:r>
                      <a:r>
                        <a:rPr lang="en-US" sz="1200" b="0" i="0" dirty="0">
                          <a:latin typeface="+mn-lt"/>
                        </a:rPr>
                        <a:t> — “</a:t>
                      </a:r>
                      <a:r>
                        <a:rPr lang="en-US" sz="1200" b="0" i="1" dirty="0" err="1">
                          <a:latin typeface="+mn-lt"/>
                        </a:rPr>
                        <a:t>FaceForensics</a:t>
                      </a:r>
                      <a:r>
                        <a:rPr lang="en-US" sz="1200" b="0" i="1" dirty="0">
                          <a:latin typeface="+mn-lt"/>
                        </a:rPr>
                        <a:t>++: Learning to Detect Manipulated Facial Images</a:t>
                      </a:r>
                      <a:r>
                        <a:rPr lang="en-US" sz="1200" b="0" i="0" dirty="0">
                          <a:latin typeface="+mn-lt"/>
                        </a:rPr>
                        <a:t>” [2]</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IEEE/CVF International Conference on Computer Vision (ICCV), 2019</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err="1"/>
                        <a:t>FaceForensics</a:t>
                      </a:r>
                      <a:r>
                        <a:rPr lang="en-IN" sz="1200" dirty="0"/>
                        <a:t>++ (1.8M </a:t>
                      </a:r>
                      <a:r>
                        <a:rPr lang="en-IN" sz="1200" dirty="0" err="1"/>
                        <a:t>imgs</a:t>
                      </a:r>
                      <a:r>
                        <a:rPr lang="en-IN" sz="1200" dirty="0"/>
                        <a:t>).</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Large-scale dataset; CNN &gt; humans in accuracy.</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Limited to facial manipulation; performance drops under compression; resource-heavy.</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1203634">
                <a:tc>
                  <a:txBody>
                    <a:bodyPr/>
                    <a:lstStyle/>
                    <a:p>
                      <a:pPr algn="ctr"/>
                      <a:r>
                        <a:rPr lang="en-US" sz="1200" b="0" i="0" dirty="0">
                          <a:latin typeface="Helvetica" pitchFamily="2" charset="0"/>
                        </a:rPr>
                        <a:t>3.</a:t>
                      </a:r>
                    </a:p>
                  </a:txBody>
                  <a:tcPr>
                    <a:solidFill>
                      <a:schemeClr val="accent6">
                        <a:lumMod val="60000"/>
                        <a:lumOff val="40000"/>
                      </a:schemeClr>
                    </a:solidFill>
                  </a:tcPr>
                </a:tc>
                <a:tc>
                  <a:txBody>
                    <a:bodyPr/>
                    <a:lstStyle/>
                    <a:p>
                      <a:r>
                        <a:rPr lang="en-IN" sz="1200" dirty="0"/>
                        <a:t>Mansi Kaur et al. — Survey on Multimodal Fake News Detection” [3]</a:t>
                      </a:r>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latin typeface="+mn-lt"/>
                        </a:rPr>
                        <a:t>Information Systems Frontiers, 2022.</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Review of </a:t>
                      </a:r>
                      <a:r>
                        <a:rPr lang="en-US" sz="1200" dirty="0" err="1"/>
                        <a:t>text+image</a:t>
                      </a:r>
                      <a:r>
                        <a:rPr lang="en-US" sz="1200" dirty="0"/>
                        <a:t> DL; Weibo, Twitter datasets.</a:t>
                      </a:r>
                      <a:endParaRPr lang="en-IN" sz="120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mn-lt"/>
                        </a:rPr>
                        <a:t>Emphasized that multimodal fusion improves detection accuracy over text-only models.</a:t>
                      </a:r>
                      <a:endParaRPr lang="en-IN" sz="120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mn-lt"/>
                        </a:rPr>
                        <a:t>No new dataset proposed; models are computationally costly; weak generalization across datasets.</a:t>
                      </a:r>
                      <a:endParaRPr lang="en-IN" sz="120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646395450"/>
                  </a:ext>
                </a:extLst>
              </a:tr>
              <a:tr h="1203634">
                <a:tc>
                  <a:txBody>
                    <a:bodyPr/>
                    <a:lstStyle/>
                    <a:p>
                      <a:pPr algn="ctr"/>
                      <a:r>
                        <a:rPr lang="en-US" sz="1200" b="0" i="0" dirty="0">
                          <a:latin typeface="Helvetica" pitchFamily="2" charset="0"/>
                        </a:rPr>
                        <a:t>4.</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“Preeti Sharma et al. — A Robust Ensemble Model for Deepfake Detection” [4]</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latin typeface="+mn-lt"/>
                        </a:rPr>
                        <a:t>Discover Computing, 2025.</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latin typeface="+mn-lt"/>
                        </a:rPr>
                        <a:t>Face2Face/Face Tracking   (For Preprocessing)</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~91.6% accuracy; strong precision/recall; robust across datasets.</a:t>
                      </a:r>
                      <a:endParaRPr lang="en-IN" sz="120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mn-lt"/>
                        </a:rPr>
                        <a:t>High computational cost; scalability for real-time applications remains limited.</a:t>
                      </a:r>
                      <a:endParaRPr lang="en-IN" sz="120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108054300"/>
                  </a:ext>
                </a:extLst>
              </a:tr>
            </a:tbl>
          </a:graphicData>
        </a:graphic>
      </p:graphicFrame>
    </p:spTree>
    <p:extLst>
      <p:ext uri="{BB962C8B-B14F-4D97-AF65-F5344CB8AC3E}">
        <p14:creationId xmlns:p14="http://schemas.microsoft.com/office/powerpoint/2010/main" val="175054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2D1C-6E0E-88C5-66A3-B524DCAA9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80671-A451-62A6-6861-A0CBB876BF63}"/>
              </a:ext>
            </a:extLst>
          </p:cNvPr>
          <p:cNvSpPr>
            <a:spLocks noGrp="1"/>
          </p:cNvSpPr>
          <p:nvPr>
            <p:ph type="title"/>
          </p:nvPr>
        </p:nvSpPr>
        <p:spPr/>
        <p:txBody>
          <a:bodyPr/>
          <a:lstStyle/>
          <a:p>
            <a:r>
              <a:rPr lang="en-IN" sz="2400" dirty="0">
                <a:ea typeface="Palatino" pitchFamily="2" charset="77"/>
              </a:rPr>
              <a:t>Literature Review (</a:t>
            </a:r>
            <a:r>
              <a:rPr lang="en-IN" sz="2400" dirty="0" err="1">
                <a:ea typeface="Palatino" pitchFamily="2" charset="77"/>
              </a:rPr>
              <a:t>cont</a:t>
            </a:r>
            <a:r>
              <a:rPr lang="en-IN" sz="2400" dirty="0">
                <a:ea typeface="Palatino" pitchFamily="2" charset="77"/>
              </a:rPr>
              <a:t>…)</a:t>
            </a:r>
            <a:endParaRPr lang="en-US" b="0" dirty="0"/>
          </a:p>
        </p:txBody>
      </p:sp>
      <p:sp>
        <p:nvSpPr>
          <p:cNvPr id="4" name="Content Placeholder 2">
            <a:extLst>
              <a:ext uri="{FF2B5EF4-FFF2-40B4-BE49-F238E27FC236}">
                <a16:creationId xmlns:a16="http://schemas.microsoft.com/office/drawing/2014/main" id="{70A8BFBD-5585-5A38-BE37-37B3EE9F27F7}"/>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8194D322-3275-F1E8-F7CB-393836BD7150}"/>
              </a:ext>
            </a:extLst>
          </p:cNvPr>
          <p:cNvGraphicFramePr>
            <a:graphicFrameLocks noGrp="1"/>
          </p:cNvGraphicFramePr>
          <p:nvPr>
            <p:extLst>
              <p:ext uri="{D42A27DB-BD31-4B8C-83A1-F6EECF244321}">
                <p14:modId xmlns:p14="http://schemas.microsoft.com/office/powerpoint/2010/main" val="1133951041"/>
              </p:ext>
            </p:extLst>
          </p:nvPr>
        </p:nvGraphicFramePr>
        <p:xfrm>
          <a:off x="110168" y="881348"/>
          <a:ext cx="8923663" cy="5574701"/>
        </p:xfrm>
        <a:graphic>
          <a:graphicData uri="http://schemas.openxmlformats.org/drawingml/2006/table">
            <a:tbl>
              <a:tblPr firstRow="1" bandRow="1">
                <a:tableStyleId>{00A15C55-8517-42AA-B614-E9B94910E393}</a:tableStyleId>
              </a:tblPr>
              <a:tblGrid>
                <a:gridCol w="542256">
                  <a:extLst>
                    <a:ext uri="{9D8B030D-6E8A-4147-A177-3AD203B41FA5}">
                      <a16:colId xmlns:a16="http://schemas.microsoft.com/office/drawing/2014/main" val="1580173846"/>
                    </a:ext>
                  </a:extLst>
                </a:gridCol>
                <a:gridCol w="1760270">
                  <a:extLst>
                    <a:ext uri="{9D8B030D-6E8A-4147-A177-3AD203B41FA5}">
                      <a16:colId xmlns:a16="http://schemas.microsoft.com/office/drawing/2014/main" val="1787721097"/>
                    </a:ext>
                  </a:extLst>
                </a:gridCol>
                <a:gridCol w="1465243">
                  <a:extLst>
                    <a:ext uri="{9D8B030D-6E8A-4147-A177-3AD203B41FA5}">
                      <a16:colId xmlns:a16="http://schemas.microsoft.com/office/drawing/2014/main" val="1940941142"/>
                    </a:ext>
                  </a:extLst>
                </a:gridCol>
                <a:gridCol w="1421176">
                  <a:extLst>
                    <a:ext uri="{9D8B030D-6E8A-4147-A177-3AD203B41FA5}">
                      <a16:colId xmlns:a16="http://schemas.microsoft.com/office/drawing/2014/main" val="1753147821"/>
                    </a:ext>
                  </a:extLst>
                </a:gridCol>
                <a:gridCol w="1828800">
                  <a:extLst>
                    <a:ext uri="{9D8B030D-6E8A-4147-A177-3AD203B41FA5}">
                      <a16:colId xmlns:a16="http://schemas.microsoft.com/office/drawing/2014/main" val="75906716"/>
                    </a:ext>
                  </a:extLst>
                </a:gridCol>
                <a:gridCol w="1905918">
                  <a:extLst>
                    <a:ext uri="{9D8B030D-6E8A-4147-A177-3AD203B41FA5}">
                      <a16:colId xmlns:a16="http://schemas.microsoft.com/office/drawing/2014/main" val="359970441"/>
                    </a:ext>
                  </a:extLst>
                </a:gridCol>
              </a:tblGrid>
              <a:tr h="760165">
                <a:tc>
                  <a:txBody>
                    <a:bodyPr/>
                    <a:lstStyle/>
                    <a:p>
                      <a:pPr algn="ctr"/>
                      <a:r>
                        <a:rPr lang="en-US" sz="1400" b="0" i="0" dirty="0">
                          <a:latin typeface="Helvetica" pitchFamily="2" charset="0"/>
                        </a:rPr>
                        <a:t>S. No.</a:t>
                      </a:r>
                    </a:p>
                  </a:txBody>
                  <a:tcPr>
                    <a:solidFill>
                      <a:schemeClr val="accent6">
                        <a:lumMod val="50000"/>
                      </a:schemeClr>
                    </a:solidFill>
                  </a:tcPr>
                </a:tc>
                <a:tc>
                  <a:txBody>
                    <a:bodyPr/>
                    <a:lstStyle/>
                    <a:p>
                      <a:pPr algn="ctr"/>
                      <a:r>
                        <a:rPr lang="en-US" sz="1400" b="0" i="0" dirty="0">
                          <a:latin typeface="Helvetica" pitchFamily="2" charset="0"/>
                        </a:rPr>
                        <a:t>Author &amp; </a:t>
                      </a:r>
                    </a:p>
                    <a:p>
                      <a:pPr algn="ctr"/>
                      <a:r>
                        <a:rPr lang="en-US" sz="1400" b="0" i="0" dirty="0">
                          <a:latin typeface="Helvetica" pitchFamily="2" charset="0"/>
                        </a:rPr>
                        <a:t>Paper Title </a:t>
                      </a:r>
                      <a:br>
                        <a:rPr lang="en-US" sz="1400" b="0" i="0" dirty="0">
                          <a:latin typeface="Helvetica" pitchFamily="2" charset="0"/>
                        </a:rPr>
                      </a:br>
                      <a:r>
                        <a:rPr lang="en-US" sz="1400" b="0" i="0" dirty="0">
                          <a:latin typeface="Helvetica" pitchFamily="2" charset="0"/>
                        </a:rPr>
                        <a:t>[Citation]</a:t>
                      </a:r>
                    </a:p>
                  </a:txBody>
                  <a:tcPr>
                    <a:solidFill>
                      <a:schemeClr val="accent6">
                        <a:lumMod val="50000"/>
                      </a:schemeClr>
                    </a:solidFill>
                  </a:tcPr>
                </a:tc>
                <a:tc>
                  <a:txBody>
                    <a:bodyPr/>
                    <a:lstStyle/>
                    <a:p>
                      <a:pPr algn="ctr"/>
                      <a:r>
                        <a:rPr lang="en-US" sz="1400" b="0" i="0" dirty="0">
                          <a:latin typeface="Helvetica" pitchFamily="2" charset="0"/>
                        </a:rPr>
                        <a:t>Journal/</a:t>
                      </a:r>
                    </a:p>
                    <a:p>
                      <a:pPr algn="ctr"/>
                      <a:r>
                        <a:rPr lang="en-US" sz="1400" b="0" i="0" dirty="0">
                          <a:latin typeface="Helvetica" pitchFamily="2" charset="0"/>
                        </a:rPr>
                        <a:t>Conference</a:t>
                      </a:r>
                      <a:br>
                        <a:rPr lang="en-US" sz="1400" b="0" i="0" dirty="0">
                          <a:latin typeface="Helvetica" pitchFamily="2" charset="0"/>
                        </a:rPr>
                      </a:br>
                      <a:r>
                        <a:rPr lang="en-US" sz="1400" b="0" i="0" dirty="0">
                          <a:latin typeface="Helvetica" pitchFamily="2" charset="0"/>
                        </a:rPr>
                        <a:t>(Year)</a:t>
                      </a:r>
                    </a:p>
                  </a:txBody>
                  <a:tcPr>
                    <a:solidFill>
                      <a:schemeClr val="accent6">
                        <a:lumMod val="50000"/>
                      </a:schemeClr>
                    </a:solidFill>
                  </a:tcPr>
                </a:tc>
                <a:tc>
                  <a:txBody>
                    <a:bodyPr/>
                    <a:lstStyle/>
                    <a:p>
                      <a:pPr algn="ctr"/>
                      <a:r>
                        <a:rPr lang="en-US" sz="1400" b="0" i="0" dirty="0">
                          <a:latin typeface="Helvetica" pitchFamily="2" charset="0"/>
                        </a:rPr>
                        <a:t>Tools/</a:t>
                      </a:r>
                    </a:p>
                    <a:p>
                      <a:pPr algn="ctr"/>
                      <a:r>
                        <a:rPr lang="en-US" sz="1400" b="0" i="0" dirty="0">
                          <a:latin typeface="Helvetica" pitchFamily="2" charset="0"/>
                        </a:rPr>
                        <a:t>Techniques/</a:t>
                      </a:r>
                    </a:p>
                    <a:p>
                      <a:pPr algn="ctr"/>
                      <a:r>
                        <a:rPr lang="en-US" sz="1400" b="0" i="0" dirty="0">
                          <a:latin typeface="Helvetica" pitchFamily="2" charset="0"/>
                        </a:rPr>
                        <a:t>Dataset</a:t>
                      </a:r>
                    </a:p>
                  </a:txBody>
                  <a:tcPr>
                    <a:solidFill>
                      <a:schemeClr val="accent6">
                        <a:lumMod val="50000"/>
                      </a:schemeClr>
                    </a:solidFill>
                  </a:tcPr>
                </a:tc>
                <a:tc>
                  <a:txBody>
                    <a:bodyPr/>
                    <a:lstStyle/>
                    <a:p>
                      <a:pPr algn="ctr"/>
                      <a:r>
                        <a:rPr lang="en-US" sz="1400" b="0" i="0" dirty="0">
                          <a:latin typeface="Helvetica" pitchFamily="2" charset="0"/>
                        </a:rPr>
                        <a:t>Key Findings/</a:t>
                      </a:r>
                    </a:p>
                    <a:p>
                      <a:pPr algn="ctr"/>
                      <a:r>
                        <a:rPr lang="en-US" sz="1400" b="0" i="0" dirty="0">
                          <a:latin typeface="Helvetica" pitchFamily="2" charset="0"/>
                        </a:rPr>
                        <a:t>Results</a:t>
                      </a:r>
                    </a:p>
                  </a:txBody>
                  <a:tcPr>
                    <a:solidFill>
                      <a:schemeClr val="accent6">
                        <a:lumMod val="50000"/>
                      </a:schemeClr>
                    </a:solidFill>
                  </a:tcPr>
                </a:tc>
                <a:tc>
                  <a:txBody>
                    <a:bodyPr/>
                    <a:lstStyle/>
                    <a:p>
                      <a:pPr algn="ctr"/>
                      <a:r>
                        <a:rPr lang="en-US" sz="1400" b="0" i="0" dirty="0">
                          <a:latin typeface="Helvetica" pitchFamily="2" charset="0"/>
                        </a:rPr>
                        <a:t>Limitations/</a:t>
                      </a:r>
                    </a:p>
                    <a:p>
                      <a:pPr algn="ctr"/>
                      <a:r>
                        <a:rPr lang="en-US" sz="1400" b="0" i="0" dirty="0">
                          <a:latin typeface="Helvetica" pitchFamily="2" charset="0"/>
                        </a:rPr>
                        <a:t>Gaps Identified</a:t>
                      </a:r>
                    </a:p>
                  </a:txBody>
                  <a:tcPr>
                    <a:solidFill>
                      <a:schemeClr val="accent6">
                        <a:lumMod val="50000"/>
                      </a:schemeClr>
                    </a:solidFill>
                  </a:tcPr>
                </a:tc>
                <a:extLst>
                  <a:ext uri="{0D108BD9-81ED-4DB2-BD59-A6C34878D82A}">
                    <a16:rowId xmlns:a16="http://schemas.microsoft.com/office/drawing/2014/main" val="2495431070"/>
                  </a:ext>
                </a:extLst>
              </a:tr>
              <a:tr h="1203634">
                <a:tc>
                  <a:txBody>
                    <a:bodyPr/>
                    <a:lstStyle/>
                    <a:p>
                      <a:pPr algn="ctr"/>
                      <a:r>
                        <a:rPr lang="en-US" sz="1200" b="0" i="0" dirty="0">
                          <a:latin typeface="Helvetica" pitchFamily="2" charset="0"/>
                        </a:rPr>
                        <a:t>5.</a:t>
                      </a:r>
                    </a:p>
                  </a:txBody>
                  <a:tcPr>
                    <a:solidFill>
                      <a:schemeClr val="accent6">
                        <a:lumMod val="60000"/>
                        <a:lumOff val="40000"/>
                      </a:schemeClr>
                    </a:solidFill>
                  </a:tcPr>
                </a:tc>
                <a:tc>
                  <a:txBody>
                    <a:bodyPr/>
                    <a:lstStyle/>
                    <a:p>
                      <a:r>
                        <a:rPr lang="en-US" sz="1200" b="0" i="0" dirty="0">
                          <a:latin typeface="Helvetica" pitchFamily="2" charset="0"/>
                        </a:rPr>
                        <a:t>“Qian Jiang et al. — Robust Manipulated Media Localization &amp; Detection” [5]</a:t>
                      </a:r>
                    </a:p>
                    <a:p>
                      <a:r>
                        <a:rPr lang="en-US" sz="1200" b="0" i="0" dirty="0">
                          <a:latin typeface="Helvetica" pitchFamily="2" charset="0"/>
                        </a:rPr>
                        <a:t>is this correct?</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latin typeface="+mn-lt"/>
                        </a:rPr>
                        <a:t>Discover Computing, 2025.</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RMLD-HFTF, MMS, AGAM, Encoder-Decoder; tested on FF++, Celeb-DF, DFDC.</a:t>
                      </a:r>
                      <a:endParaRPr lang="en-IN" sz="1200" b="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Detected and localized tampered regions; improved cross-dataset robustness by 1–10% over prior work.</a:t>
                      </a:r>
                      <a:endParaRPr lang="en-IN" sz="1200" b="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mn-lt"/>
                        </a:rPr>
                        <a:t>Model complexity is high; requires large resources; subtle manipulations may be missed.</a:t>
                      </a:r>
                      <a:endParaRPr lang="en-IN" sz="1200" b="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440570599"/>
                  </a:ext>
                </a:extLst>
              </a:tr>
              <a:tr h="1203634">
                <a:tc>
                  <a:txBody>
                    <a:bodyPr/>
                    <a:lstStyle/>
                    <a:p>
                      <a:pPr algn="ctr"/>
                      <a:r>
                        <a:rPr lang="en-US" sz="1200" b="0" i="0" dirty="0">
                          <a:latin typeface="Helvetica" pitchFamily="2" charset="0"/>
                        </a:rPr>
                        <a:t>6.</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B. Ghita</a:t>
                      </a:r>
                      <a:r>
                        <a:rPr lang="en-US" sz="1200" b="0" i="0" baseline="0" dirty="0">
                          <a:latin typeface="+mn-lt"/>
                        </a:rPr>
                        <a:t> et al.</a:t>
                      </a:r>
                      <a:r>
                        <a:rPr lang="en-IN" sz="1200" b="0" dirty="0">
                          <a:latin typeface="+mn-lt"/>
                        </a:rPr>
                        <a:t> —</a:t>
                      </a:r>
                      <a:r>
                        <a:rPr lang="en-US" sz="1200" b="0" i="0" baseline="0" dirty="0">
                          <a:latin typeface="+mn-lt"/>
                        </a:rPr>
                        <a:t> </a:t>
                      </a:r>
                      <a:r>
                        <a:rPr lang="en-US" sz="1200" b="0" i="0" dirty="0">
                          <a:latin typeface="+mn-lt"/>
                        </a:rPr>
                        <a:t> “</a:t>
                      </a:r>
                      <a:r>
                        <a:rPr lang="en-US" sz="1200" b="0" i="1" dirty="0">
                          <a:latin typeface="+mn-lt"/>
                        </a:rPr>
                        <a:t>Deepfake Image Detection using Vision Transformer Models</a:t>
                      </a:r>
                      <a:r>
                        <a:rPr lang="en-US" sz="1200" b="0" i="0" dirty="0">
                          <a:latin typeface="+mn-lt"/>
                        </a:rPr>
                        <a:t>” [6]</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IEEE/academic publication, 2023–2024.</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err="1"/>
                        <a:t>ViT</a:t>
                      </a:r>
                      <a:r>
                        <a:rPr lang="en-IN" sz="1200" dirty="0"/>
                        <a:t>, Kaggle dataset, Colab L4 GPU.</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89.91% accuracy; slight bias toward fake detection; needs large datasets.</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Limited by compute power; only 40K/190K images used; overfits on small data</a:t>
                      </a:r>
                      <a:r>
                        <a:rPr lang="en-US" sz="1200" b="0" dirty="0">
                          <a:latin typeface="+mn-lt"/>
                        </a:rPr>
                        <a:t> .</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1203634">
                <a:tc>
                  <a:txBody>
                    <a:bodyPr/>
                    <a:lstStyle/>
                    <a:p>
                      <a:pPr algn="ctr"/>
                      <a:r>
                        <a:rPr lang="en-US" sz="1200" b="0" i="0" dirty="0">
                          <a:latin typeface="Helvetica" pitchFamily="2" charset="0"/>
                        </a:rPr>
                        <a:t>7.</a:t>
                      </a:r>
                    </a:p>
                  </a:txBody>
                  <a:tcPr>
                    <a:solidFill>
                      <a:schemeClr val="accent6">
                        <a:lumMod val="60000"/>
                        <a:lumOff val="40000"/>
                      </a:schemeClr>
                    </a:solidFill>
                  </a:tcPr>
                </a:tc>
                <a:tc>
                  <a:txBody>
                    <a:bodyPr/>
                    <a:lstStyle/>
                    <a:p>
                      <a:r>
                        <a:rPr lang="en-US" sz="1200" dirty="0"/>
                        <a:t>“N. N. Prachi et al. — Fake News Detection Using ML &amp; NLP” [7]</a:t>
                      </a:r>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Journal of Advances in Information Technology — Vol. 13(6), Dec. 2022</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Kaggle dataset; Regex, TF-IDF, </a:t>
                      </a:r>
                      <a:r>
                        <a:rPr lang="en-IN" sz="1200" dirty="0" err="1"/>
                        <a:t>BoW</a:t>
                      </a:r>
                      <a:r>
                        <a:rPr lang="en-IN" sz="1200" dirty="0"/>
                        <a:t>, LR, Naïve Bayes, SVM, LSTM, BERT.</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BERT best (98%); preprocessing boosted accuracy; robust context capture.</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No multilingual or multimodal support; only binary classification; BERT is heavy.</a:t>
                      </a: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646395450"/>
                  </a:ext>
                </a:extLst>
              </a:tr>
              <a:tr h="1203634">
                <a:tc>
                  <a:txBody>
                    <a:bodyPr/>
                    <a:lstStyle/>
                    <a:p>
                      <a:pPr algn="ctr"/>
                      <a:r>
                        <a:rPr lang="en-US" sz="1200" b="0" i="0" dirty="0">
                          <a:latin typeface="Helvetica" pitchFamily="2" charset="0"/>
                        </a:rPr>
                        <a:t>8.</a:t>
                      </a:r>
                    </a:p>
                  </a:txBody>
                  <a:tcPr>
                    <a:solidFill>
                      <a:schemeClr val="accent6">
                        <a:lumMod val="20000"/>
                        <a:lumOff val="80000"/>
                      </a:schemeClr>
                    </a:solidFill>
                  </a:tcPr>
                </a:tc>
                <a:tc>
                  <a:txBody>
                    <a:bodyPr/>
                    <a:lstStyle/>
                    <a:p>
                      <a:r>
                        <a:rPr lang="en-IN" sz="1200" dirty="0"/>
                        <a:t>“Karthikeyan A. et al. — Multimodal Deepfake Detection” [8]</a:t>
                      </a:r>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TIJER – International Research Journal, vol. 11, no. 7, July 2024.</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Steganalysis network, </a:t>
                      </a:r>
                      <a:r>
                        <a:rPr lang="en-IN" sz="1200" dirty="0" err="1"/>
                        <a:t>ResNet</a:t>
                      </a:r>
                      <a:r>
                        <a:rPr lang="en-IN" sz="1200" dirty="0"/>
                        <a:t>, CNN, LSTM, </a:t>
                      </a:r>
                      <a:r>
                        <a:rPr lang="en-IN" sz="1200" dirty="0" err="1"/>
                        <a:t>PyTorch</a:t>
                      </a:r>
                      <a:r>
                        <a:rPr lang="en-IN" sz="1200" dirty="0"/>
                        <a:t>; custom video dataset.</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Detected deepfake traces (blur, artifacts); CNN+LSTM gave high accuracy with small dataset.</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200" dirty="0"/>
                        <a:t>Needs large data and high compute; small datasets cause overfitting and weak generalization.</a:t>
                      </a: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108054300"/>
                  </a:ext>
                </a:extLst>
              </a:tr>
            </a:tbl>
          </a:graphicData>
        </a:graphic>
      </p:graphicFrame>
    </p:spTree>
    <p:extLst>
      <p:ext uri="{BB962C8B-B14F-4D97-AF65-F5344CB8AC3E}">
        <p14:creationId xmlns:p14="http://schemas.microsoft.com/office/powerpoint/2010/main" val="958120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B68AD-2D17-3232-24A7-12A67A6A6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FA6A7-13C6-6620-A64F-1B943F0A3FD8}"/>
              </a:ext>
            </a:extLst>
          </p:cNvPr>
          <p:cNvSpPr>
            <a:spLocks noGrp="1"/>
          </p:cNvSpPr>
          <p:nvPr>
            <p:ph type="title"/>
          </p:nvPr>
        </p:nvSpPr>
        <p:spPr/>
        <p:txBody>
          <a:bodyPr/>
          <a:lstStyle/>
          <a:p>
            <a:r>
              <a:rPr lang="en-IN" sz="2400" dirty="0">
                <a:ea typeface="Palatino" pitchFamily="2" charset="77"/>
              </a:rPr>
              <a:t>Literature Review (</a:t>
            </a:r>
            <a:r>
              <a:rPr lang="en-IN" sz="2400" dirty="0" err="1">
                <a:ea typeface="Palatino" pitchFamily="2" charset="77"/>
              </a:rPr>
              <a:t>cont</a:t>
            </a:r>
            <a:r>
              <a:rPr lang="en-IN" sz="2400" dirty="0">
                <a:ea typeface="Palatino" pitchFamily="2" charset="77"/>
              </a:rPr>
              <a:t>…)</a:t>
            </a:r>
            <a:endParaRPr lang="en-US" b="0" dirty="0"/>
          </a:p>
        </p:txBody>
      </p:sp>
      <p:sp>
        <p:nvSpPr>
          <p:cNvPr id="4" name="Content Placeholder 2">
            <a:extLst>
              <a:ext uri="{FF2B5EF4-FFF2-40B4-BE49-F238E27FC236}">
                <a16:creationId xmlns:a16="http://schemas.microsoft.com/office/drawing/2014/main" id="{09AD5CEA-3122-9816-6FD2-79A629EBE51B}"/>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9F7F5FD8-9273-F9B6-541B-18152AA72365}"/>
              </a:ext>
            </a:extLst>
          </p:cNvPr>
          <p:cNvGraphicFramePr>
            <a:graphicFrameLocks noGrp="1"/>
          </p:cNvGraphicFramePr>
          <p:nvPr>
            <p:extLst>
              <p:ext uri="{D42A27DB-BD31-4B8C-83A1-F6EECF244321}">
                <p14:modId xmlns:p14="http://schemas.microsoft.com/office/powerpoint/2010/main" val="1428924865"/>
              </p:ext>
            </p:extLst>
          </p:nvPr>
        </p:nvGraphicFramePr>
        <p:xfrm>
          <a:off x="110168" y="881348"/>
          <a:ext cx="8923663" cy="5574701"/>
        </p:xfrm>
        <a:graphic>
          <a:graphicData uri="http://schemas.openxmlformats.org/drawingml/2006/table">
            <a:tbl>
              <a:tblPr firstRow="1" bandRow="1">
                <a:tableStyleId>{00A15C55-8517-42AA-B614-E9B94910E393}</a:tableStyleId>
              </a:tblPr>
              <a:tblGrid>
                <a:gridCol w="542256">
                  <a:extLst>
                    <a:ext uri="{9D8B030D-6E8A-4147-A177-3AD203B41FA5}">
                      <a16:colId xmlns:a16="http://schemas.microsoft.com/office/drawing/2014/main" val="1580173846"/>
                    </a:ext>
                  </a:extLst>
                </a:gridCol>
                <a:gridCol w="1760270">
                  <a:extLst>
                    <a:ext uri="{9D8B030D-6E8A-4147-A177-3AD203B41FA5}">
                      <a16:colId xmlns:a16="http://schemas.microsoft.com/office/drawing/2014/main" val="1787721097"/>
                    </a:ext>
                  </a:extLst>
                </a:gridCol>
                <a:gridCol w="1465243">
                  <a:extLst>
                    <a:ext uri="{9D8B030D-6E8A-4147-A177-3AD203B41FA5}">
                      <a16:colId xmlns:a16="http://schemas.microsoft.com/office/drawing/2014/main" val="1940941142"/>
                    </a:ext>
                  </a:extLst>
                </a:gridCol>
                <a:gridCol w="1421176">
                  <a:extLst>
                    <a:ext uri="{9D8B030D-6E8A-4147-A177-3AD203B41FA5}">
                      <a16:colId xmlns:a16="http://schemas.microsoft.com/office/drawing/2014/main" val="1753147821"/>
                    </a:ext>
                  </a:extLst>
                </a:gridCol>
                <a:gridCol w="1828800">
                  <a:extLst>
                    <a:ext uri="{9D8B030D-6E8A-4147-A177-3AD203B41FA5}">
                      <a16:colId xmlns:a16="http://schemas.microsoft.com/office/drawing/2014/main" val="75906716"/>
                    </a:ext>
                  </a:extLst>
                </a:gridCol>
                <a:gridCol w="1905918">
                  <a:extLst>
                    <a:ext uri="{9D8B030D-6E8A-4147-A177-3AD203B41FA5}">
                      <a16:colId xmlns:a16="http://schemas.microsoft.com/office/drawing/2014/main" val="359970441"/>
                    </a:ext>
                  </a:extLst>
                </a:gridCol>
              </a:tblGrid>
              <a:tr h="760165">
                <a:tc>
                  <a:txBody>
                    <a:bodyPr/>
                    <a:lstStyle/>
                    <a:p>
                      <a:pPr algn="ctr"/>
                      <a:r>
                        <a:rPr lang="en-US" sz="1400" b="0" i="0" dirty="0">
                          <a:latin typeface="Helvetica" pitchFamily="2" charset="0"/>
                        </a:rPr>
                        <a:t>S. No.</a:t>
                      </a:r>
                    </a:p>
                  </a:txBody>
                  <a:tcPr>
                    <a:solidFill>
                      <a:schemeClr val="accent6">
                        <a:lumMod val="50000"/>
                      </a:schemeClr>
                    </a:solidFill>
                  </a:tcPr>
                </a:tc>
                <a:tc>
                  <a:txBody>
                    <a:bodyPr/>
                    <a:lstStyle/>
                    <a:p>
                      <a:pPr algn="ctr"/>
                      <a:r>
                        <a:rPr lang="en-US" sz="1400" b="0" i="0" dirty="0">
                          <a:latin typeface="Helvetica" pitchFamily="2" charset="0"/>
                        </a:rPr>
                        <a:t>Author &amp; </a:t>
                      </a:r>
                    </a:p>
                    <a:p>
                      <a:pPr algn="ctr"/>
                      <a:r>
                        <a:rPr lang="en-US" sz="1400" b="0" i="0" dirty="0">
                          <a:latin typeface="Helvetica" pitchFamily="2" charset="0"/>
                        </a:rPr>
                        <a:t>Paper Title </a:t>
                      </a:r>
                      <a:br>
                        <a:rPr lang="en-US" sz="1400" b="0" i="0" dirty="0">
                          <a:latin typeface="Helvetica" pitchFamily="2" charset="0"/>
                        </a:rPr>
                      </a:br>
                      <a:r>
                        <a:rPr lang="en-US" sz="1400" b="0" i="0" dirty="0">
                          <a:latin typeface="Helvetica" pitchFamily="2" charset="0"/>
                        </a:rPr>
                        <a:t>[Citation]</a:t>
                      </a:r>
                    </a:p>
                  </a:txBody>
                  <a:tcPr>
                    <a:solidFill>
                      <a:schemeClr val="accent6">
                        <a:lumMod val="50000"/>
                      </a:schemeClr>
                    </a:solidFill>
                  </a:tcPr>
                </a:tc>
                <a:tc>
                  <a:txBody>
                    <a:bodyPr/>
                    <a:lstStyle/>
                    <a:p>
                      <a:pPr algn="ctr"/>
                      <a:r>
                        <a:rPr lang="en-US" sz="1400" b="0" i="0" dirty="0">
                          <a:latin typeface="Helvetica" pitchFamily="2" charset="0"/>
                        </a:rPr>
                        <a:t>Journal/</a:t>
                      </a:r>
                    </a:p>
                    <a:p>
                      <a:pPr algn="ctr"/>
                      <a:r>
                        <a:rPr lang="en-US" sz="1400" b="0" i="0" dirty="0">
                          <a:latin typeface="Helvetica" pitchFamily="2" charset="0"/>
                        </a:rPr>
                        <a:t>Conference</a:t>
                      </a:r>
                      <a:br>
                        <a:rPr lang="en-US" sz="1400" b="0" i="0" dirty="0">
                          <a:latin typeface="Helvetica" pitchFamily="2" charset="0"/>
                        </a:rPr>
                      </a:br>
                      <a:r>
                        <a:rPr lang="en-US" sz="1400" b="0" i="0" dirty="0">
                          <a:latin typeface="Helvetica" pitchFamily="2" charset="0"/>
                        </a:rPr>
                        <a:t>(Year)</a:t>
                      </a:r>
                    </a:p>
                  </a:txBody>
                  <a:tcPr>
                    <a:solidFill>
                      <a:schemeClr val="accent6">
                        <a:lumMod val="50000"/>
                      </a:schemeClr>
                    </a:solidFill>
                  </a:tcPr>
                </a:tc>
                <a:tc>
                  <a:txBody>
                    <a:bodyPr/>
                    <a:lstStyle/>
                    <a:p>
                      <a:pPr algn="ctr"/>
                      <a:r>
                        <a:rPr lang="en-US" sz="1400" b="0" i="0" dirty="0">
                          <a:latin typeface="Helvetica" pitchFamily="2" charset="0"/>
                        </a:rPr>
                        <a:t>Tools/</a:t>
                      </a:r>
                    </a:p>
                    <a:p>
                      <a:pPr algn="ctr"/>
                      <a:r>
                        <a:rPr lang="en-US" sz="1400" b="0" i="0" dirty="0">
                          <a:latin typeface="Helvetica" pitchFamily="2" charset="0"/>
                        </a:rPr>
                        <a:t>Techniques/</a:t>
                      </a:r>
                    </a:p>
                    <a:p>
                      <a:pPr algn="ctr"/>
                      <a:r>
                        <a:rPr lang="en-US" sz="1400" b="0" i="0" dirty="0">
                          <a:latin typeface="Helvetica" pitchFamily="2" charset="0"/>
                        </a:rPr>
                        <a:t>Dataset</a:t>
                      </a:r>
                    </a:p>
                  </a:txBody>
                  <a:tcPr>
                    <a:solidFill>
                      <a:schemeClr val="accent6">
                        <a:lumMod val="50000"/>
                      </a:schemeClr>
                    </a:solidFill>
                  </a:tcPr>
                </a:tc>
                <a:tc>
                  <a:txBody>
                    <a:bodyPr/>
                    <a:lstStyle/>
                    <a:p>
                      <a:pPr algn="ctr"/>
                      <a:r>
                        <a:rPr lang="en-US" sz="1400" b="0" i="0" dirty="0">
                          <a:latin typeface="Helvetica" pitchFamily="2" charset="0"/>
                        </a:rPr>
                        <a:t>Key Findings/</a:t>
                      </a:r>
                    </a:p>
                    <a:p>
                      <a:pPr algn="ctr"/>
                      <a:r>
                        <a:rPr lang="en-US" sz="1400" b="0" i="0" dirty="0">
                          <a:latin typeface="Helvetica" pitchFamily="2" charset="0"/>
                        </a:rPr>
                        <a:t>Results</a:t>
                      </a:r>
                    </a:p>
                  </a:txBody>
                  <a:tcPr>
                    <a:solidFill>
                      <a:schemeClr val="accent6">
                        <a:lumMod val="50000"/>
                      </a:schemeClr>
                    </a:solidFill>
                  </a:tcPr>
                </a:tc>
                <a:tc>
                  <a:txBody>
                    <a:bodyPr/>
                    <a:lstStyle/>
                    <a:p>
                      <a:pPr algn="ctr"/>
                      <a:r>
                        <a:rPr lang="en-US" sz="1400" b="0" i="0" dirty="0">
                          <a:latin typeface="Helvetica" pitchFamily="2" charset="0"/>
                        </a:rPr>
                        <a:t>Limitations/</a:t>
                      </a:r>
                    </a:p>
                    <a:p>
                      <a:pPr algn="ctr"/>
                      <a:r>
                        <a:rPr lang="en-US" sz="1400" b="0" i="0" dirty="0">
                          <a:latin typeface="Helvetica" pitchFamily="2" charset="0"/>
                        </a:rPr>
                        <a:t>Gaps Identified</a:t>
                      </a:r>
                    </a:p>
                  </a:txBody>
                  <a:tcPr>
                    <a:solidFill>
                      <a:schemeClr val="accent6">
                        <a:lumMod val="50000"/>
                      </a:schemeClr>
                    </a:solidFill>
                  </a:tcPr>
                </a:tc>
                <a:extLst>
                  <a:ext uri="{0D108BD9-81ED-4DB2-BD59-A6C34878D82A}">
                    <a16:rowId xmlns:a16="http://schemas.microsoft.com/office/drawing/2014/main" val="2495431070"/>
                  </a:ext>
                </a:extLst>
              </a:tr>
              <a:tr h="1203634">
                <a:tc>
                  <a:txBody>
                    <a:bodyPr/>
                    <a:lstStyle/>
                    <a:p>
                      <a:pPr algn="ctr"/>
                      <a:r>
                        <a:rPr lang="en-US" sz="1200" b="0" i="0" dirty="0">
                          <a:latin typeface="Helvetica" pitchFamily="2" charset="0"/>
                        </a:rPr>
                        <a:t>9.</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C.-M. Rosca</a:t>
                      </a:r>
                      <a:r>
                        <a:rPr lang="en-US" sz="1200" b="0" i="0" baseline="0" dirty="0">
                          <a:latin typeface="+mn-lt"/>
                        </a:rPr>
                        <a:t> et al.</a:t>
                      </a:r>
                      <a:r>
                        <a:rPr lang="en-IN" sz="1200" b="0" dirty="0">
                          <a:latin typeface="+mn-lt"/>
                        </a:rPr>
                        <a:t> —</a:t>
                      </a:r>
                      <a:r>
                        <a:rPr lang="en-US" sz="1200" b="0" i="0" baseline="0" dirty="0">
                          <a:latin typeface="+mn-lt"/>
                        </a:rPr>
                        <a:t> </a:t>
                      </a:r>
                      <a:r>
                        <a:rPr lang="en-US" sz="1200" b="0" i="0" dirty="0">
                          <a:latin typeface="+mn-lt"/>
                        </a:rPr>
                        <a:t> “</a:t>
                      </a:r>
                      <a:r>
                        <a:rPr lang="en-US" sz="1200" b="0" i="1" dirty="0">
                          <a:latin typeface="+mn-lt"/>
                        </a:rPr>
                        <a:t>The New Paradigm of Deepfake Detection at the Text Level</a:t>
                      </a:r>
                      <a:r>
                        <a:rPr lang="en-US" sz="1200" b="0" i="0" dirty="0">
                          <a:latin typeface="+mn-lt"/>
                        </a:rPr>
                        <a:t>” [9]</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Appl. Sci., vol. 15, art. 2560, Feb. 27, 2025.</a:t>
                      </a:r>
                    </a:p>
                    <a:p>
                      <a:endParaRPr lang="en-US" sz="1200" b="0" i="0" dirty="0">
                        <a:latin typeface="Helvetica" pitchFamily="2" charset="0"/>
                      </a:endParaRPr>
                    </a:p>
                  </a:txBody>
                  <a:tcPr>
                    <a:solidFill>
                      <a:schemeClr val="accent6">
                        <a:lumMod val="60000"/>
                        <a:lumOff val="40000"/>
                      </a:schemeClr>
                    </a:solidFill>
                  </a:tcPr>
                </a:tc>
                <a:tc>
                  <a:txBody>
                    <a:bodyPr/>
                    <a:lstStyle/>
                    <a:p>
                      <a:r>
                        <a:rPr lang="en-US" sz="1200" dirty="0"/>
                        <a:t>Custom anomaly models (</a:t>
                      </a:r>
                      <a:r>
                        <a:rPr lang="en-US" sz="1200" dirty="0" err="1"/>
                        <a:t>LightGBM</a:t>
                      </a:r>
                      <a:r>
                        <a:rPr lang="en-US" sz="1200" dirty="0"/>
                        <a:t>, </a:t>
                      </a:r>
                      <a:r>
                        <a:rPr lang="en-US" sz="1200" dirty="0" err="1"/>
                        <a:t>FastTree</a:t>
                      </a:r>
                      <a:r>
                        <a:rPr lang="en-US" sz="1200" dirty="0"/>
                        <a:t>) on 1300 AI vs human samples.</a:t>
                      </a:r>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98% accuracy in AI-text &amp;</a:t>
                      </a:r>
                      <a:r>
                        <a:rPr lang="en-US" sz="1200" b="0" baseline="0" dirty="0"/>
                        <a:t> </a:t>
                      </a:r>
                      <a:r>
                        <a:rPr lang="en-US" sz="1200" b="0" dirty="0"/>
                        <a:t>author anomaly detection.</a:t>
                      </a: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Small dataset; limited topics/languages; may weaken as LLMs evolve.</a:t>
                      </a:r>
                      <a:endParaRPr lang="en-US" sz="1200" b="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440570599"/>
                  </a:ext>
                </a:extLst>
              </a:tr>
              <a:tr h="1203634">
                <a:tc>
                  <a:txBody>
                    <a:bodyPr/>
                    <a:lstStyle/>
                    <a:p>
                      <a:pPr algn="ctr"/>
                      <a:r>
                        <a:rPr lang="en-US" sz="1200" b="0" i="0" dirty="0">
                          <a:latin typeface="Helvetica" pitchFamily="2" charset="0"/>
                        </a:rPr>
                        <a:t>10.</a:t>
                      </a:r>
                    </a:p>
                  </a:txBody>
                  <a:tcPr>
                    <a:solidFill>
                      <a:schemeClr val="accent6">
                        <a:lumMod val="20000"/>
                        <a:lumOff val="80000"/>
                      </a:schemeClr>
                    </a:solidFill>
                  </a:tcPr>
                </a:tc>
                <a:tc>
                  <a:txBody>
                    <a:bodyPr/>
                    <a:lstStyle/>
                    <a:p>
                      <a:r>
                        <a:rPr lang="en-US" sz="1200" dirty="0"/>
                        <a:t>A. Heidari et al. — “Deepfake detection using deep learning review” [10]</a:t>
                      </a:r>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WIREs Data Mining and Knowledge Discovery, vol. 14, no. 2, Feb. 2024.</a:t>
                      </a:r>
                    </a:p>
                    <a:p>
                      <a:endParaRPr lang="en-US" sz="1200" b="0" i="0" dirty="0">
                        <a:latin typeface="Helvetica" pitchFamily="2" charset="0"/>
                      </a:endParaRPr>
                    </a:p>
                  </a:txBody>
                  <a:tcPr>
                    <a:solidFill>
                      <a:schemeClr val="accent6">
                        <a:lumMod val="20000"/>
                        <a:lumOff val="80000"/>
                      </a:schemeClr>
                    </a:solidFill>
                  </a:tcPr>
                </a:tc>
                <a:tc>
                  <a:txBody>
                    <a:bodyPr/>
                    <a:lstStyle/>
                    <a:p>
                      <a:r>
                        <a:rPr lang="en-IN" sz="1200" dirty="0"/>
                        <a:t>CNN (features), LSTM (temporal seq.); </a:t>
                      </a:r>
                      <a:r>
                        <a:rPr lang="en-IN" sz="1200" dirty="0" err="1"/>
                        <a:t>FaceForensics</a:t>
                      </a:r>
                      <a:r>
                        <a:rPr lang="en-IN" sz="1200" dirty="0"/>
                        <a:t>++ &amp; custom video dataset.</a:t>
                      </a:r>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CNN-LSTM achieves higher accuracy by combining spatial &amp; temporal artifacts.</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mn-lt"/>
                        </a:rPr>
                        <a:t>Limited dataset diversity; performance may drop on unseen or highly sophisticated deepfakes.</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1203634">
                <a:tc>
                  <a:txBody>
                    <a:bodyPr/>
                    <a:lstStyle/>
                    <a:p>
                      <a:pPr algn="ctr"/>
                      <a:r>
                        <a:rPr lang="en-US" sz="1200" b="0" i="0" dirty="0">
                          <a:latin typeface="Helvetica" pitchFamily="2" charset="0"/>
                        </a:rPr>
                        <a:t>11.</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N. Shakya and P. Poudyal</a:t>
                      </a:r>
                      <a:r>
                        <a:rPr lang="en-IN" sz="1200" b="0" dirty="0">
                          <a:latin typeface="+mn-lt"/>
                        </a:rPr>
                        <a:t> —</a:t>
                      </a:r>
                      <a:r>
                        <a:rPr lang="en-US" sz="1200" b="0" i="0" baseline="0" dirty="0">
                          <a:latin typeface="+mn-lt"/>
                        </a:rPr>
                        <a:t> </a:t>
                      </a:r>
                      <a:r>
                        <a:rPr lang="en-US" sz="1200" b="0" i="0" dirty="0">
                          <a:latin typeface="+mn-lt"/>
                        </a:rPr>
                        <a:t>"</a:t>
                      </a:r>
                      <a:r>
                        <a:rPr lang="en-US" sz="1200" b="0" i="1" dirty="0">
                          <a:latin typeface="+mn-lt"/>
                        </a:rPr>
                        <a:t>Detection of Fake News Using Deep Neural Networks</a:t>
                      </a:r>
                      <a:r>
                        <a:rPr lang="en-US" sz="1200" b="0" i="0" dirty="0">
                          <a:latin typeface="+mn-lt"/>
                        </a:rPr>
                        <a:t>"  [11]</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t>Kathmandu Univ. J. Sci. Eng. Tech., vol. 16, no. 2, 2022.</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r>
                        <a:rPr lang="en-US" sz="1200" b="0" i="0" dirty="0">
                          <a:latin typeface="Helvetica" pitchFamily="2" charset="0"/>
                        </a:rPr>
                        <a:t>LSTM, BERT, Hybrid (</a:t>
                      </a:r>
                      <a:r>
                        <a:rPr lang="en-US" sz="1200" b="0" i="0" dirty="0" err="1">
                          <a:latin typeface="Helvetica" pitchFamily="2" charset="0"/>
                        </a:rPr>
                        <a:t>BERT+LSTM+Attention</a:t>
                      </a:r>
                      <a:r>
                        <a:rPr lang="en-US" sz="1200" b="0" i="0" dirty="0">
                          <a:latin typeface="Helvetica" pitchFamily="2" charset="0"/>
                        </a:rPr>
                        <a:t>); SBFN dataset (2010 records).</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BERT (content-only: F1=89.5%); Hybrid best with </a:t>
                      </a:r>
                      <a:r>
                        <a:rPr lang="en-US" sz="1200" b="0" dirty="0" err="1"/>
                        <a:t>content+source</a:t>
                      </a:r>
                      <a:r>
                        <a:rPr lang="en-US" sz="1200" b="0" dirty="0"/>
                        <a:t> (F1=99.3%).</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Only 2,010 entries; text-only (no images/videos); limited scope.</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646395450"/>
                  </a:ext>
                </a:extLst>
              </a:tr>
              <a:tr h="1203634">
                <a:tc>
                  <a:txBody>
                    <a:bodyPr/>
                    <a:lstStyle/>
                    <a:p>
                      <a:pPr algn="ctr"/>
                      <a:r>
                        <a:rPr lang="en-US" sz="1200" b="0" i="0" dirty="0">
                          <a:latin typeface="Helvetica" pitchFamily="2" charset="0"/>
                        </a:rPr>
                        <a:t>12.</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mn-lt"/>
                        </a:rPr>
                        <a:t>R. </a:t>
                      </a:r>
                      <a:r>
                        <a:rPr lang="en-US" sz="1200" b="0" i="0" dirty="0" err="1">
                          <a:latin typeface="+mn-lt"/>
                        </a:rPr>
                        <a:t>Tolosana</a:t>
                      </a:r>
                      <a:r>
                        <a:rPr lang="en-US" sz="1200" b="0" i="0" baseline="0" dirty="0">
                          <a:latin typeface="+mn-lt"/>
                        </a:rPr>
                        <a:t> et al.</a:t>
                      </a:r>
                      <a:r>
                        <a:rPr lang="en-IN" sz="1200" b="0" dirty="0">
                          <a:latin typeface="+mn-lt"/>
                        </a:rPr>
                        <a:t> —</a:t>
                      </a:r>
                      <a:r>
                        <a:rPr lang="en-US" sz="1200" b="0" i="0" baseline="0" dirty="0">
                          <a:latin typeface="+mn-lt"/>
                        </a:rPr>
                        <a:t> </a:t>
                      </a:r>
                      <a:r>
                        <a:rPr lang="en-US" sz="1200" b="0" i="0" dirty="0">
                          <a:latin typeface="+mn-lt"/>
                        </a:rPr>
                        <a:t> "</a:t>
                      </a:r>
                      <a:r>
                        <a:rPr lang="en-US" sz="1200" b="0" i="1" dirty="0" err="1">
                          <a:latin typeface="+mn-lt"/>
                        </a:rPr>
                        <a:t>DeepFakes</a:t>
                      </a:r>
                      <a:r>
                        <a:rPr lang="en-US" sz="1200" b="0" i="1" dirty="0">
                          <a:latin typeface="+mn-lt"/>
                        </a:rPr>
                        <a:t> and Beyond: A Survey of Face Manipulation and Fake Detection</a:t>
                      </a:r>
                      <a:r>
                        <a:rPr lang="en-US" sz="1200" b="0" i="0" dirty="0">
                          <a:latin typeface="+mn-lt"/>
                        </a:rPr>
                        <a:t>“ [12]</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i="0" dirty="0">
                          <a:latin typeface="+mn-lt"/>
                        </a:rPr>
                        <a:t>Information Fusion (Elsevier), 2020.</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Review of face manipulation &amp; datasets (</a:t>
                      </a:r>
                      <a:r>
                        <a:rPr lang="en-US" sz="1200" b="0" dirty="0" err="1"/>
                        <a:t>FaceForensics</a:t>
                      </a:r>
                      <a:r>
                        <a:rPr lang="en-US" sz="1200" b="0" dirty="0"/>
                        <a:t>++, </a:t>
                      </a:r>
                      <a:r>
                        <a:rPr lang="en-US" sz="1200" b="0" dirty="0" err="1"/>
                        <a:t>DeepFakeTIMIT</a:t>
                      </a:r>
                      <a:r>
                        <a:rPr lang="en-US" sz="1200" b="0" dirty="0"/>
                        <a:t>)</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Taxonomy of deepfake types (identity swap, expression swap, attribute manipulation) and summary of detection approaches.</a:t>
                      </a:r>
                      <a:endParaRPr lang="en-US" sz="1200" b="0" i="0" dirty="0">
                        <a:latin typeface="+mn-lt"/>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Focused on face-based deepfakes; older datasets not matching current quality.</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108054300"/>
                  </a:ext>
                </a:extLst>
              </a:tr>
            </a:tbl>
          </a:graphicData>
        </a:graphic>
      </p:graphicFrame>
    </p:spTree>
    <p:extLst>
      <p:ext uri="{BB962C8B-B14F-4D97-AF65-F5344CB8AC3E}">
        <p14:creationId xmlns:p14="http://schemas.microsoft.com/office/powerpoint/2010/main" val="65407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FB29-338F-2CC5-CB7B-CE349253F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49604-CF58-49D5-2EBA-435665550701}"/>
              </a:ext>
            </a:extLst>
          </p:cNvPr>
          <p:cNvSpPr>
            <a:spLocks noGrp="1"/>
          </p:cNvSpPr>
          <p:nvPr>
            <p:ph type="title"/>
          </p:nvPr>
        </p:nvSpPr>
        <p:spPr/>
        <p:txBody>
          <a:bodyPr/>
          <a:lstStyle/>
          <a:p>
            <a:r>
              <a:rPr lang="en-IN" sz="2400" dirty="0">
                <a:ea typeface="Palatino" pitchFamily="2" charset="77"/>
              </a:rPr>
              <a:t>Literature Review (</a:t>
            </a:r>
            <a:r>
              <a:rPr lang="en-IN" sz="2400" dirty="0" err="1">
                <a:ea typeface="Palatino" pitchFamily="2" charset="77"/>
              </a:rPr>
              <a:t>cont</a:t>
            </a:r>
            <a:r>
              <a:rPr lang="en-IN" sz="2400" dirty="0">
                <a:ea typeface="Palatino" pitchFamily="2" charset="77"/>
              </a:rPr>
              <a:t>…)</a:t>
            </a:r>
            <a:endParaRPr lang="en-US" b="0" dirty="0"/>
          </a:p>
        </p:txBody>
      </p:sp>
      <p:sp>
        <p:nvSpPr>
          <p:cNvPr id="4" name="Content Placeholder 2">
            <a:extLst>
              <a:ext uri="{FF2B5EF4-FFF2-40B4-BE49-F238E27FC236}">
                <a16:creationId xmlns:a16="http://schemas.microsoft.com/office/drawing/2014/main" id="{CF17523C-8990-B920-ED90-F4134EBEE7A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1E4C4205-89F0-ED73-BA31-71FDF2EC3DB2}"/>
              </a:ext>
            </a:extLst>
          </p:cNvPr>
          <p:cNvGraphicFramePr>
            <a:graphicFrameLocks noGrp="1"/>
          </p:cNvGraphicFramePr>
          <p:nvPr>
            <p:extLst>
              <p:ext uri="{D42A27DB-BD31-4B8C-83A1-F6EECF244321}">
                <p14:modId xmlns:p14="http://schemas.microsoft.com/office/powerpoint/2010/main" val="3559135333"/>
              </p:ext>
            </p:extLst>
          </p:nvPr>
        </p:nvGraphicFramePr>
        <p:xfrm>
          <a:off x="110168" y="881348"/>
          <a:ext cx="8923663" cy="5574701"/>
        </p:xfrm>
        <a:graphic>
          <a:graphicData uri="http://schemas.openxmlformats.org/drawingml/2006/table">
            <a:tbl>
              <a:tblPr firstRow="1" bandRow="1">
                <a:tableStyleId>{00A15C55-8517-42AA-B614-E9B94910E393}</a:tableStyleId>
              </a:tblPr>
              <a:tblGrid>
                <a:gridCol w="542256">
                  <a:extLst>
                    <a:ext uri="{9D8B030D-6E8A-4147-A177-3AD203B41FA5}">
                      <a16:colId xmlns:a16="http://schemas.microsoft.com/office/drawing/2014/main" val="1580173846"/>
                    </a:ext>
                  </a:extLst>
                </a:gridCol>
                <a:gridCol w="1760270">
                  <a:extLst>
                    <a:ext uri="{9D8B030D-6E8A-4147-A177-3AD203B41FA5}">
                      <a16:colId xmlns:a16="http://schemas.microsoft.com/office/drawing/2014/main" val="1787721097"/>
                    </a:ext>
                  </a:extLst>
                </a:gridCol>
                <a:gridCol w="1465243">
                  <a:extLst>
                    <a:ext uri="{9D8B030D-6E8A-4147-A177-3AD203B41FA5}">
                      <a16:colId xmlns:a16="http://schemas.microsoft.com/office/drawing/2014/main" val="1940941142"/>
                    </a:ext>
                  </a:extLst>
                </a:gridCol>
                <a:gridCol w="1421176">
                  <a:extLst>
                    <a:ext uri="{9D8B030D-6E8A-4147-A177-3AD203B41FA5}">
                      <a16:colId xmlns:a16="http://schemas.microsoft.com/office/drawing/2014/main" val="1753147821"/>
                    </a:ext>
                  </a:extLst>
                </a:gridCol>
                <a:gridCol w="1828800">
                  <a:extLst>
                    <a:ext uri="{9D8B030D-6E8A-4147-A177-3AD203B41FA5}">
                      <a16:colId xmlns:a16="http://schemas.microsoft.com/office/drawing/2014/main" val="75906716"/>
                    </a:ext>
                  </a:extLst>
                </a:gridCol>
                <a:gridCol w="1905918">
                  <a:extLst>
                    <a:ext uri="{9D8B030D-6E8A-4147-A177-3AD203B41FA5}">
                      <a16:colId xmlns:a16="http://schemas.microsoft.com/office/drawing/2014/main" val="359970441"/>
                    </a:ext>
                  </a:extLst>
                </a:gridCol>
              </a:tblGrid>
              <a:tr h="760165">
                <a:tc>
                  <a:txBody>
                    <a:bodyPr/>
                    <a:lstStyle/>
                    <a:p>
                      <a:pPr algn="ctr"/>
                      <a:r>
                        <a:rPr lang="en-US" sz="1400" b="0" i="0" dirty="0">
                          <a:latin typeface="Helvetica" pitchFamily="2" charset="0"/>
                        </a:rPr>
                        <a:t>S. No.</a:t>
                      </a:r>
                    </a:p>
                  </a:txBody>
                  <a:tcPr>
                    <a:solidFill>
                      <a:schemeClr val="accent6">
                        <a:lumMod val="50000"/>
                      </a:schemeClr>
                    </a:solidFill>
                  </a:tcPr>
                </a:tc>
                <a:tc>
                  <a:txBody>
                    <a:bodyPr/>
                    <a:lstStyle/>
                    <a:p>
                      <a:pPr algn="ctr"/>
                      <a:r>
                        <a:rPr lang="en-US" sz="1400" b="0" i="0" dirty="0">
                          <a:latin typeface="Helvetica" pitchFamily="2" charset="0"/>
                        </a:rPr>
                        <a:t>Author &amp; </a:t>
                      </a:r>
                    </a:p>
                    <a:p>
                      <a:pPr algn="ctr"/>
                      <a:r>
                        <a:rPr lang="en-US" sz="1400" b="0" i="0" dirty="0">
                          <a:latin typeface="Helvetica" pitchFamily="2" charset="0"/>
                        </a:rPr>
                        <a:t>Paper Title </a:t>
                      </a:r>
                      <a:br>
                        <a:rPr lang="en-US" sz="1400" b="0" i="0" dirty="0">
                          <a:latin typeface="Helvetica" pitchFamily="2" charset="0"/>
                        </a:rPr>
                      </a:br>
                      <a:r>
                        <a:rPr lang="en-US" sz="1400" b="0" i="0" dirty="0">
                          <a:latin typeface="Helvetica" pitchFamily="2" charset="0"/>
                        </a:rPr>
                        <a:t>[Citation]</a:t>
                      </a:r>
                    </a:p>
                  </a:txBody>
                  <a:tcPr>
                    <a:solidFill>
                      <a:schemeClr val="accent6">
                        <a:lumMod val="50000"/>
                      </a:schemeClr>
                    </a:solidFill>
                  </a:tcPr>
                </a:tc>
                <a:tc>
                  <a:txBody>
                    <a:bodyPr/>
                    <a:lstStyle/>
                    <a:p>
                      <a:pPr algn="ctr"/>
                      <a:r>
                        <a:rPr lang="en-US" sz="1400" b="0" i="0" dirty="0">
                          <a:latin typeface="Helvetica" pitchFamily="2" charset="0"/>
                        </a:rPr>
                        <a:t>Journal/</a:t>
                      </a:r>
                    </a:p>
                    <a:p>
                      <a:pPr algn="ctr"/>
                      <a:r>
                        <a:rPr lang="en-US" sz="1400" b="0" i="0" dirty="0">
                          <a:latin typeface="Helvetica" pitchFamily="2" charset="0"/>
                        </a:rPr>
                        <a:t>Conference</a:t>
                      </a:r>
                      <a:br>
                        <a:rPr lang="en-US" sz="1400" b="0" i="0" dirty="0">
                          <a:latin typeface="Helvetica" pitchFamily="2" charset="0"/>
                        </a:rPr>
                      </a:br>
                      <a:r>
                        <a:rPr lang="en-US" sz="1400" b="0" i="0" dirty="0">
                          <a:latin typeface="Helvetica" pitchFamily="2" charset="0"/>
                        </a:rPr>
                        <a:t>(Year)</a:t>
                      </a:r>
                    </a:p>
                  </a:txBody>
                  <a:tcPr>
                    <a:solidFill>
                      <a:schemeClr val="accent6">
                        <a:lumMod val="50000"/>
                      </a:schemeClr>
                    </a:solidFill>
                  </a:tcPr>
                </a:tc>
                <a:tc>
                  <a:txBody>
                    <a:bodyPr/>
                    <a:lstStyle/>
                    <a:p>
                      <a:pPr algn="ctr"/>
                      <a:r>
                        <a:rPr lang="en-US" sz="1400" b="0" i="0" dirty="0">
                          <a:latin typeface="Helvetica" pitchFamily="2" charset="0"/>
                        </a:rPr>
                        <a:t>Tools/</a:t>
                      </a:r>
                    </a:p>
                    <a:p>
                      <a:pPr algn="ctr"/>
                      <a:r>
                        <a:rPr lang="en-US" sz="1400" b="0" i="0" dirty="0">
                          <a:latin typeface="Helvetica" pitchFamily="2" charset="0"/>
                        </a:rPr>
                        <a:t>Techniques/</a:t>
                      </a:r>
                    </a:p>
                    <a:p>
                      <a:pPr algn="ctr"/>
                      <a:r>
                        <a:rPr lang="en-US" sz="1400" b="0" i="0" dirty="0">
                          <a:latin typeface="Helvetica" pitchFamily="2" charset="0"/>
                        </a:rPr>
                        <a:t>Dataset</a:t>
                      </a:r>
                    </a:p>
                  </a:txBody>
                  <a:tcPr>
                    <a:solidFill>
                      <a:schemeClr val="accent6">
                        <a:lumMod val="50000"/>
                      </a:schemeClr>
                    </a:solidFill>
                  </a:tcPr>
                </a:tc>
                <a:tc>
                  <a:txBody>
                    <a:bodyPr/>
                    <a:lstStyle/>
                    <a:p>
                      <a:pPr algn="ctr"/>
                      <a:r>
                        <a:rPr lang="en-US" sz="1400" b="0" i="0" dirty="0">
                          <a:latin typeface="Helvetica" pitchFamily="2" charset="0"/>
                        </a:rPr>
                        <a:t>Key Findings/</a:t>
                      </a:r>
                    </a:p>
                    <a:p>
                      <a:pPr algn="ctr"/>
                      <a:r>
                        <a:rPr lang="en-US" sz="1400" b="0" i="0" dirty="0">
                          <a:latin typeface="Helvetica" pitchFamily="2" charset="0"/>
                        </a:rPr>
                        <a:t>Results</a:t>
                      </a:r>
                    </a:p>
                  </a:txBody>
                  <a:tcPr>
                    <a:solidFill>
                      <a:schemeClr val="accent6">
                        <a:lumMod val="50000"/>
                      </a:schemeClr>
                    </a:solidFill>
                  </a:tcPr>
                </a:tc>
                <a:tc>
                  <a:txBody>
                    <a:bodyPr/>
                    <a:lstStyle/>
                    <a:p>
                      <a:pPr algn="ctr"/>
                      <a:r>
                        <a:rPr lang="en-US" sz="1400" b="0" i="0" dirty="0">
                          <a:latin typeface="Helvetica" pitchFamily="2" charset="0"/>
                        </a:rPr>
                        <a:t>Limitations/</a:t>
                      </a:r>
                    </a:p>
                    <a:p>
                      <a:pPr algn="ctr"/>
                      <a:r>
                        <a:rPr lang="en-US" sz="1400" b="0" i="0" dirty="0">
                          <a:latin typeface="Helvetica" pitchFamily="2" charset="0"/>
                        </a:rPr>
                        <a:t>Gaps Identified</a:t>
                      </a:r>
                    </a:p>
                  </a:txBody>
                  <a:tcPr>
                    <a:solidFill>
                      <a:schemeClr val="accent6">
                        <a:lumMod val="50000"/>
                      </a:schemeClr>
                    </a:solidFill>
                  </a:tcPr>
                </a:tc>
                <a:extLst>
                  <a:ext uri="{0D108BD9-81ED-4DB2-BD59-A6C34878D82A}">
                    <a16:rowId xmlns:a16="http://schemas.microsoft.com/office/drawing/2014/main" val="2495431070"/>
                  </a:ext>
                </a:extLst>
              </a:tr>
              <a:tr h="1203634">
                <a:tc>
                  <a:txBody>
                    <a:bodyPr/>
                    <a:lstStyle/>
                    <a:p>
                      <a:pPr algn="ctr"/>
                      <a:r>
                        <a:rPr lang="en-US" sz="1200" b="0" i="0" dirty="0">
                          <a:latin typeface="Helvetica" pitchFamily="2" charset="0"/>
                        </a:rPr>
                        <a:t>13.</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Helvetica" pitchFamily="2" charset="0"/>
                        </a:rPr>
                        <a:t>Z. He, et al.</a:t>
                      </a:r>
                      <a:r>
                        <a:rPr lang="en-IN" sz="1200" b="0" dirty="0">
                          <a:latin typeface="+mn-lt"/>
                        </a:rPr>
                        <a:t> —</a:t>
                      </a:r>
                      <a:r>
                        <a:rPr lang="en-US" sz="1200" b="0" i="0" baseline="0" dirty="0">
                          <a:latin typeface="+mn-lt"/>
                        </a:rPr>
                        <a:t> </a:t>
                      </a:r>
                      <a:r>
                        <a:rPr lang="en-US" sz="1200" b="0" i="0" dirty="0">
                          <a:latin typeface="Helvetica" pitchFamily="2" charset="0"/>
                        </a:rPr>
                        <a:t>"</a:t>
                      </a:r>
                      <a:r>
                        <a:rPr lang="en-US" sz="1200" b="0" i="1" dirty="0" err="1">
                          <a:latin typeface="Helvetica" pitchFamily="2" charset="0"/>
                        </a:rPr>
                        <a:t>GazeForensics</a:t>
                      </a:r>
                      <a:r>
                        <a:rPr lang="en-US" sz="1200" b="0" i="1" dirty="0">
                          <a:latin typeface="Helvetica" pitchFamily="2" charset="0"/>
                        </a:rPr>
                        <a:t>: </a:t>
                      </a:r>
                      <a:r>
                        <a:rPr lang="en-US" sz="1200" b="0" i="1" dirty="0" err="1">
                          <a:latin typeface="Helvetica" pitchFamily="2" charset="0"/>
                        </a:rPr>
                        <a:t>DeepFake</a:t>
                      </a:r>
                      <a:r>
                        <a:rPr lang="en-US" sz="1200" b="0" i="1" dirty="0">
                          <a:latin typeface="Helvetica" pitchFamily="2" charset="0"/>
                        </a:rPr>
                        <a:t> Detection via Gaze-guided Spatial Inconsistency Learning</a:t>
                      </a:r>
                      <a:r>
                        <a:rPr lang="en-US" sz="1200" b="0" i="0" dirty="0">
                          <a:latin typeface="Helvetica" pitchFamily="2" charset="0"/>
                        </a:rPr>
                        <a:t>“ [13]</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err="1">
                          <a:latin typeface="Helvetica" pitchFamily="2" charset="0"/>
                        </a:rPr>
                        <a:t>arXiv</a:t>
                      </a:r>
                      <a:r>
                        <a:rPr lang="en-US" sz="1200" b="0" i="0" dirty="0">
                          <a:latin typeface="Helvetica" pitchFamily="2" charset="0"/>
                        </a:rPr>
                        <a:t> preprint, 2023.</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CNN-based gaze estimation; </a:t>
                      </a:r>
                      <a:r>
                        <a:rPr lang="en-US" sz="1200" dirty="0" err="1"/>
                        <a:t>FaceForensics</a:t>
                      </a:r>
                      <a:r>
                        <a:rPr lang="en-US" sz="1200" dirty="0"/>
                        <a:t>++, DFDC.</a:t>
                      </a:r>
                      <a:endParaRPr lang="en-US" sz="1200" b="0" i="0" dirty="0">
                        <a:latin typeface="Helvetica" pitchFamily="2" charset="0"/>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Eye-gaze cues outperform baseline CNNs.</a:t>
                      </a:r>
                      <a:endParaRPr lang="en-US" sz="1200" b="0" i="0" dirty="0">
                        <a:latin typeface="Helvetica" pitchFamily="2" charset="0"/>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Struggles on low-quality/compressed videos; dataset-specific.</a:t>
                      </a:r>
                      <a:endParaRPr lang="en-US" sz="1200" b="0" i="0" dirty="0">
                        <a:latin typeface="Helvetica" pitchFamily="2" charset="0"/>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440570599"/>
                  </a:ext>
                </a:extLst>
              </a:tr>
              <a:tr h="1203634">
                <a:tc>
                  <a:txBody>
                    <a:bodyPr/>
                    <a:lstStyle/>
                    <a:p>
                      <a:pPr algn="ctr"/>
                      <a:r>
                        <a:rPr lang="en-US" sz="1200" b="0" i="0" dirty="0">
                          <a:latin typeface="Helvetica" pitchFamily="2" charset="0"/>
                        </a:rPr>
                        <a:t>14.</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Helvetica" pitchFamily="2" charset="0"/>
                        </a:rPr>
                        <a:t>B. </a:t>
                      </a:r>
                      <a:r>
                        <a:rPr lang="en-US" sz="1200" b="0" i="0" dirty="0" err="1">
                          <a:latin typeface="Helvetica" pitchFamily="2" charset="0"/>
                        </a:rPr>
                        <a:t>Dolhansky</a:t>
                      </a:r>
                      <a:r>
                        <a:rPr lang="en-US" sz="1200" b="0" i="0" baseline="0" dirty="0">
                          <a:latin typeface="Helvetica" pitchFamily="2" charset="0"/>
                        </a:rPr>
                        <a:t> et al.</a:t>
                      </a:r>
                      <a:r>
                        <a:rPr lang="en-IN" sz="1200" b="0" dirty="0">
                          <a:latin typeface="+mn-lt"/>
                        </a:rPr>
                        <a:t> —</a:t>
                      </a:r>
                      <a:r>
                        <a:rPr lang="en-US" sz="1200" b="0" i="0" baseline="0" dirty="0">
                          <a:latin typeface="+mn-lt"/>
                        </a:rPr>
                        <a:t> </a:t>
                      </a:r>
                      <a:r>
                        <a:rPr lang="en-US" sz="1200" b="0" i="0" dirty="0">
                          <a:latin typeface="Helvetica" pitchFamily="2" charset="0"/>
                        </a:rPr>
                        <a:t>"</a:t>
                      </a:r>
                      <a:r>
                        <a:rPr lang="en-US" sz="1200" b="0" i="1" dirty="0">
                          <a:latin typeface="Helvetica" pitchFamily="2" charset="0"/>
                        </a:rPr>
                        <a:t>The </a:t>
                      </a:r>
                      <a:r>
                        <a:rPr lang="en-US" sz="1200" b="0" i="1" dirty="0" err="1">
                          <a:latin typeface="Helvetica" pitchFamily="2" charset="0"/>
                        </a:rPr>
                        <a:t>DeepFake</a:t>
                      </a:r>
                      <a:r>
                        <a:rPr lang="en-US" sz="1200" b="0" i="1" dirty="0">
                          <a:latin typeface="Helvetica" pitchFamily="2" charset="0"/>
                        </a:rPr>
                        <a:t> Detection Challenge (DFDC) Dataset</a:t>
                      </a:r>
                      <a:r>
                        <a:rPr lang="en-US" sz="1200" b="0" i="0" dirty="0">
                          <a:latin typeface="Helvetica" pitchFamily="2" charset="0"/>
                        </a:rPr>
                        <a:t>“ [14]</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err="1">
                          <a:latin typeface="Helvetica" pitchFamily="2" charset="0"/>
                        </a:rPr>
                        <a:t>arXiv</a:t>
                      </a:r>
                      <a:r>
                        <a:rPr lang="en-US" sz="1200" b="0" i="0" dirty="0">
                          <a:latin typeface="Helvetica" pitchFamily="2" charset="0"/>
                        </a:rPr>
                        <a:t> preprint arXiv:2006.07397, 2020.</a:t>
                      </a: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Large-scale dataset (Deepfake, GAN, non-learned); model benchmarks.</a:t>
                      </a:r>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Largest public dataset for training &amp; benchmarking detectors.</a:t>
                      </a:r>
                      <a:endParaRPr lang="en-US" sz="1200" b="0" i="0" dirty="0">
                        <a:latin typeface="Helvetica" pitchFamily="2" charset="0"/>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Models show poor generalization; high pub. data accuracy but weak on unseen “black-box”.</a:t>
                      </a:r>
                      <a:endParaRPr lang="en-US" sz="1200" b="0" i="0" dirty="0">
                        <a:latin typeface="Helvetica" pitchFamily="2" charset="0"/>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1203634">
                <a:tc>
                  <a:txBody>
                    <a:bodyPr/>
                    <a:lstStyle/>
                    <a:p>
                      <a:pPr algn="ctr"/>
                      <a:r>
                        <a:rPr lang="en-US" sz="1200" b="0" i="0" dirty="0">
                          <a:latin typeface="Helvetica" pitchFamily="2" charset="0"/>
                        </a:rPr>
                        <a:t>15.</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Helvetica" pitchFamily="2" charset="0"/>
                        </a:rPr>
                        <a:t>B. B. Gupta</a:t>
                      </a:r>
                      <a:r>
                        <a:rPr lang="en-US" sz="1200" b="0" i="0" baseline="0" dirty="0">
                          <a:latin typeface="Helvetica" pitchFamily="2" charset="0"/>
                        </a:rPr>
                        <a:t> et al.</a:t>
                      </a:r>
                      <a:r>
                        <a:rPr lang="en-IN" sz="1200" b="0" dirty="0">
                          <a:latin typeface="+mn-lt"/>
                        </a:rPr>
                        <a:t> —</a:t>
                      </a:r>
                      <a:r>
                        <a:rPr lang="en-US" sz="1200" b="0" i="0" baseline="0" dirty="0">
                          <a:latin typeface="+mn-lt"/>
                        </a:rPr>
                        <a:t> </a:t>
                      </a:r>
                      <a:r>
                        <a:rPr lang="en-US" sz="1200" b="0" i="0" dirty="0">
                          <a:latin typeface="Helvetica" pitchFamily="2" charset="0"/>
                        </a:rPr>
                        <a:t> "</a:t>
                      </a:r>
                      <a:r>
                        <a:rPr lang="en-US" sz="1200" b="0" i="1" dirty="0">
                          <a:latin typeface="Helvetica" pitchFamily="2" charset="0"/>
                        </a:rPr>
                        <a:t>Deep Fake: An Overview</a:t>
                      </a:r>
                      <a:r>
                        <a:rPr lang="en-US" sz="1200" b="0" i="0" dirty="0">
                          <a:latin typeface="Helvetica" pitchFamily="2" charset="0"/>
                        </a:rPr>
                        <a:t>“ [15]</a:t>
                      </a: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latin typeface="Helvetica" pitchFamily="2" charset="0"/>
                        </a:rPr>
                        <a:t>Smart and Innovative Trends in Engineering and Technology (SITET-2020), 2021.</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t>Elliptic Curve Cryptography (ECC), DNA-based encryption for secure IoT communication.</a:t>
                      </a:r>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Protocol improves IoT security against replay &amp; impersonation attacks.</a:t>
                      </a:r>
                      <a:endParaRPr lang="en-US" sz="1200" b="0" i="0" dirty="0">
                        <a:latin typeface="Helvetica" pitchFamily="2" charset="0"/>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Poor generalization to new deepfakes; limited datasets (esp. audio/multimodal); weak robustness.</a:t>
                      </a:r>
                      <a:endParaRPr lang="en-US" sz="1200" b="0" i="0" dirty="0">
                        <a:latin typeface="Helvetica" pitchFamily="2" charset="0"/>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646395450"/>
                  </a:ext>
                </a:extLst>
              </a:tr>
              <a:tr h="1203634">
                <a:tc>
                  <a:txBody>
                    <a:bodyPr/>
                    <a:lstStyle/>
                    <a:p>
                      <a:pPr algn="ctr"/>
                      <a:r>
                        <a:rPr lang="en-US" sz="1200" b="0" i="0" dirty="0">
                          <a:latin typeface="Helvetica" pitchFamily="2" charset="0"/>
                        </a:rPr>
                        <a:t>16.</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Mika Westerlund</a:t>
                      </a:r>
                      <a:r>
                        <a:rPr lang="en-IN" sz="1200" b="0" dirty="0">
                          <a:latin typeface="+mn-lt"/>
                        </a:rPr>
                        <a:t> —</a:t>
                      </a:r>
                      <a:r>
                        <a:rPr lang="en-US" sz="1200" b="0" i="0" baseline="0" dirty="0">
                          <a:latin typeface="+mn-lt"/>
                        </a:rPr>
                        <a:t> </a:t>
                      </a:r>
                      <a:r>
                        <a:rPr lang="en-US" sz="1200" b="0" dirty="0"/>
                        <a:t>“</a:t>
                      </a:r>
                      <a:r>
                        <a:rPr lang="en-US" sz="1200" b="0" i="1" dirty="0"/>
                        <a:t>The Emergence of Deepfake Technology: A Review”</a:t>
                      </a:r>
                      <a:r>
                        <a:rPr lang="en-US" sz="1200" b="0" dirty="0"/>
                        <a:t> [16]</a:t>
                      </a:r>
                      <a:endParaRPr lang="en-US" sz="1200" b="0" i="0" dirty="0">
                        <a:latin typeface="Helvetica" pitchFamily="2" charset="0"/>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t>Technology Innovation Management Review (2019).</a:t>
                      </a:r>
                      <a:endParaRPr lang="en-US" sz="1200" b="0" i="0" dirty="0">
                        <a:latin typeface="Helvetica" pitchFamily="2" charset="0"/>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Literature review of 84 online news articles.</a:t>
                      </a:r>
                      <a:endParaRPr lang="en-US" sz="1200" b="0" i="0" dirty="0">
                        <a:latin typeface="Helvetica" pitchFamily="2" charset="0"/>
                      </a:endParaRPr>
                    </a:p>
                  </a:txBody>
                  <a:tcPr>
                    <a:solidFill>
                      <a:schemeClr val="accent6">
                        <a:lumMod val="20000"/>
                        <a:lumOff val="80000"/>
                      </a:schemeClr>
                    </a:solidFill>
                  </a:tcPr>
                </a:tc>
                <a:tc>
                  <a:txBody>
                    <a:bodyPr/>
                    <a:lstStyle/>
                    <a:p>
                      <a:r>
                        <a:rPr lang="en-US" sz="1200" dirty="0"/>
                        <a:t>Deepfakes threaten society, business, and politics, and require laws plus detection tech to counter them.</a:t>
                      </a:r>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The author notes that at the time of publication, scholarly research on the topic was sparse.</a:t>
                      </a:r>
                      <a:endParaRPr lang="en-US" sz="1200" b="0" i="0" dirty="0">
                        <a:latin typeface="Helvetica" pitchFamily="2" charset="0"/>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108054300"/>
                  </a:ext>
                </a:extLst>
              </a:tr>
            </a:tbl>
          </a:graphicData>
        </a:graphic>
      </p:graphicFrame>
    </p:spTree>
    <p:extLst>
      <p:ext uri="{BB962C8B-B14F-4D97-AF65-F5344CB8AC3E}">
        <p14:creationId xmlns:p14="http://schemas.microsoft.com/office/powerpoint/2010/main" val="4093093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1AC5-F70F-BC11-CD23-238B648F4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B4527-B995-4090-178B-39BCD87C1733}"/>
              </a:ext>
            </a:extLst>
          </p:cNvPr>
          <p:cNvSpPr>
            <a:spLocks noGrp="1"/>
          </p:cNvSpPr>
          <p:nvPr>
            <p:ph type="title"/>
          </p:nvPr>
        </p:nvSpPr>
        <p:spPr/>
        <p:txBody>
          <a:bodyPr/>
          <a:lstStyle/>
          <a:p>
            <a:r>
              <a:rPr lang="en-IN" sz="2400" dirty="0">
                <a:ea typeface="Palatino" pitchFamily="2" charset="77"/>
              </a:rPr>
              <a:t>Literature Review (</a:t>
            </a:r>
            <a:r>
              <a:rPr lang="en-IN" sz="2400" dirty="0" err="1">
                <a:ea typeface="Palatino" pitchFamily="2" charset="77"/>
              </a:rPr>
              <a:t>cont</a:t>
            </a:r>
            <a:r>
              <a:rPr lang="en-IN" sz="2400" dirty="0">
                <a:ea typeface="Palatino" pitchFamily="2" charset="77"/>
              </a:rPr>
              <a:t>…)</a:t>
            </a:r>
            <a:endParaRPr lang="en-US" b="0" dirty="0"/>
          </a:p>
        </p:txBody>
      </p:sp>
      <p:sp>
        <p:nvSpPr>
          <p:cNvPr id="4" name="Content Placeholder 2">
            <a:extLst>
              <a:ext uri="{FF2B5EF4-FFF2-40B4-BE49-F238E27FC236}">
                <a16:creationId xmlns:a16="http://schemas.microsoft.com/office/drawing/2014/main" id="{E3307E8F-D0B3-507D-8095-564C9FAE91B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E1855C7B-99A4-2F3C-C4F1-D8CBA11D4BE5}"/>
              </a:ext>
            </a:extLst>
          </p:cNvPr>
          <p:cNvGraphicFramePr>
            <a:graphicFrameLocks noGrp="1"/>
          </p:cNvGraphicFramePr>
          <p:nvPr>
            <p:extLst>
              <p:ext uri="{D42A27DB-BD31-4B8C-83A1-F6EECF244321}">
                <p14:modId xmlns:p14="http://schemas.microsoft.com/office/powerpoint/2010/main" val="2777889988"/>
              </p:ext>
            </p:extLst>
          </p:nvPr>
        </p:nvGraphicFramePr>
        <p:xfrm>
          <a:off x="110168" y="881348"/>
          <a:ext cx="8923663" cy="5574701"/>
        </p:xfrm>
        <a:graphic>
          <a:graphicData uri="http://schemas.openxmlformats.org/drawingml/2006/table">
            <a:tbl>
              <a:tblPr firstRow="1" bandRow="1">
                <a:tableStyleId>{00A15C55-8517-42AA-B614-E9B94910E393}</a:tableStyleId>
              </a:tblPr>
              <a:tblGrid>
                <a:gridCol w="542256">
                  <a:extLst>
                    <a:ext uri="{9D8B030D-6E8A-4147-A177-3AD203B41FA5}">
                      <a16:colId xmlns:a16="http://schemas.microsoft.com/office/drawing/2014/main" val="1580173846"/>
                    </a:ext>
                  </a:extLst>
                </a:gridCol>
                <a:gridCol w="1760270">
                  <a:extLst>
                    <a:ext uri="{9D8B030D-6E8A-4147-A177-3AD203B41FA5}">
                      <a16:colId xmlns:a16="http://schemas.microsoft.com/office/drawing/2014/main" val="1787721097"/>
                    </a:ext>
                  </a:extLst>
                </a:gridCol>
                <a:gridCol w="1465243">
                  <a:extLst>
                    <a:ext uri="{9D8B030D-6E8A-4147-A177-3AD203B41FA5}">
                      <a16:colId xmlns:a16="http://schemas.microsoft.com/office/drawing/2014/main" val="1940941142"/>
                    </a:ext>
                  </a:extLst>
                </a:gridCol>
                <a:gridCol w="1421176">
                  <a:extLst>
                    <a:ext uri="{9D8B030D-6E8A-4147-A177-3AD203B41FA5}">
                      <a16:colId xmlns:a16="http://schemas.microsoft.com/office/drawing/2014/main" val="1753147821"/>
                    </a:ext>
                  </a:extLst>
                </a:gridCol>
                <a:gridCol w="1828800">
                  <a:extLst>
                    <a:ext uri="{9D8B030D-6E8A-4147-A177-3AD203B41FA5}">
                      <a16:colId xmlns:a16="http://schemas.microsoft.com/office/drawing/2014/main" val="75906716"/>
                    </a:ext>
                  </a:extLst>
                </a:gridCol>
                <a:gridCol w="1905918">
                  <a:extLst>
                    <a:ext uri="{9D8B030D-6E8A-4147-A177-3AD203B41FA5}">
                      <a16:colId xmlns:a16="http://schemas.microsoft.com/office/drawing/2014/main" val="359970441"/>
                    </a:ext>
                  </a:extLst>
                </a:gridCol>
              </a:tblGrid>
              <a:tr h="760165">
                <a:tc>
                  <a:txBody>
                    <a:bodyPr/>
                    <a:lstStyle/>
                    <a:p>
                      <a:pPr algn="ctr"/>
                      <a:r>
                        <a:rPr lang="en-US" sz="1400" b="0" i="0" dirty="0">
                          <a:latin typeface="Helvetica" pitchFamily="2" charset="0"/>
                        </a:rPr>
                        <a:t>S. No.</a:t>
                      </a:r>
                    </a:p>
                  </a:txBody>
                  <a:tcPr>
                    <a:solidFill>
                      <a:schemeClr val="accent6">
                        <a:lumMod val="50000"/>
                      </a:schemeClr>
                    </a:solidFill>
                  </a:tcPr>
                </a:tc>
                <a:tc>
                  <a:txBody>
                    <a:bodyPr/>
                    <a:lstStyle/>
                    <a:p>
                      <a:pPr algn="ctr"/>
                      <a:r>
                        <a:rPr lang="en-US" sz="1400" b="0" i="0" dirty="0">
                          <a:latin typeface="Helvetica" pitchFamily="2" charset="0"/>
                        </a:rPr>
                        <a:t>Author &amp; </a:t>
                      </a:r>
                    </a:p>
                    <a:p>
                      <a:pPr algn="ctr"/>
                      <a:r>
                        <a:rPr lang="en-US" sz="1400" b="0" i="0" dirty="0">
                          <a:latin typeface="Helvetica" pitchFamily="2" charset="0"/>
                        </a:rPr>
                        <a:t>Paper Title </a:t>
                      </a:r>
                      <a:br>
                        <a:rPr lang="en-US" sz="1400" b="0" i="0" dirty="0">
                          <a:latin typeface="Helvetica" pitchFamily="2" charset="0"/>
                        </a:rPr>
                      </a:br>
                      <a:r>
                        <a:rPr lang="en-US" sz="1400" b="0" i="0" dirty="0">
                          <a:latin typeface="Helvetica" pitchFamily="2" charset="0"/>
                        </a:rPr>
                        <a:t>[Citation]</a:t>
                      </a:r>
                    </a:p>
                  </a:txBody>
                  <a:tcPr>
                    <a:solidFill>
                      <a:schemeClr val="accent6">
                        <a:lumMod val="50000"/>
                      </a:schemeClr>
                    </a:solidFill>
                  </a:tcPr>
                </a:tc>
                <a:tc>
                  <a:txBody>
                    <a:bodyPr/>
                    <a:lstStyle/>
                    <a:p>
                      <a:pPr algn="ctr"/>
                      <a:r>
                        <a:rPr lang="en-US" sz="1400" b="0" i="0" dirty="0">
                          <a:latin typeface="Helvetica" pitchFamily="2" charset="0"/>
                        </a:rPr>
                        <a:t>Journal/</a:t>
                      </a:r>
                    </a:p>
                    <a:p>
                      <a:pPr algn="ctr"/>
                      <a:r>
                        <a:rPr lang="en-US" sz="1400" b="0" i="0" dirty="0">
                          <a:latin typeface="Helvetica" pitchFamily="2" charset="0"/>
                        </a:rPr>
                        <a:t>Conference</a:t>
                      </a:r>
                      <a:br>
                        <a:rPr lang="en-US" sz="1400" b="0" i="0" dirty="0">
                          <a:latin typeface="Helvetica" pitchFamily="2" charset="0"/>
                        </a:rPr>
                      </a:br>
                      <a:r>
                        <a:rPr lang="en-US" sz="1400" b="0" i="0" dirty="0">
                          <a:latin typeface="Helvetica" pitchFamily="2" charset="0"/>
                        </a:rPr>
                        <a:t>(Year)</a:t>
                      </a:r>
                    </a:p>
                  </a:txBody>
                  <a:tcPr>
                    <a:solidFill>
                      <a:schemeClr val="accent6">
                        <a:lumMod val="50000"/>
                      </a:schemeClr>
                    </a:solidFill>
                  </a:tcPr>
                </a:tc>
                <a:tc>
                  <a:txBody>
                    <a:bodyPr/>
                    <a:lstStyle/>
                    <a:p>
                      <a:pPr algn="ctr"/>
                      <a:r>
                        <a:rPr lang="en-US" sz="1400" b="0" i="0" dirty="0">
                          <a:latin typeface="Helvetica" pitchFamily="2" charset="0"/>
                        </a:rPr>
                        <a:t>Tools/</a:t>
                      </a:r>
                    </a:p>
                    <a:p>
                      <a:pPr algn="ctr"/>
                      <a:r>
                        <a:rPr lang="en-US" sz="1400" b="0" i="0" dirty="0">
                          <a:latin typeface="Helvetica" pitchFamily="2" charset="0"/>
                        </a:rPr>
                        <a:t>Techniques/</a:t>
                      </a:r>
                    </a:p>
                    <a:p>
                      <a:pPr algn="ctr"/>
                      <a:r>
                        <a:rPr lang="en-US" sz="1400" b="0" i="0" dirty="0">
                          <a:latin typeface="Helvetica" pitchFamily="2" charset="0"/>
                        </a:rPr>
                        <a:t>Dataset</a:t>
                      </a:r>
                    </a:p>
                  </a:txBody>
                  <a:tcPr>
                    <a:solidFill>
                      <a:schemeClr val="accent6">
                        <a:lumMod val="50000"/>
                      </a:schemeClr>
                    </a:solidFill>
                  </a:tcPr>
                </a:tc>
                <a:tc>
                  <a:txBody>
                    <a:bodyPr/>
                    <a:lstStyle/>
                    <a:p>
                      <a:pPr algn="ctr"/>
                      <a:r>
                        <a:rPr lang="en-US" sz="1400" b="0" i="0" dirty="0">
                          <a:latin typeface="Helvetica" pitchFamily="2" charset="0"/>
                        </a:rPr>
                        <a:t>Key Findings/</a:t>
                      </a:r>
                    </a:p>
                    <a:p>
                      <a:pPr algn="ctr"/>
                      <a:r>
                        <a:rPr lang="en-US" sz="1400" b="0" i="0" dirty="0">
                          <a:latin typeface="Helvetica" pitchFamily="2" charset="0"/>
                        </a:rPr>
                        <a:t>Results</a:t>
                      </a:r>
                    </a:p>
                  </a:txBody>
                  <a:tcPr>
                    <a:solidFill>
                      <a:schemeClr val="accent6">
                        <a:lumMod val="50000"/>
                      </a:schemeClr>
                    </a:solidFill>
                  </a:tcPr>
                </a:tc>
                <a:tc>
                  <a:txBody>
                    <a:bodyPr/>
                    <a:lstStyle/>
                    <a:p>
                      <a:pPr algn="ctr"/>
                      <a:r>
                        <a:rPr lang="en-US" sz="1400" b="0" i="0" dirty="0">
                          <a:latin typeface="Helvetica" pitchFamily="2" charset="0"/>
                        </a:rPr>
                        <a:t>Limitations/</a:t>
                      </a:r>
                    </a:p>
                    <a:p>
                      <a:pPr algn="ctr"/>
                      <a:r>
                        <a:rPr lang="en-US" sz="1400" b="0" i="0" dirty="0">
                          <a:latin typeface="Helvetica" pitchFamily="2" charset="0"/>
                        </a:rPr>
                        <a:t>Gaps Identified</a:t>
                      </a:r>
                    </a:p>
                  </a:txBody>
                  <a:tcPr>
                    <a:solidFill>
                      <a:schemeClr val="accent6">
                        <a:lumMod val="50000"/>
                      </a:schemeClr>
                    </a:solidFill>
                  </a:tcPr>
                </a:tc>
                <a:extLst>
                  <a:ext uri="{0D108BD9-81ED-4DB2-BD59-A6C34878D82A}">
                    <a16:rowId xmlns:a16="http://schemas.microsoft.com/office/drawing/2014/main" val="2495431070"/>
                  </a:ext>
                </a:extLst>
              </a:tr>
              <a:tr h="1203634">
                <a:tc>
                  <a:txBody>
                    <a:bodyPr/>
                    <a:lstStyle/>
                    <a:p>
                      <a:pPr algn="ctr"/>
                      <a:r>
                        <a:rPr lang="en-US" sz="1200" b="0" i="0" dirty="0">
                          <a:latin typeface="Helvetica" pitchFamily="2" charset="0"/>
                        </a:rPr>
                        <a:t>17.</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latin typeface="+mn-lt"/>
                        </a:rPr>
                        <a:t>Shivangi Singhal et al.—</a:t>
                      </a:r>
                      <a:r>
                        <a:rPr lang="en-US" sz="1200" b="0" i="0" baseline="0" dirty="0">
                          <a:latin typeface="+mn-lt"/>
                        </a:rPr>
                        <a:t> </a:t>
                      </a:r>
                      <a:r>
                        <a:rPr lang="en-IN" sz="1200" b="0" dirty="0">
                          <a:latin typeface="+mn-lt"/>
                        </a:rPr>
                        <a:t> </a:t>
                      </a:r>
                      <a:r>
                        <a:rPr lang="en-IN" sz="1200" b="0" i="1" dirty="0" err="1">
                          <a:latin typeface="+mn-lt"/>
                        </a:rPr>
                        <a:t>SpotFake</a:t>
                      </a:r>
                      <a:r>
                        <a:rPr lang="en-IN" sz="1200" b="0" i="1" dirty="0">
                          <a:latin typeface="+mn-lt"/>
                        </a:rPr>
                        <a:t>: “A Multi-modal Framework for Fake News Detection”</a:t>
                      </a:r>
                      <a:r>
                        <a:rPr lang="en-IN" sz="1200" b="0" dirty="0">
                          <a:latin typeface="+mn-lt"/>
                        </a:rPr>
                        <a:t> [17]</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latin typeface="+mn-lt"/>
                        </a:rPr>
                        <a:t>IEEE </a:t>
                      </a:r>
                      <a:r>
                        <a:rPr lang="en-IN" sz="1200" b="0" dirty="0" err="1">
                          <a:latin typeface="+mn-lt"/>
                        </a:rPr>
                        <a:t>BigMM</a:t>
                      </a:r>
                      <a:r>
                        <a:rPr lang="en-IN" sz="1200" b="0" dirty="0">
                          <a:latin typeface="+mn-lt"/>
                        </a:rPr>
                        <a:t> (2019).</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err="1"/>
                        <a:t>SpotFake</a:t>
                      </a:r>
                      <a:r>
                        <a:rPr lang="en-IN" sz="1200" dirty="0"/>
                        <a:t>: BERT (text) + VGG-19 (images), Twitter dataset.</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The model outperforms the state-of-the-art by 3.27% on Twitter. It effectively detects fake news without relying on additional sub-tasks.</a:t>
                      </a:r>
                      <a:endParaRPr lang="en-US" sz="1200" b="0" i="0" dirty="0">
                        <a:latin typeface="+mn-lt"/>
                      </a:endParaRPr>
                    </a:p>
                  </a:txBody>
                  <a:tcPr>
                    <a:solidFill>
                      <a:schemeClr val="accent6">
                        <a:lumMod val="60000"/>
                        <a:lumOff val="40000"/>
                      </a:schemeClr>
                    </a:solidFill>
                  </a:tcPr>
                </a:tc>
                <a:tc>
                  <a:txBody>
                    <a:bodyPr/>
                    <a:lstStyle/>
                    <a:p>
                      <a:pPr marL="171450" indent="-171450">
                        <a:buFont typeface="Arial" panose="020B0604020202020204" pitchFamily="34" charset="0"/>
                        <a:buChar char="•"/>
                      </a:pPr>
                      <a:r>
                        <a:rPr lang="en-US" sz="1200" dirty="0"/>
                        <a:t>Paper notes that multimodal models rely heavily on sub-tasks, and their performance drops without them.</a:t>
                      </a:r>
                      <a:endParaRPr lang="en-US" sz="1200" b="0" i="0" dirty="0">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3440570599"/>
                  </a:ext>
                </a:extLst>
              </a:tr>
              <a:tr h="1203634">
                <a:tc>
                  <a:txBody>
                    <a:bodyPr/>
                    <a:lstStyle/>
                    <a:p>
                      <a:pPr algn="ctr"/>
                      <a:r>
                        <a:rPr lang="en-US" sz="1200" b="0" i="0" dirty="0">
                          <a:latin typeface="Helvetica" pitchFamily="2" charset="0"/>
                        </a:rPr>
                        <a:t>18.</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Ruben </a:t>
                      </a:r>
                      <a:r>
                        <a:rPr lang="en-US" sz="1200" b="0" dirty="0" err="1">
                          <a:latin typeface="+mn-lt"/>
                        </a:rPr>
                        <a:t>Tolosana</a:t>
                      </a:r>
                      <a:r>
                        <a:rPr lang="en-US" sz="1200" b="0" dirty="0">
                          <a:latin typeface="+mn-lt"/>
                        </a:rPr>
                        <a:t> et al.</a:t>
                      </a:r>
                      <a:r>
                        <a:rPr lang="en-IN" sz="1200" b="0" dirty="0">
                          <a:latin typeface="+mn-lt"/>
                        </a:rPr>
                        <a:t> —</a:t>
                      </a:r>
                      <a:r>
                        <a:rPr lang="en-US" sz="1200" b="0" i="0" baseline="0" dirty="0">
                          <a:latin typeface="+mn-lt"/>
                        </a:rPr>
                        <a:t> </a:t>
                      </a:r>
                      <a:r>
                        <a:rPr lang="en-US" sz="1200" b="0" dirty="0">
                          <a:latin typeface="+mn-lt"/>
                        </a:rPr>
                        <a:t> “</a:t>
                      </a:r>
                      <a:r>
                        <a:rPr lang="en-US" sz="1200" b="0" i="1" dirty="0" err="1">
                          <a:latin typeface="+mn-lt"/>
                        </a:rPr>
                        <a:t>DeepFakes</a:t>
                      </a:r>
                      <a:r>
                        <a:rPr lang="en-US" sz="1200" b="0" i="1" dirty="0">
                          <a:latin typeface="+mn-lt"/>
                        </a:rPr>
                        <a:t> and Beyond: A Survey of Face Manipulation and Fake Detection”</a:t>
                      </a:r>
                      <a:r>
                        <a:rPr lang="en-US" sz="1200" b="0" dirty="0">
                          <a:latin typeface="+mn-lt"/>
                        </a:rPr>
                        <a:t>  [18]</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err="1">
                          <a:latin typeface="+mn-lt"/>
                        </a:rPr>
                        <a:t>arXiv</a:t>
                      </a:r>
                      <a:r>
                        <a:rPr lang="en-IN" sz="1200" b="0" dirty="0">
                          <a:latin typeface="+mn-lt"/>
                        </a:rPr>
                        <a:t> (2020).</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Autoencoders, GANs; datasets: </a:t>
                      </a:r>
                      <a:r>
                        <a:rPr lang="en-IN" sz="1200" dirty="0" err="1"/>
                        <a:t>DeepfakeTIMIT</a:t>
                      </a:r>
                      <a:r>
                        <a:rPr lang="en-IN" sz="1200" dirty="0"/>
                        <a:t>, UADFV, FF++, Celeb-DF.</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dirty="0"/>
                        <a:t>Reviews 4 manipulation types: synthesis, identity swap, attribute, expression swap.</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Research still early; lacks public datasets for expression swap.</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1203634">
                <a:tc>
                  <a:txBody>
                    <a:bodyPr/>
                    <a:lstStyle/>
                    <a:p>
                      <a:pPr algn="ctr"/>
                      <a:r>
                        <a:rPr lang="en-US" sz="1200" b="0" i="0" dirty="0">
                          <a:latin typeface="Helvetica" pitchFamily="2" charset="0"/>
                        </a:rPr>
                        <a:t>19.</a:t>
                      </a: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a:latin typeface="+mn-lt"/>
                        </a:rPr>
                        <a:t>Fazeela Siddiqui et al.—</a:t>
                      </a:r>
                      <a:r>
                        <a:rPr lang="en-US" sz="1200" b="0" i="0" baseline="0" dirty="0">
                          <a:latin typeface="+mn-lt"/>
                        </a:rPr>
                        <a:t> </a:t>
                      </a:r>
                      <a:r>
                        <a:rPr lang="en-IN" sz="1200" b="0" dirty="0">
                          <a:latin typeface="+mn-lt"/>
                        </a:rPr>
                        <a:t>“</a:t>
                      </a:r>
                      <a:r>
                        <a:rPr lang="en-IN" sz="1200" b="0" i="1" dirty="0">
                          <a:latin typeface="+mn-lt"/>
                        </a:rPr>
                        <a:t>Enhanced deepfake detection with </a:t>
                      </a:r>
                      <a:r>
                        <a:rPr lang="en-IN" sz="1200" b="0" i="1" dirty="0" err="1">
                          <a:latin typeface="+mn-lt"/>
                        </a:rPr>
                        <a:t>DenseNet</a:t>
                      </a:r>
                      <a:r>
                        <a:rPr lang="en-IN" sz="1200" b="0" i="1" dirty="0">
                          <a:latin typeface="+mn-lt"/>
                        </a:rPr>
                        <a:t> and Cross-</a:t>
                      </a:r>
                      <a:r>
                        <a:rPr lang="en-IN" sz="1200" b="0" i="1" dirty="0" err="1">
                          <a:latin typeface="+mn-lt"/>
                        </a:rPr>
                        <a:t>ViT</a:t>
                      </a:r>
                      <a:r>
                        <a:rPr lang="en-IN" sz="1200" b="0" i="1" dirty="0">
                          <a:latin typeface="+mn-lt"/>
                        </a:rPr>
                        <a:t>” </a:t>
                      </a:r>
                      <a:r>
                        <a:rPr lang="en-IN" sz="1200" b="0" dirty="0">
                          <a:latin typeface="+mn-lt"/>
                        </a:rPr>
                        <a:t> [19]</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Expert Systems With Applications (2025).</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err="1"/>
                        <a:t>DenseNet</a:t>
                      </a:r>
                      <a:r>
                        <a:rPr lang="en-US" sz="1200" dirty="0"/>
                        <a:t> + </a:t>
                      </a:r>
                      <a:r>
                        <a:rPr lang="en-US" sz="1200" dirty="0" err="1"/>
                        <a:t>CrossViT</a:t>
                      </a:r>
                      <a:r>
                        <a:rPr lang="en-US" sz="1200" dirty="0"/>
                        <a:t> on </a:t>
                      </a:r>
                      <a:r>
                        <a:rPr lang="en-US" sz="1200" dirty="0" err="1"/>
                        <a:t>DeepForensics</a:t>
                      </a:r>
                      <a:r>
                        <a:rPr lang="en-US" sz="1200" dirty="0"/>
                        <a:t> 1.0.</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The model achieved high performance with a 99.99% AUC on </a:t>
                      </a:r>
                      <a:r>
                        <a:rPr lang="en-US" sz="1200" b="0" dirty="0" err="1">
                          <a:latin typeface="+mn-lt"/>
                        </a:rPr>
                        <a:t>DeepForensics</a:t>
                      </a:r>
                      <a:r>
                        <a:rPr lang="en-US" sz="1200" b="0" dirty="0">
                          <a:latin typeface="+mn-lt"/>
                        </a:rPr>
                        <a:t> 1.0.</a:t>
                      </a:r>
                      <a:endParaRPr lang="en-US" sz="1200" b="0" i="0" dirty="0">
                        <a:latin typeface="+mn-lt"/>
                      </a:endParaRPr>
                    </a:p>
                    <a:p>
                      <a:endParaRPr lang="en-US" sz="1200" b="0" i="0" dirty="0">
                        <a:latin typeface="Helvetica" pitchFamily="2" charset="0"/>
                      </a:endParaRPr>
                    </a:p>
                  </a:txBody>
                  <a:tcPr>
                    <a:solidFill>
                      <a:schemeClr val="accent6">
                        <a:lumMod val="60000"/>
                        <a:lumOff val="4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mn-lt"/>
                        </a:rPr>
                        <a:t>The primary challenge identified is the increasing difficulty of detecting highly realistic facial forgeries.</a:t>
                      </a:r>
                      <a:endParaRPr lang="en-US" sz="1200" b="0" i="0" dirty="0">
                        <a:latin typeface="+mn-lt"/>
                      </a:endParaRPr>
                    </a:p>
                  </a:txBody>
                  <a:tcPr>
                    <a:solidFill>
                      <a:schemeClr val="accent6">
                        <a:lumMod val="60000"/>
                        <a:lumOff val="40000"/>
                      </a:schemeClr>
                    </a:solidFill>
                  </a:tcPr>
                </a:tc>
                <a:extLst>
                  <a:ext uri="{0D108BD9-81ED-4DB2-BD59-A6C34878D82A}">
                    <a16:rowId xmlns:a16="http://schemas.microsoft.com/office/drawing/2014/main" val="3646395450"/>
                  </a:ext>
                </a:extLst>
              </a:tr>
              <a:tr h="1203634">
                <a:tc>
                  <a:txBody>
                    <a:bodyPr/>
                    <a:lstStyle/>
                    <a:p>
                      <a:pPr algn="ctr"/>
                      <a:r>
                        <a:rPr lang="en-US" sz="1200" b="0" i="0" dirty="0">
                          <a:latin typeface="Helvetica" pitchFamily="2" charset="0"/>
                        </a:rPr>
                        <a:t>20.</a:t>
                      </a: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latin typeface="+mn-lt"/>
                        </a:rPr>
                        <a:t>Rupak Kumar Das</a:t>
                      </a:r>
                      <a:r>
                        <a:rPr lang="en-IN" sz="1200" b="0" dirty="0">
                          <a:latin typeface="+mn-lt"/>
                        </a:rPr>
                        <a:t> —</a:t>
                      </a:r>
                      <a:r>
                        <a:rPr lang="en-US" sz="1200" b="0" i="0" baseline="0" dirty="0">
                          <a:latin typeface="+mn-lt"/>
                        </a:rPr>
                        <a:t> </a:t>
                      </a:r>
                      <a:r>
                        <a:rPr lang="en-US" sz="1200" b="0" dirty="0">
                          <a:latin typeface="+mn-lt"/>
                        </a:rPr>
                        <a:t>“</a:t>
                      </a:r>
                      <a:r>
                        <a:rPr lang="en-US" sz="1200" b="0" i="1" dirty="0">
                          <a:latin typeface="+mn-lt"/>
                        </a:rPr>
                        <a:t>Fake News Detection After LLM Laundering: Measurement and Explanation” </a:t>
                      </a:r>
                      <a:r>
                        <a:rPr lang="en-US" sz="1200" b="0" dirty="0">
                          <a:latin typeface="+mn-lt"/>
                        </a:rPr>
                        <a:t> [20]</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b="0" dirty="0" err="1">
                          <a:latin typeface="+mn-lt"/>
                        </a:rPr>
                        <a:t>arXiv</a:t>
                      </a:r>
                      <a:r>
                        <a:rPr lang="en-IN" sz="1200" b="0" dirty="0">
                          <a:latin typeface="+mn-lt"/>
                        </a:rPr>
                        <a:t> (2025) </a:t>
                      </a:r>
                      <a:r>
                        <a:rPr lang="en-IN" sz="1200" b="0" dirty="0" err="1">
                          <a:latin typeface="+mn-lt"/>
                        </a:rPr>
                        <a:t>arXiv</a:t>
                      </a:r>
                      <a:r>
                        <a:rPr lang="en-IN" sz="1200" b="0" dirty="0">
                          <a:latin typeface="+mn-lt"/>
                        </a:rPr>
                        <a:t> (2025).</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BERTSCORE for semantic similarity; new dataset of paraphrased fakes.</a:t>
                      </a:r>
                      <a:endParaRPr lang="en-US" sz="1200" b="0" i="0" dirty="0">
                        <a:latin typeface="+mn-lt"/>
                      </a:endParaRPr>
                    </a:p>
                  </a:txBody>
                  <a:tcPr>
                    <a:solidFill>
                      <a:schemeClr val="accent6">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Detectors fail on LLM-paraphrased fakes due to “sentiment shift”.</a:t>
                      </a:r>
                      <a:endParaRPr lang="en-US" sz="1200" b="0" i="0" dirty="0">
                        <a:latin typeface="+mn-lt"/>
                      </a:endParaRPr>
                    </a:p>
                    <a:p>
                      <a:endParaRPr lang="en-US" sz="1200" b="0" i="0" dirty="0">
                        <a:latin typeface="Helvetica" pitchFamily="2" charset="0"/>
                      </a:endParaRPr>
                    </a:p>
                  </a:txBody>
                  <a:tcPr>
                    <a:solidFill>
                      <a:schemeClr val="accent6">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mn-lt"/>
                        </a:rPr>
                        <a:t>The paper emphasizes that the field of detecting LLM-generated fake news is still under-explored.</a:t>
                      </a:r>
                      <a:endParaRPr lang="en-US" sz="1200" b="0" i="0" dirty="0">
                        <a:latin typeface="+mn-lt"/>
                      </a:endParaRPr>
                    </a:p>
                    <a:p>
                      <a:pPr marL="171450" indent="-171450">
                        <a:buFont typeface="Arial" panose="020B0604020202020204" pitchFamily="34" charset="0"/>
                        <a:buChar char="•"/>
                      </a:pPr>
                      <a:endParaRPr lang="en-US" sz="12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108054300"/>
                  </a:ext>
                </a:extLst>
              </a:tr>
            </a:tbl>
          </a:graphicData>
        </a:graphic>
      </p:graphicFrame>
    </p:spTree>
    <p:extLst>
      <p:ext uri="{BB962C8B-B14F-4D97-AF65-F5344CB8AC3E}">
        <p14:creationId xmlns:p14="http://schemas.microsoft.com/office/powerpoint/2010/main" val="930490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dirty="0">
                <a:ea typeface="Palatino" pitchFamily="2" charset="77"/>
              </a:rPr>
              <a:t>Work Done (after Mid-Term Evaluation)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81000" indent="-285750">
              <a:buClr>
                <a:srgbClr val="00A44A"/>
              </a:buClr>
              <a:buSzPct val="140000"/>
              <a:buFont typeface="Wingdings" panose="05000000000000000000" pitchFamily="2" charset="2"/>
              <a:buChar char="ü"/>
            </a:pPr>
            <a:r>
              <a:rPr lang="en-US" dirty="0">
                <a:ea typeface="Palatino" pitchFamily="2" charset="77"/>
              </a:rPr>
              <a:t>Completed full cleaning of the </a:t>
            </a:r>
            <a:r>
              <a:rPr lang="en-US" b="1" dirty="0">
                <a:ea typeface="Palatino" pitchFamily="2" charset="77"/>
              </a:rPr>
              <a:t>IFND dataset </a:t>
            </a:r>
            <a:r>
              <a:rPr lang="en-US" dirty="0">
                <a:ea typeface="Palatino" pitchFamily="2" charset="77"/>
              </a:rPr>
              <a:t>with a </a:t>
            </a:r>
            <a:r>
              <a:rPr lang="en-US" b="1" dirty="0">
                <a:ea typeface="Palatino" pitchFamily="2" charset="77"/>
              </a:rPr>
              <a:t>16-stage </a:t>
            </a:r>
            <a:r>
              <a:rPr lang="en-US" dirty="0">
                <a:ea typeface="Palatino" pitchFamily="2" charset="77"/>
              </a:rPr>
              <a:t>preprocessing pipeline.</a:t>
            </a:r>
          </a:p>
          <a:p>
            <a:pPr marL="381000" indent="-285750">
              <a:buClr>
                <a:srgbClr val="00A44A"/>
              </a:buClr>
              <a:buSzPct val="140000"/>
              <a:buFont typeface="Wingdings" panose="05000000000000000000" pitchFamily="2" charset="2"/>
              <a:buChar char="ü"/>
            </a:pPr>
            <a:r>
              <a:rPr lang="en-US" dirty="0">
                <a:ea typeface="Palatino" pitchFamily="2" charset="77"/>
              </a:rPr>
              <a:t>Trained multiple text classification models and selected the top two performers.</a:t>
            </a:r>
          </a:p>
          <a:p>
            <a:pPr marL="381000" indent="-285750">
              <a:buClr>
                <a:srgbClr val="00A44A"/>
              </a:buClr>
              <a:buSzPct val="140000"/>
              <a:buFont typeface="Wingdings" panose="05000000000000000000" pitchFamily="2" charset="2"/>
              <a:buChar char="ü"/>
            </a:pPr>
            <a:r>
              <a:rPr lang="en-US" dirty="0">
                <a:ea typeface="Palatino" pitchFamily="2" charset="77"/>
              </a:rPr>
              <a:t>Fine-tuned </a:t>
            </a:r>
            <a:r>
              <a:rPr lang="en-US" b="1" dirty="0" err="1">
                <a:ea typeface="Palatino" pitchFamily="2" charset="77"/>
              </a:rPr>
              <a:t>RoBERTa</a:t>
            </a:r>
            <a:r>
              <a:rPr lang="en-US" dirty="0">
                <a:ea typeface="Palatino" pitchFamily="2" charset="77"/>
              </a:rPr>
              <a:t> on the cleaned dataset with class-balancing and warmup scheduling.</a:t>
            </a:r>
          </a:p>
          <a:p>
            <a:pPr marL="381000" indent="-285750">
              <a:buClr>
                <a:srgbClr val="00A44A"/>
              </a:buClr>
              <a:buSzPct val="140000"/>
              <a:buFont typeface="Wingdings" panose="05000000000000000000" pitchFamily="2" charset="2"/>
              <a:buChar char="ü"/>
            </a:pPr>
            <a:r>
              <a:rPr lang="en-US" dirty="0">
                <a:ea typeface="Palatino" pitchFamily="2" charset="77"/>
              </a:rPr>
              <a:t>Built a </a:t>
            </a:r>
            <a:r>
              <a:rPr lang="en-US" b="1" dirty="0">
                <a:ea typeface="Palatino" pitchFamily="2" charset="77"/>
              </a:rPr>
              <a:t>Hybrid Bi-LSTM + Attention + 1-Layer GRU model</a:t>
            </a:r>
            <a:r>
              <a:rPr lang="en-US" dirty="0">
                <a:ea typeface="Palatino" pitchFamily="2" charset="77"/>
              </a:rPr>
              <a:t> for deeper feature learning.</a:t>
            </a:r>
          </a:p>
          <a:p>
            <a:pPr marL="381000" indent="-285750">
              <a:buClr>
                <a:srgbClr val="00A44A"/>
              </a:buClr>
              <a:buSzPct val="140000"/>
              <a:buFont typeface="Wingdings" panose="05000000000000000000" pitchFamily="2" charset="2"/>
              <a:buChar char="ü"/>
            </a:pPr>
            <a:r>
              <a:rPr lang="en-US" dirty="0">
                <a:ea typeface="Palatino" pitchFamily="2" charset="77"/>
              </a:rPr>
              <a:t>Developed the Fusion Model for text by combining </a:t>
            </a:r>
            <a:r>
              <a:rPr lang="en-US" dirty="0" err="1">
                <a:ea typeface="Palatino" pitchFamily="2" charset="77"/>
              </a:rPr>
              <a:t>RoBERTa</a:t>
            </a:r>
            <a:r>
              <a:rPr lang="en-US" dirty="0">
                <a:ea typeface="Palatino" pitchFamily="2" charset="77"/>
              </a:rPr>
              <a:t> features and Hybrid model features.</a:t>
            </a:r>
          </a:p>
          <a:p>
            <a:pPr marL="381000" indent="-285750">
              <a:buClr>
                <a:srgbClr val="00A44A"/>
              </a:buClr>
              <a:buSzPct val="140000"/>
              <a:buFont typeface="Wingdings" panose="05000000000000000000" pitchFamily="2" charset="2"/>
              <a:buChar char="ü"/>
            </a:pPr>
            <a:r>
              <a:rPr lang="en-US" dirty="0">
                <a:ea typeface="Palatino" pitchFamily="2" charset="77"/>
              </a:rPr>
              <a:t>Achieved</a:t>
            </a:r>
            <a:r>
              <a:rPr lang="en-US" b="1" dirty="0">
                <a:ea typeface="Palatino" pitchFamily="2" charset="77"/>
              </a:rPr>
              <a:t> high accuracy </a:t>
            </a:r>
            <a:r>
              <a:rPr lang="en-US" dirty="0">
                <a:ea typeface="Palatino" pitchFamily="2" charset="77"/>
              </a:rPr>
              <a:t>and </a:t>
            </a:r>
            <a:r>
              <a:rPr lang="en-US" b="1" dirty="0">
                <a:ea typeface="Palatino" pitchFamily="2" charset="77"/>
              </a:rPr>
              <a:t>AUC scores </a:t>
            </a:r>
            <a:r>
              <a:rPr lang="en-US" dirty="0">
                <a:ea typeface="Palatino" pitchFamily="2" charset="77"/>
              </a:rPr>
              <a:t>across all experiments.</a:t>
            </a:r>
            <a:endParaRPr lang="en-IN" sz="1800" dirty="0">
              <a:ea typeface="Palatino" pitchFamily="2" charset="77"/>
            </a:endParaRPr>
          </a:p>
        </p:txBody>
      </p:sp>
    </p:spTree>
    <p:extLst>
      <p:ext uri="{BB962C8B-B14F-4D97-AF65-F5344CB8AC3E}">
        <p14:creationId xmlns:p14="http://schemas.microsoft.com/office/powerpoint/2010/main" val="998922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225B-EBC5-6594-440A-BA4E7ABC5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67A5E-A7EE-D473-561F-4A64A75351E8}"/>
              </a:ext>
            </a:extLst>
          </p:cNvPr>
          <p:cNvSpPr>
            <a:spLocks noGrp="1"/>
          </p:cNvSpPr>
          <p:nvPr>
            <p:ph type="title"/>
          </p:nvPr>
        </p:nvSpPr>
        <p:spPr/>
        <p:txBody>
          <a:bodyPr/>
          <a:lstStyle/>
          <a:p>
            <a:r>
              <a:rPr lang="en-IN" sz="2400" dirty="0">
                <a:ea typeface="Palatino" pitchFamily="2" charset="77"/>
              </a:rPr>
              <a:t>Project Design</a:t>
            </a:r>
            <a:endParaRPr lang="en-US" dirty="0"/>
          </a:p>
        </p:txBody>
      </p:sp>
      <p:sp>
        <p:nvSpPr>
          <p:cNvPr id="4" name="Content Placeholder 2">
            <a:extLst>
              <a:ext uri="{FF2B5EF4-FFF2-40B4-BE49-F238E27FC236}">
                <a16:creationId xmlns:a16="http://schemas.microsoft.com/office/drawing/2014/main" id="{1E1D5D0B-1AF1-89E5-B6B0-118FFECC4597}"/>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81000" indent="-285750"/>
            <a:r>
              <a:rPr lang="en-US" dirty="0">
                <a:ea typeface="Palatino" pitchFamily="2" charset="77"/>
              </a:rPr>
              <a:t>The system follows a simple step-by-step pipeline where raw IFND text is cleaned, normalized, and prepared before any deep learning model sees it.</a:t>
            </a:r>
          </a:p>
          <a:p>
            <a:pPr marL="381000" indent="-285750"/>
            <a:r>
              <a:rPr lang="en-US" dirty="0">
                <a:ea typeface="Palatino" pitchFamily="2" charset="77"/>
              </a:rPr>
              <a:t>After preprocessing, two different types of models extract features from the same text:</a:t>
            </a:r>
          </a:p>
          <a:p>
            <a:pPr marL="838200" lvl="1">
              <a:buSzPct val="75000"/>
            </a:pPr>
            <a:r>
              <a:rPr lang="en-US" b="1" dirty="0" err="1">
                <a:ea typeface="Palatino" pitchFamily="2" charset="77"/>
              </a:rPr>
              <a:t>RoBERTa</a:t>
            </a:r>
            <a:r>
              <a:rPr lang="en-US" b="1" dirty="0">
                <a:ea typeface="Palatino" pitchFamily="2" charset="77"/>
              </a:rPr>
              <a:t> </a:t>
            </a:r>
            <a:r>
              <a:rPr lang="en-US" dirty="0">
                <a:ea typeface="Palatino" pitchFamily="2" charset="77"/>
              </a:rPr>
              <a:t>for deep semantic meaning</a:t>
            </a:r>
          </a:p>
          <a:p>
            <a:pPr marL="838200" lvl="1">
              <a:buSzPct val="75000"/>
            </a:pPr>
            <a:r>
              <a:rPr lang="en-US" b="1" dirty="0">
                <a:ea typeface="Palatino" pitchFamily="2" charset="77"/>
              </a:rPr>
              <a:t>Hybrid Bi-LSTM + Attention + GRU </a:t>
            </a:r>
            <a:r>
              <a:rPr lang="en-US" dirty="0">
                <a:ea typeface="Palatino" pitchFamily="2" charset="77"/>
              </a:rPr>
              <a:t>for sequential and contextual patterns</a:t>
            </a:r>
          </a:p>
          <a:p>
            <a:pPr marL="381000" indent="-285750"/>
            <a:r>
              <a:rPr lang="en-US" dirty="0">
                <a:ea typeface="Palatino" pitchFamily="2" charset="77"/>
              </a:rPr>
              <a:t>These two representations are combined using </a:t>
            </a:r>
            <a:r>
              <a:rPr lang="en-US" b="1" dirty="0">
                <a:ea typeface="Palatino" pitchFamily="2" charset="77"/>
              </a:rPr>
              <a:t>feature-level fusion </a:t>
            </a:r>
            <a:r>
              <a:rPr lang="en-US" dirty="0">
                <a:ea typeface="Palatino" pitchFamily="2" charset="77"/>
              </a:rPr>
              <a:t>so that both semantic and structural clues are used together during prediction.</a:t>
            </a:r>
          </a:p>
          <a:p>
            <a:pPr marL="381000" indent="-285750"/>
            <a:r>
              <a:rPr lang="en-US" dirty="0">
                <a:ea typeface="Palatino" pitchFamily="2" charset="77"/>
              </a:rPr>
              <a:t>Finally, the fused vector goes into a small </a:t>
            </a:r>
            <a:r>
              <a:rPr lang="en-US" b="1" dirty="0">
                <a:ea typeface="Palatino" pitchFamily="2" charset="77"/>
              </a:rPr>
              <a:t>MLP classifier </a:t>
            </a:r>
            <a:r>
              <a:rPr lang="en-US" dirty="0">
                <a:ea typeface="Palatino" pitchFamily="2" charset="77"/>
              </a:rPr>
              <a:t>that produces the Real/Fake output.</a:t>
            </a:r>
          </a:p>
          <a:p>
            <a:pPr marL="381000" indent="-285750"/>
            <a:r>
              <a:rPr lang="en-US" dirty="0">
                <a:ea typeface="Palatino" pitchFamily="2" charset="77"/>
              </a:rPr>
              <a:t>This design matches the multi-model idea discussed in recent literature, where combining multiple representations usually improves fake-news detection. </a:t>
            </a:r>
            <a:endParaRPr lang="en-IN" sz="1800" dirty="0">
              <a:ea typeface="Palatino" pitchFamily="2" charset="77"/>
            </a:endParaRPr>
          </a:p>
        </p:txBody>
      </p:sp>
    </p:spTree>
    <p:extLst>
      <p:ext uri="{BB962C8B-B14F-4D97-AF65-F5344CB8AC3E}">
        <p14:creationId xmlns:p14="http://schemas.microsoft.com/office/powerpoint/2010/main" val="2790464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702627"/>
            <a:ext cx="8956714" cy="586750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800" b="1" dirty="0">
                <a:ea typeface="Palatino" pitchFamily="2" charset="77"/>
              </a:rPr>
              <a:t>Overall Flow:</a:t>
            </a:r>
          </a:p>
          <a:p>
            <a:pPr marL="95250" indent="0">
              <a:buNone/>
            </a:pPr>
            <a:endParaRPr lang="en-IN" b="1" dirty="0">
              <a:ea typeface="Palatino" pitchFamily="2" charset="77"/>
            </a:endParaRPr>
          </a:p>
          <a:p>
            <a:pPr marL="95250" indent="0">
              <a:buNone/>
            </a:pPr>
            <a:endParaRPr lang="en-IN" sz="1800" b="1" dirty="0">
              <a:ea typeface="Palatino" pitchFamily="2" charset="77"/>
            </a:endParaRPr>
          </a:p>
          <a:p>
            <a:pPr marL="95250" indent="0">
              <a:buNone/>
            </a:pPr>
            <a:endParaRPr lang="en-IN" b="1" dirty="0">
              <a:ea typeface="Palatino" pitchFamily="2" charset="77"/>
            </a:endParaRPr>
          </a:p>
          <a:p>
            <a:pPr marL="95250" indent="0">
              <a:buNone/>
            </a:pPr>
            <a:endParaRPr lang="en-IN" sz="1800" b="1" dirty="0">
              <a:ea typeface="Palatino" pitchFamily="2" charset="77"/>
            </a:endParaRPr>
          </a:p>
          <a:p>
            <a:pPr marL="95250" indent="0">
              <a:buNone/>
            </a:pPr>
            <a:endParaRPr lang="en-IN" b="1" dirty="0">
              <a:ea typeface="Palatino" pitchFamily="2" charset="77"/>
            </a:endParaRPr>
          </a:p>
          <a:p>
            <a:pPr marL="95250" indent="0">
              <a:buNone/>
            </a:pPr>
            <a:endParaRPr lang="en-IN" sz="1800" b="1" dirty="0">
              <a:ea typeface="Palatino" pitchFamily="2" charset="77"/>
            </a:endParaRPr>
          </a:p>
          <a:p>
            <a:pPr marL="95250" indent="0">
              <a:buNone/>
            </a:pPr>
            <a:endParaRPr lang="en-IN" b="1" dirty="0">
              <a:ea typeface="Palatino" pitchFamily="2" charset="77"/>
            </a:endParaRPr>
          </a:p>
          <a:p>
            <a:pPr marL="95250" indent="0">
              <a:buNone/>
            </a:pPr>
            <a:endParaRPr lang="en-IN" sz="1800" b="1" dirty="0">
              <a:ea typeface="Palatino" pitchFamily="2" charset="77"/>
            </a:endParaRPr>
          </a:p>
          <a:p>
            <a:pPr marL="95250" indent="0">
              <a:buNone/>
            </a:pPr>
            <a:endParaRPr lang="en-IN" b="1" dirty="0">
              <a:ea typeface="Palatino" pitchFamily="2" charset="77"/>
            </a:endParaRPr>
          </a:p>
          <a:p>
            <a:pPr marL="95250" indent="0">
              <a:buNone/>
            </a:pPr>
            <a:endParaRPr lang="en-IN" sz="1000" b="1" dirty="0">
              <a:ea typeface="Palatino" pitchFamily="2" charset="77"/>
            </a:endParaRPr>
          </a:p>
          <a:p>
            <a:pPr marL="95250" indent="0">
              <a:buNone/>
            </a:pPr>
            <a:r>
              <a:rPr lang="en-IN" sz="1200" b="1" dirty="0">
                <a:ea typeface="Palatino" pitchFamily="2" charset="77"/>
              </a:rPr>
              <a:t>                                                  </a:t>
            </a:r>
            <a:r>
              <a:rPr lang="en-IN" sz="1200" dirty="0">
                <a:ea typeface="Palatino" pitchFamily="2" charset="77"/>
              </a:rPr>
              <a:t>Fig. 1. Conceptual framework of the proposed system.</a:t>
            </a:r>
          </a:p>
        </p:txBody>
      </p:sp>
      <p:sp>
        <p:nvSpPr>
          <p:cNvPr id="3" name="Rectangle: Rounded Corners 2">
            <a:extLst>
              <a:ext uri="{FF2B5EF4-FFF2-40B4-BE49-F238E27FC236}">
                <a16:creationId xmlns:a16="http://schemas.microsoft.com/office/drawing/2014/main" id="{35E08915-C0CE-4D83-15F5-B29D517C6D54}"/>
              </a:ext>
            </a:extLst>
          </p:cNvPr>
          <p:cNvSpPr/>
          <p:nvPr/>
        </p:nvSpPr>
        <p:spPr bwMode="auto">
          <a:xfrm>
            <a:off x="2954863" y="1134526"/>
            <a:ext cx="2523067" cy="465668"/>
          </a:xfrm>
          <a:prstGeom prst="roundRect">
            <a:avLst/>
          </a:prstGeom>
          <a:solidFill>
            <a:srgbClr val="F7CD9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RAW IFND Dataset</a:t>
            </a:r>
          </a:p>
        </p:txBody>
      </p:sp>
      <p:sp>
        <p:nvSpPr>
          <p:cNvPr id="7" name="Rectangle: Rounded Corners 6">
            <a:extLst>
              <a:ext uri="{FF2B5EF4-FFF2-40B4-BE49-F238E27FC236}">
                <a16:creationId xmlns:a16="http://schemas.microsoft.com/office/drawing/2014/main" id="{A8D0C346-3E1A-476B-264A-2368C13985A8}"/>
              </a:ext>
            </a:extLst>
          </p:cNvPr>
          <p:cNvSpPr/>
          <p:nvPr/>
        </p:nvSpPr>
        <p:spPr bwMode="auto">
          <a:xfrm>
            <a:off x="2954863" y="1769523"/>
            <a:ext cx="2523067" cy="465668"/>
          </a:xfrm>
          <a:prstGeom prst="roundRect">
            <a:avLst/>
          </a:prstGeom>
          <a:solidFill>
            <a:srgbClr val="D4D4D4"/>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Preprocessing Pipeline</a:t>
            </a:r>
          </a:p>
        </p:txBody>
      </p:sp>
      <p:sp>
        <p:nvSpPr>
          <p:cNvPr id="8" name="Rectangle: Rounded Corners 7">
            <a:extLst>
              <a:ext uri="{FF2B5EF4-FFF2-40B4-BE49-F238E27FC236}">
                <a16:creationId xmlns:a16="http://schemas.microsoft.com/office/drawing/2014/main" id="{72AF7F21-470C-8206-B4B4-5EEB72DC2608}"/>
              </a:ext>
            </a:extLst>
          </p:cNvPr>
          <p:cNvSpPr/>
          <p:nvPr/>
        </p:nvSpPr>
        <p:spPr bwMode="auto">
          <a:xfrm>
            <a:off x="2954860" y="2421461"/>
            <a:ext cx="2523067" cy="465668"/>
          </a:xfrm>
          <a:prstGeom prst="roundRect">
            <a:avLst/>
          </a:prstGeom>
          <a:solidFill>
            <a:srgbClr val="B3F1C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Clean &amp; Normalized Text</a:t>
            </a:r>
          </a:p>
        </p:txBody>
      </p:sp>
      <p:sp>
        <p:nvSpPr>
          <p:cNvPr id="9" name="Rectangle: Rounded Corners 8">
            <a:extLst>
              <a:ext uri="{FF2B5EF4-FFF2-40B4-BE49-F238E27FC236}">
                <a16:creationId xmlns:a16="http://schemas.microsoft.com/office/drawing/2014/main" id="{19E62F6C-7448-9541-8B48-D4B51E0504E1}"/>
              </a:ext>
            </a:extLst>
          </p:cNvPr>
          <p:cNvSpPr/>
          <p:nvPr/>
        </p:nvSpPr>
        <p:spPr bwMode="auto">
          <a:xfrm>
            <a:off x="3577159" y="3056451"/>
            <a:ext cx="1278468" cy="694264"/>
          </a:xfrm>
          <a:prstGeom prst="roundRect">
            <a:avLst/>
          </a:prstGeom>
          <a:solidFill>
            <a:srgbClr val="F5B3B3"/>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Bi-LSTM</a:t>
            </a:r>
          </a:p>
          <a:p>
            <a:pPr marL="0" marR="0" indent="0" algn="ctr" defTabSz="914400" rtl="0" eaLnBrk="0" fontAlgn="base" latinLnBrk="0" hangingPunct="0">
              <a:lnSpc>
                <a:spcPct val="100000"/>
              </a:lnSpc>
              <a:spcBef>
                <a:spcPct val="0"/>
              </a:spcBef>
              <a:spcAft>
                <a:spcPct val="0"/>
              </a:spcAft>
              <a:buClrTx/>
              <a:buSzTx/>
              <a:buFontTx/>
              <a:buNone/>
              <a:tabLst/>
            </a:pPr>
            <a:r>
              <a:rPr lang="en-IN" sz="1400" dirty="0">
                <a:latin typeface="Verdana" charset="0"/>
              </a:rPr>
              <a:t>Model</a:t>
            </a:r>
            <a:endParaRPr kumimoji="0" lang="en-IN" sz="1400" b="0" i="0" u="none" strike="noStrike" cap="none" normalizeH="0" baseline="0" dirty="0">
              <a:ln>
                <a:noFill/>
              </a:ln>
              <a:solidFill>
                <a:schemeClr val="tx1"/>
              </a:solidFill>
              <a:effectLst/>
              <a:latin typeface="Verdana" charset="0"/>
            </a:endParaRPr>
          </a:p>
        </p:txBody>
      </p:sp>
      <p:sp>
        <p:nvSpPr>
          <p:cNvPr id="10" name="Rectangle: Rounded Corners 9">
            <a:extLst>
              <a:ext uri="{FF2B5EF4-FFF2-40B4-BE49-F238E27FC236}">
                <a16:creationId xmlns:a16="http://schemas.microsoft.com/office/drawing/2014/main" id="{37F601EF-4C81-AAFE-D208-462FF41D0D49}"/>
              </a:ext>
            </a:extLst>
          </p:cNvPr>
          <p:cNvSpPr/>
          <p:nvPr/>
        </p:nvSpPr>
        <p:spPr bwMode="auto">
          <a:xfrm>
            <a:off x="1579016" y="3056451"/>
            <a:ext cx="1278468" cy="694264"/>
          </a:xfrm>
          <a:prstGeom prst="roundRect">
            <a:avLst/>
          </a:prstGeom>
          <a:solidFill>
            <a:srgbClr val="F7E49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err="1">
                <a:ln>
                  <a:noFill/>
                </a:ln>
                <a:solidFill>
                  <a:schemeClr val="tx1"/>
                </a:solidFill>
                <a:effectLst/>
                <a:latin typeface="Verdana" charset="0"/>
              </a:rPr>
              <a:t>RoBERTa</a:t>
            </a:r>
            <a:endParaRPr kumimoji="0" lang="en-IN" sz="1400" b="0" i="0" u="none" strike="noStrike" cap="none" normalizeH="0" baseline="0" dirty="0">
              <a:ln>
                <a:noFill/>
              </a:ln>
              <a:solidFill>
                <a:schemeClr val="tx1"/>
              </a:solidFill>
              <a:effectLst/>
              <a:latin typeface="Verdana"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IN" sz="1400" dirty="0">
                <a:latin typeface="Verdana" charset="0"/>
              </a:rPr>
              <a:t>Model</a:t>
            </a:r>
            <a:endParaRPr kumimoji="0" lang="en-IN" sz="1400" b="0" i="0" u="none" strike="noStrike" cap="none" normalizeH="0" baseline="0" dirty="0">
              <a:ln>
                <a:noFill/>
              </a:ln>
              <a:solidFill>
                <a:schemeClr val="tx1"/>
              </a:solidFill>
              <a:effectLst/>
              <a:latin typeface="Verdana" charset="0"/>
            </a:endParaRPr>
          </a:p>
        </p:txBody>
      </p:sp>
      <p:sp>
        <p:nvSpPr>
          <p:cNvPr id="11" name="Rectangle: Rounded Corners 10">
            <a:extLst>
              <a:ext uri="{FF2B5EF4-FFF2-40B4-BE49-F238E27FC236}">
                <a16:creationId xmlns:a16="http://schemas.microsoft.com/office/drawing/2014/main" id="{B232BDE4-76B8-4924-E23B-276BD37A8E09}"/>
              </a:ext>
            </a:extLst>
          </p:cNvPr>
          <p:cNvSpPr/>
          <p:nvPr/>
        </p:nvSpPr>
        <p:spPr bwMode="auto">
          <a:xfrm>
            <a:off x="5566829" y="3047984"/>
            <a:ext cx="1278468" cy="694264"/>
          </a:xfrm>
          <a:prstGeom prst="roundRect">
            <a:avLst/>
          </a:prstGeom>
          <a:solidFill>
            <a:srgbClr val="C7B4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Hybrid</a:t>
            </a:r>
          </a:p>
          <a:p>
            <a:pPr marL="0" marR="0" indent="0" algn="ctr" defTabSz="914400" rtl="0" eaLnBrk="0" fontAlgn="base" latinLnBrk="0" hangingPunct="0">
              <a:lnSpc>
                <a:spcPct val="100000"/>
              </a:lnSpc>
              <a:spcBef>
                <a:spcPct val="0"/>
              </a:spcBef>
              <a:spcAft>
                <a:spcPct val="0"/>
              </a:spcAft>
              <a:buClrTx/>
              <a:buSzTx/>
              <a:buFontTx/>
              <a:buNone/>
              <a:tabLst/>
            </a:pPr>
            <a:r>
              <a:rPr lang="en-IN" sz="1400" dirty="0">
                <a:latin typeface="Verdana" charset="0"/>
              </a:rPr>
              <a:t>Model</a:t>
            </a:r>
            <a:endParaRPr kumimoji="0" lang="en-IN" sz="1400" b="0" i="0" u="none" strike="noStrike" cap="none" normalizeH="0" baseline="0" dirty="0">
              <a:ln>
                <a:noFill/>
              </a:ln>
              <a:solidFill>
                <a:schemeClr val="tx1"/>
              </a:solidFill>
              <a:effectLst/>
              <a:latin typeface="Verdana" charset="0"/>
            </a:endParaRPr>
          </a:p>
        </p:txBody>
      </p:sp>
      <p:sp>
        <p:nvSpPr>
          <p:cNvPr id="12" name="Rectangle: Rounded Corners 11">
            <a:extLst>
              <a:ext uri="{FF2B5EF4-FFF2-40B4-BE49-F238E27FC236}">
                <a16:creationId xmlns:a16="http://schemas.microsoft.com/office/drawing/2014/main" id="{EB400530-ABB0-7224-779E-59EFCB0FF394}"/>
              </a:ext>
            </a:extLst>
          </p:cNvPr>
          <p:cNvSpPr/>
          <p:nvPr/>
        </p:nvSpPr>
        <p:spPr bwMode="auto">
          <a:xfrm>
            <a:off x="2954859" y="4004741"/>
            <a:ext cx="2523067" cy="465668"/>
          </a:xfrm>
          <a:prstGeom prst="roundRect">
            <a:avLst/>
          </a:prstGeom>
          <a:solidFill>
            <a:srgbClr val="F7CD9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Feature Level Fusion</a:t>
            </a:r>
          </a:p>
        </p:txBody>
      </p:sp>
      <p:sp>
        <p:nvSpPr>
          <p:cNvPr id="13" name="Rectangle: Rounded Corners 12">
            <a:extLst>
              <a:ext uri="{FF2B5EF4-FFF2-40B4-BE49-F238E27FC236}">
                <a16:creationId xmlns:a16="http://schemas.microsoft.com/office/drawing/2014/main" id="{92535AA0-EAE7-1034-AF02-B72285EBADB6}"/>
              </a:ext>
            </a:extLst>
          </p:cNvPr>
          <p:cNvSpPr/>
          <p:nvPr/>
        </p:nvSpPr>
        <p:spPr bwMode="auto">
          <a:xfrm>
            <a:off x="2954859" y="4639737"/>
            <a:ext cx="2523067" cy="465668"/>
          </a:xfrm>
          <a:prstGeom prst="roundRect">
            <a:avLst/>
          </a:prstGeom>
          <a:solidFill>
            <a:srgbClr val="D4D4D4"/>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Connected Classifier</a:t>
            </a:r>
          </a:p>
        </p:txBody>
      </p:sp>
      <p:sp>
        <p:nvSpPr>
          <p:cNvPr id="14" name="Rectangle: Rounded Corners 13">
            <a:extLst>
              <a:ext uri="{FF2B5EF4-FFF2-40B4-BE49-F238E27FC236}">
                <a16:creationId xmlns:a16="http://schemas.microsoft.com/office/drawing/2014/main" id="{26C8E780-4CB0-BC15-8919-CFAD113ED54D}"/>
              </a:ext>
            </a:extLst>
          </p:cNvPr>
          <p:cNvSpPr/>
          <p:nvPr/>
        </p:nvSpPr>
        <p:spPr bwMode="auto">
          <a:xfrm>
            <a:off x="2772821" y="5274735"/>
            <a:ext cx="2887141" cy="761995"/>
          </a:xfrm>
          <a:prstGeom prst="roundRect">
            <a:avLst/>
          </a:prstGeom>
          <a:solidFill>
            <a:srgbClr val="B3F1C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5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Verdana" charset="0"/>
              </a:rPr>
              <a:t>Final Prediction</a:t>
            </a:r>
          </a:p>
          <a:p>
            <a:pPr marL="0" marR="0" indent="0" algn="ctr" defTabSz="914400" rtl="0" eaLnBrk="0" fontAlgn="base" latinLnBrk="0" hangingPunct="0">
              <a:lnSpc>
                <a:spcPct val="150000"/>
              </a:lnSpc>
              <a:spcBef>
                <a:spcPct val="0"/>
              </a:spcBef>
              <a:spcAft>
                <a:spcPct val="0"/>
              </a:spcAft>
              <a:buClrTx/>
              <a:buSzTx/>
              <a:buFontTx/>
              <a:buNone/>
              <a:tabLst/>
            </a:pPr>
            <a:r>
              <a:rPr lang="en-IN" sz="1400" dirty="0">
                <a:latin typeface="Verdana" charset="0"/>
              </a:rPr>
              <a:t>(False/True)</a:t>
            </a:r>
            <a:endParaRPr kumimoji="0" lang="en-IN" sz="1400" b="0" i="0" u="none" strike="noStrike" cap="none" normalizeH="0" baseline="0" dirty="0">
              <a:ln>
                <a:noFill/>
              </a:ln>
              <a:solidFill>
                <a:schemeClr val="tx1"/>
              </a:solidFill>
              <a:effectLst/>
              <a:latin typeface="Verdana" charset="0"/>
            </a:endParaRPr>
          </a:p>
        </p:txBody>
      </p:sp>
      <p:cxnSp>
        <p:nvCxnSpPr>
          <p:cNvPr id="16" name="Straight Arrow Connector 15">
            <a:extLst>
              <a:ext uri="{FF2B5EF4-FFF2-40B4-BE49-F238E27FC236}">
                <a16:creationId xmlns:a16="http://schemas.microsoft.com/office/drawing/2014/main" id="{2DEA6184-07E9-624D-D56F-83FE1FD8C153}"/>
              </a:ext>
            </a:extLst>
          </p:cNvPr>
          <p:cNvCxnSpPr>
            <a:stCxn id="3" idx="2"/>
          </p:cNvCxnSpPr>
          <p:nvPr/>
        </p:nvCxnSpPr>
        <p:spPr bwMode="auto">
          <a:xfrm>
            <a:off x="4216397" y="1600194"/>
            <a:ext cx="3" cy="177796"/>
          </a:xfrm>
          <a:prstGeom prst="straightConnector1">
            <a:avLst/>
          </a:prstGeom>
          <a:solidFill>
            <a:schemeClr val="accent1"/>
          </a:solidFill>
          <a:ln w="9525" cap="flat" cmpd="sng" algn="ctr">
            <a:solidFill>
              <a:srgbClr val="EB8913"/>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885B8367-0210-55F7-46D9-8AA3D93DA417}"/>
              </a:ext>
            </a:extLst>
          </p:cNvPr>
          <p:cNvCxnSpPr>
            <a:stCxn id="7" idx="2"/>
            <a:endCxn id="8" idx="0"/>
          </p:cNvCxnSpPr>
          <p:nvPr/>
        </p:nvCxnSpPr>
        <p:spPr bwMode="auto">
          <a:xfrm flipH="1">
            <a:off x="4216394" y="2235191"/>
            <a:ext cx="3" cy="186270"/>
          </a:xfrm>
          <a:prstGeom prst="straightConnector1">
            <a:avLst/>
          </a:prstGeom>
          <a:solidFill>
            <a:schemeClr val="accent1"/>
          </a:solidFill>
          <a:ln w="9525" cap="flat" cmpd="sng" algn="ctr">
            <a:solidFill>
              <a:srgbClr val="6D6D6D"/>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6384EB2D-E98D-C86A-79A5-9DEFBFA58D5B}"/>
              </a:ext>
            </a:extLst>
          </p:cNvPr>
          <p:cNvCxnSpPr>
            <a:stCxn id="8" idx="2"/>
            <a:endCxn id="9" idx="0"/>
          </p:cNvCxnSpPr>
          <p:nvPr/>
        </p:nvCxnSpPr>
        <p:spPr bwMode="auto">
          <a:xfrm flipH="1">
            <a:off x="4216393" y="2887129"/>
            <a:ext cx="1" cy="169322"/>
          </a:xfrm>
          <a:prstGeom prst="straightConnector1">
            <a:avLst/>
          </a:prstGeom>
          <a:solidFill>
            <a:schemeClr val="accent1"/>
          </a:solidFill>
          <a:ln w="9525" cap="flat" cmpd="sng" algn="ctr">
            <a:solidFill>
              <a:srgbClr val="157131"/>
            </a:solidFill>
            <a:prstDash val="solid"/>
            <a:round/>
            <a:headEnd type="none" w="med" len="med"/>
            <a:tailEnd type="triangle"/>
          </a:ln>
          <a:effectLst/>
        </p:spPr>
      </p:cxnSp>
      <p:cxnSp>
        <p:nvCxnSpPr>
          <p:cNvPr id="24" name="Connector: Elbow 23">
            <a:extLst>
              <a:ext uri="{FF2B5EF4-FFF2-40B4-BE49-F238E27FC236}">
                <a16:creationId xmlns:a16="http://schemas.microsoft.com/office/drawing/2014/main" id="{54DD3011-7E65-5469-EFBF-20FE0D5ACAFB}"/>
              </a:ext>
            </a:extLst>
          </p:cNvPr>
          <p:cNvCxnSpPr>
            <a:cxnSpLocks/>
            <a:stCxn id="8" idx="1"/>
            <a:endCxn id="10" idx="1"/>
          </p:cNvCxnSpPr>
          <p:nvPr/>
        </p:nvCxnSpPr>
        <p:spPr bwMode="auto">
          <a:xfrm rot="10800000" flipV="1">
            <a:off x="1579016" y="2654295"/>
            <a:ext cx="1375844" cy="749288"/>
          </a:xfrm>
          <a:prstGeom prst="bentConnector3">
            <a:avLst>
              <a:gd name="adj1" fmla="val 120923"/>
            </a:avLst>
          </a:prstGeom>
          <a:solidFill>
            <a:schemeClr val="accent1"/>
          </a:solidFill>
          <a:ln w="9525" cap="flat" cmpd="sng" algn="ctr">
            <a:solidFill>
              <a:srgbClr val="157131"/>
            </a:solidFill>
            <a:prstDash val="solid"/>
            <a:round/>
            <a:headEnd type="none" w="med" len="med"/>
            <a:tailEnd type="triangle"/>
          </a:ln>
          <a:effectLst/>
        </p:spPr>
      </p:cxnSp>
      <p:cxnSp>
        <p:nvCxnSpPr>
          <p:cNvPr id="28" name="Connector: Elbow 27">
            <a:extLst>
              <a:ext uri="{FF2B5EF4-FFF2-40B4-BE49-F238E27FC236}">
                <a16:creationId xmlns:a16="http://schemas.microsoft.com/office/drawing/2014/main" id="{74DC257A-9254-74E0-6869-ABABAC410421}"/>
              </a:ext>
            </a:extLst>
          </p:cNvPr>
          <p:cNvCxnSpPr>
            <a:cxnSpLocks/>
            <a:stCxn id="8" idx="3"/>
            <a:endCxn id="11" idx="3"/>
          </p:cNvCxnSpPr>
          <p:nvPr/>
        </p:nvCxnSpPr>
        <p:spPr bwMode="auto">
          <a:xfrm>
            <a:off x="5477927" y="2654295"/>
            <a:ext cx="1367370" cy="740821"/>
          </a:xfrm>
          <a:prstGeom prst="bentConnector3">
            <a:avLst>
              <a:gd name="adj1" fmla="val 121672"/>
            </a:avLst>
          </a:prstGeom>
          <a:solidFill>
            <a:schemeClr val="accent1"/>
          </a:solidFill>
          <a:ln w="9525" cap="flat" cmpd="sng" algn="ctr">
            <a:solidFill>
              <a:srgbClr val="157131"/>
            </a:solidFill>
            <a:prstDash val="solid"/>
            <a:round/>
            <a:headEnd type="none" w="med" len="med"/>
            <a:tailEnd type="triangle"/>
          </a:ln>
          <a:effectLst/>
        </p:spPr>
      </p:cxnSp>
      <p:cxnSp>
        <p:nvCxnSpPr>
          <p:cNvPr id="32" name="Straight Connector 31">
            <a:extLst>
              <a:ext uri="{FF2B5EF4-FFF2-40B4-BE49-F238E27FC236}">
                <a16:creationId xmlns:a16="http://schemas.microsoft.com/office/drawing/2014/main" id="{EE2D1390-DDA8-394C-81E4-789DE963DC17}"/>
              </a:ext>
            </a:extLst>
          </p:cNvPr>
          <p:cNvCxnSpPr>
            <a:cxnSpLocks/>
          </p:cNvCxnSpPr>
          <p:nvPr/>
        </p:nvCxnSpPr>
        <p:spPr bwMode="auto">
          <a:xfrm>
            <a:off x="2218250" y="3754949"/>
            <a:ext cx="17" cy="84681"/>
          </a:xfrm>
          <a:prstGeom prst="line">
            <a:avLst/>
          </a:prstGeom>
          <a:solidFill>
            <a:schemeClr val="accent1"/>
          </a:solidFill>
          <a:ln w="9525" cap="flat" cmpd="sng" algn="ctr">
            <a:solidFill>
              <a:srgbClr val="ECC212"/>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33509ADB-90CA-C302-80FC-A9D264024994}"/>
              </a:ext>
            </a:extLst>
          </p:cNvPr>
          <p:cNvCxnSpPr/>
          <p:nvPr/>
        </p:nvCxnSpPr>
        <p:spPr bwMode="auto">
          <a:xfrm>
            <a:off x="6239924" y="3746482"/>
            <a:ext cx="17" cy="84681"/>
          </a:xfrm>
          <a:prstGeom prst="line">
            <a:avLst/>
          </a:prstGeom>
          <a:solidFill>
            <a:schemeClr val="accent1"/>
          </a:solidFill>
          <a:ln w="9525" cap="flat" cmpd="sng" algn="ctr">
            <a:solidFill>
              <a:srgbClr val="8D65FF"/>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AE2A5D1C-E2C7-1EDE-03CF-C4F2D0FCF6B1}"/>
              </a:ext>
            </a:extLst>
          </p:cNvPr>
          <p:cNvCxnSpPr/>
          <p:nvPr/>
        </p:nvCxnSpPr>
        <p:spPr bwMode="auto">
          <a:xfrm flipV="1">
            <a:off x="2218250" y="3826929"/>
            <a:ext cx="4021674" cy="8467"/>
          </a:xfrm>
          <a:prstGeom prst="line">
            <a:avLst/>
          </a:prstGeom>
          <a:ln>
            <a:solidFill>
              <a:srgbClr val="9E686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6562B0D-C283-2E3B-D909-6202CEFE46BF}"/>
              </a:ext>
            </a:extLst>
          </p:cNvPr>
          <p:cNvCxnSpPr>
            <a:cxnSpLocks/>
          </p:cNvCxnSpPr>
          <p:nvPr/>
        </p:nvCxnSpPr>
        <p:spPr bwMode="auto">
          <a:xfrm>
            <a:off x="4216393" y="3826936"/>
            <a:ext cx="0" cy="169328"/>
          </a:xfrm>
          <a:prstGeom prst="straightConnector1">
            <a:avLst/>
          </a:prstGeom>
          <a:solidFill>
            <a:schemeClr val="accent1"/>
          </a:solidFill>
          <a:ln w="9525" cap="flat" cmpd="sng" algn="ctr">
            <a:solidFill>
              <a:srgbClr val="9E6862"/>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9B35BAD3-AB87-4EF8-3B49-D598C1A7EA2C}"/>
              </a:ext>
            </a:extLst>
          </p:cNvPr>
          <p:cNvCxnSpPr>
            <a:stCxn id="13" idx="2"/>
          </p:cNvCxnSpPr>
          <p:nvPr/>
        </p:nvCxnSpPr>
        <p:spPr bwMode="auto">
          <a:xfrm>
            <a:off x="4216393" y="5105405"/>
            <a:ext cx="0" cy="177797"/>
          </a:xfrm>
          <a:prstGeom prst="straightConnector1">
            <a:avLst/>
          </a:prstGeom>
          <a:solidFill>
            <a:schemeClr val="accent1"/>
          </a:solidFill>
          <a:ln w="9525" cap="flat" cmpd="sng" algn="ctr">
            <a:solidFill>
              <a:srgbClr val="6D6D6D"/>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13F9A566-B1EE-3C8D-458C-B9D9E368BEEA}"/>
              </a:ext>
            </a:extLst>
          </p:cNvPr>
          <p:cNvCxnSpPr>
            <a:stCxn id="12" idx="2"/>
          </p:cNvCxnSpPr>
          <p:nvPr/>
        </p:nvCxnSpPr>
        <p:spPr bwMode="auto">
          <a:xfrm>
            <a:off x="4216393" y="4470409"/>
            <a:ext cx="0" cy="169328"/>
          </a:xfrm>
          <a:prstGeom prst="straightConnector1">
            <a:avLst/>
          </a:prstGeom>
          <a:solidFill>
            <a:schemeClr val="accent1"/>
          </a:solidFill>
          <a:ln w="9525" cap="flat" cmpd="sng" algn="ctr">
            <a:solidFill>
              <a:srgbClr val="EB8913"/>
            </a:solidFill>
            <a:prstDash val="solid"/>
            <a:round/>
            <a:headEnd type="none" w="med" len="med"/>
            <a:tailEnd type="triangle"/>
          </a:ln>
          <a:effectLst/>
        </p:spPr>
      </p:cxnSp>
      <p:sp>
        <p:nvSpPr>
          <p:cNvPr id="61" name="Double Bracket 60">
            <a:extLst>
              <a:ext uri="{FF2B5EF4-FFF2-40B4-BE49-F238E27FC236}">
                <a16:creationId xmlns:a16="http://schemas.microsoft.com/office/drawing/2014/main" id="{DB54A7E8-0AAE-5B11-C977-4070905A02FE}"/>
              </a:ext>
            </a:extLst>
          </p:cNvPr>
          <p:cNvSpPr/>
          <p:nvPr/>
        </p:nvSpPr>
        <p:spPr bwMode="auto">
          <a:xfrm>
            <a:off x="6544734" y="4135936"/>
            <a:ext cx="1701800" cy="1900793"/>
          </a:xfrm>
          <a:prstGeom prst="bracketPair">
            <a:avLst>
              <a:gd name="adj" fmla="val 23857"/>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400" i="1" dirty="0">
                <a:latin typeface="Corbel" panose="020B0503020204020204" pitchFamily="34" charset="0"/>
              </a:rPr>
              <a:t>Feature extraction</a:t>
            </a:r>
          </a:p>
          <a:p>
            <a:r>
              <a:rPr lang="en-US" sz="1400" i="1" dirty="0">
                <a:latin typeface="Corbel" panose="020B0503020204020204" pitchFamily="34" charset="0"/>
              </a:rPr>
              <a:t>from </a:t>
            </a:r>
            <a:r>
              <a:rPr lang="en-US" sz="1400" i="1" dirty="0" err="1">
                <a:latin typeface="Corbel" panose="020B0503020204020204" pitchFamily="34" charset="0"/>
              </a:rPr>
              <a:t>RoBERTa</a:t>
            </a:r>
            <a:r>
              <a:rPr lang="en-US" sz="1400" i="1" dirty="0">
                <a:latin typeface="Corbel" panose="020B0503020204020204" pitchFamily="34" charset="0"/>
              </a:rPr>
              <a:t>,</a:t>
            </a:r>
          </a:p>
          <a:p>
            <a:r>
              <a:rPr lang="en-US" sz="1400" i="1" dirty="0" err="1">
                <a:latin typeface="Corbel" panose="020B0503020204020204" pitchFamily="34" charset="0"/>
              </a:rPr>
              <a:t>Bi-LSTM+attn+gru</a:t>
            </a:r>
            <a:r>
              <a:rPr lang="en-US" sz="1400" i="1" dirty="0">
                <a:latin typeface="Corbel" panose="020B0503020204020204" pitchFamily="34" charset="0"/>
              </a:rPr>
              <a:t>/</a:t>
            </a:r>
          </a:p>
          <a:p>
            <a:r>
              <a:rPr lang="en-US" sz="1400" i="1" dirty="0">
                <a:latin typeface="Corbel" panose="020B0503020204020204" pitchFamily="34" charset="0"/>
              </a:rPr>
              <a:t>Hybrid models, </a:t>
            </a:r>
          </a:p>
          <a:p>
            <a:r>
              <a:rPr lang="en-US" sz="1400" i="1" dirty="0">
                <a:latin typeface="Corbel" panose="020B0503020204020204" pitchFamily="34" charset="0"/>
              </a:rPr>
              <a:t>followed by fusion</a:t>
            </a:r>
          </a:p>
          <a:p>
            <a:r>
              <a:rPr lang="en-US" sz="1400" i="1" dirty="0">
                <a:latin typeface="Corbel" panose="020B0503020204020204" pitchFamily="34" charset="0"/>
              </a:rPr>
              <a:t> and final fake/real</a:t>
            </a:r>
          </a:p>
          <a:p>
            <a:r>
              <a:rPr lang="en-US" sz="1400" i="1" dirty="0">
                <a:latin typeface="Corbel" panose="020B0503020204020204" pitchFamily="34" charset="0"/>
              </a:rPr>
              <a:t> classification.</a:t>
            </a:r>
            <a:endParaRPr kumimoji="0" lang="en-IN" sz="1400" i="1" u="none" strike="noStrike" cap="none" normalizeH="0" baseline="0" dirty="0">
              <a:ln>
                <a:noFill/>
              </a:ln>
              <a:solidFill>
                <a:schemeClr val="tx1"/>
              </a:solidFill>
              <a:effectLst/>
              <a:latin typeface="Corbel" panose="020B0503020204020204" pitchFamily="34" charset="0"/>
            </a:endParaRPr>
          </a:p>
        </p:txBody>
      </p:sp>
    </p:spTree>
    <p:extLst>
      <p:ext uri="{BB962C8B-B14F-4D97-AF65-F5344CB8AC3E}">
        <p14:creationId xmlns:p14="http://schemas.microsoft.com/office/powerpoint/2010/main" val="811498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98B9-7821-8ACD-C792-3B5F23C9E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8411-792B-E2E6-69EC-2D600A8E4120}"/>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99606774-D02D-0AA6-E33B-F48A47CAD52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81000" indent="-285750"/>
            <a:r>
              <a:rPr lang="en-US" dirty="0">
                <a:ea typeface="Palatino" pitchFamily="2" charset="77"/>
              </a:rPr>
              <a:t>The IFND dataset needed a full cleaning pipeline because the raw text contained encoding issues, noisy characters, duplicates, HTML fragments, and uneven punctuation.</a:t>
            </a:r>
          </a:p>
          <a:p>
            <a:pPr marL="381000" indent="-285750"/>
            <a:r>
              <a:rPr lang="en-US" dirty="0">
                <a:ea typeface="Palatino" pitchFamily="2" charset="77"/>
              </a:rPr>
              <a:t>The cleaning process followed around </a:t>
            </a:r>
            <a:r>
              <a:rPr lang="en-US" b="1" dirty="0">
                <a:solidFill>
                  <a:srgbClr val="3333FF"/>
                </a:solidFill>
                <a:ea typeface="Palatino" pitchFamily="2" charset="77"/>
              </a:rPr>
              <a:t>16 small but important steps</a:t>
            </a:r>
            <a:r>
              <a:rPr lang="en-US" dirty="0">
                <a:ea typeface="Palatino" pitchFamily="2" charset="77"/>
              </a:rPr>
              <a:t>, grouped into phases for encoding fixes, structural cleaning, content formatting, and number normalization </a:t>
            </a:r>
          </a:p>
          <a:p>
            <a:pPr marL="381000" indent="-285750"/>
            <a:r>
              <a:rPr lang="en-US" dirty="0">
                <a:ea typeface="Palatino" pitchFamily="2" charset="77"/>
              </a:rPr>
              <a:t>These steps ensured that every sample looked consistent and did not confuse the models during training.</a:t>
            </a:r>
          </a:p>
          <a:p>
            <a:pPr marL="381000" indent="-285750"/>
            <a:r>
              <a:rPr lang="en-US" b="1" dirty="0">
                <a:solidFill>
                  <a:srgbClr val="3333FF"/>
                </a:solidFill>
                <a:ea typeface="Palatino" pitchFamily="2" charset="77"/>
              </a:rPr>
              <a:t>Clean data helped </a:t>
            </a:r>
            <a:r>
              <a:rPr lang="en-US" dirty="0">
                <a:ea typeface="Palatino" pitchFamily="2" charset="77"/>
              </a:rPr>
              <a:t>the models learn real linguistic patterns instead of noise, which ultimately </a:t>
            </a:r>
            <a:r>
              <a:rPr lang="en-US" b="1" dirty="0">
                <a:solidFill>
                  <a:srgbClr val="3333FF"/>
                </a:solidFill>
                <a:ea typeface="Palatino" pitchFamily="2" charset="77"/>
              </a:rPr>
              <a:t>improved stability </a:t>
            </a:r>
            <a:r>
              <a:rPr lang="en-US" dirty="0">
                <a:ea typeface="Palatino" pitchFamily="2" charset="77"/>
              </a:rPr>
              <a:t>and </a:t>
            </a:r>
            <a:r>
              <a:rPr lang="en-US" b="1" dirty="0">
                <a:solidFill>
                  <a:srgbClr val="3333FF"/>
                </a:solidFill>
                <a:ea typeface="Palatino" pitchFamily="2" charset="77"/>
              </a:rPr>
              <a:t>accuracy</a:t>
            </a:r>
            <a:r>
              <a:rPr lang="en-US" dirty="0">
                <a:ea typeface="Palatino" pitchFamily="2" charset="77"/>
              </a:rPr>
              <a:t> in testing.</a:t>
            </a:r>
          </a:p>
          <a:p>
            <a:pPr marL="381000" indent="-285750"/>
            <a:r>
              <a:rPr lang="en-US" b="1" dirty="0"/>
              <a:t>You can also see the complete preprocessing pipeline steps in the visual diagram below.</a:t>
            </a:r>
            <a:endParaRPr lang="en-IN" sz="1800" b="1" dirty="0">
              <a:ea typeface="Palatino" pitchFamily="2" charset="77"/>
            </a:endParaRPr>
          </a:p>
        </p:txBody>
      </p:sp>
    </p:spTree>
    <p:extLst>
      <p:ext uri="{BB962C8B-B14F-4D97-AF65-F5344CB8AC3E}">
        <p14:creationId xmlns:p14="http://schemas.microsoft.com/office/powerpoint/2010/main" val="2279300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2F6D-904E-856A-BB1D-99FAEA18A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1A552-01CE-4FD5-5EAD-EDF73A4862E5}"/>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5F8F2303-2E73-8E30-0D66-39D86B905EC5}"/>
              </a:ext>
            </a:extLst>
          </p:cNvPr>
          <p:cNvSpPr txBox="1">
            <a:spLocks/>
          </p:cNvSpPr>
          <p:nvPr/>
        </p:nvSpPr>
        <p:spPr bwMode="auto">
          <a:xfrm>
            <a:off x="138392" y="724542"/>
            <a:ext cx="8956714" cy="592549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nSpc>
                <a:spcPct val="100000"/>
              </a:lnSpc>
              <a:buNone/>
            </a:pPr>
            <a:r>
              <a:rPr lang="en-IN" b="1" dirty="0">
                <a:ea typeface="Palatino" pitchFamily="2" charset="77"/>
              </a:rPr>
              <a:t>Preprocessing </a:t>
            </a:r>
          </a:p>
          <a:p>
            <a:pPr marL="95250" indent="0">
              <a:lnSpc>
                <a:spcPct val="100000"/>
              </a:lnSpc>
              <a:buNone/>
            </a:pPr>
            <a:r>
              <a:rPr lang="en-IN" b="1" dirty="0">
                <a:ea typeface="Palatino" pitchFamily="2" charset="77"/>
              </a:rPr>
              <a:t>Pipeline:</a:t>
            </a: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nSpc>
                <a:spcPct val="100000"/>
              </a:lnSpc>
              <a:buNone/>
            </a:pPr>
            <a:endParaRPr lang="en-IN" b="1" dirty="0">
              <a:ea typeface="Palatino" pitchFamily="2" charset="77"/>
            </a:endParaRPr>
          </a:p>
          <a:p>
            <a:pPr marL="95250" indent="0" algn="l">
              <a:lnSpc>
                <a:spcPct val="100000"/>
              </a:lnSpc>
              <a:buNone/>
            </a:pPr>
            <a:endParaRPr lang="en-IN" sz="1800" b="1" dirty="0">
              <a:ea typeface="Palatino" pitchFamily="2" charset="77"/>
            </a:endParaRPr>
          </a:p>
        </p:txBody>
      </p:sp>
      <p:sp>
        <p:nvSpPr>
          <p:cNvPr id="5" name="Rectangle: Rounded Corners 4">
            <a:extLst>
              <a:ext uri="{FF2B5EF4-FFF2-40B4-BE49-F238E27FC236}">
                <a16:creationId xmlns:a16="http://schemas.microsoft.com/office/drawing/2014/main" id="{1CA5393C-5864-2CD0-0867-2A3EF3315C1B}"/>
              </a:ext>
            </a:extLst>
          </p:cNvPr>
          <p:cNvSpPr/>
          <p:nvPr/>
        </p:nvSpPr>
        <p:spPr bwMode="auto">
          <a:xfrm>
            <a:off x="5487573" y="763501"/>
            <a:ext cx="840736" cy="199904"/>
          </a:xfrm>
          <a:prstGeom prst="roundRect">
            <a:avLst>
              <a:gd name="adj" fmla="val 11021"/>
            </a:avLst>
          </a:prstGeom>
          <a:solidFill>
            <a:srgbClr val="F8CBAD"/>
          </a:solidFill>
          <a:ln w="9525">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Raw IFND Dataset</a:t>
            </a:r>
          </a:p>
        </p:txBody>
      </p:sp>
      <p:sp>
        <p:nvSpPr>
          <p:cNvPr id="6" name="Rectangle: Rounded Corners 5">
            <a:extLst>
              <a:ext uri="{FF2B5EF4-FFF2-40B4-BE49-F238E27FC236}">
                <a16:creationId xmlns:a16="http://schemas.microsoft.com/office/drawing/2014/main" id="{B3251DF3-A734-F5DD-EAE0-1950FE770E73}"/>
              </a:ext>
            </a:extLst>
          </p:cNvPr>
          <p:cNvSpPr/>
          <p:nvPr/>
        </p:nvSpPr>
        <p:spPr bwMode="auto">
          <a:xfrm>
            <a:off x="4392561" y="1096434"/>
            <a:ext cx="3030717" cy="1507067"/>
          </a:xfrm>
          <a:prstGeom prst="roundRect">
            <a:avLst>
              <a:gd name="adj" fmla="val 5993"/>
            </a:avLst>
          </a:prstGeom>
          <a:ln w="9525">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7" name="Rectangle: Rounded Corners 6">
            <a:extLst>
              <a:ext uri="{FF2B5EF4-FFF2-40B4-BE49-F238E27FC236}">
                <a16:creationId xmlns:a16="http://schemas.microsoft.com/office/drawing/2014/main" id="{E4A6DB5F-A2DB-56AB-5115-D3DC87ACFE6D}"/>
              </a:ext>
            </a:extLst>
          </p:cNvPr>
          <p:cNvSpPr/>
          <p:nvPr/>
        </p:nvSpPr>
        <p:spPr bwMode="auto">
          <a:xfrm>
            <a:off x="4385923" y="2937883"/>
            <a:ext cx="3030717" cy="1075268"/>
          </a:xfrm>
          <a:prstGeom prst="roundRect">
            <a:avLst>
              <a:gd name="adj" fmla="val 6750"/>
            </a:avLst>
          </a:prstGeom>
          <a:ln w="9525">
            <a:solidFill>
              <a:srgbClr val="90BDD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8" name="Rectangle: Rounded Corners 7">
            <a:extLst>
              <a:ext uri="{FF2B5EF4-FFF2-40B4-BE49-F238E27FC236}">
                <a16:creationId xmlns:a16="http://schemas.microsoft.com/office/drawing/2014/main" id="{9CB62EC7-7E90-5CFC-83A3-5BD2EEF14E02}"/>
              </a:ext>
            </a:extLst>
          </p:cNvPr>
          <p:cNvSpPr/>
          <p:nvPr/>
        </p:nvSpPr>
        <p:spPr bwMode="auto">
          <a:xfrm>
            <a:off x="4392561" y="4356094"/>
            <a:ext cx="3030718" cy="1492332"/>
          </a:xfrm>
          <a:prstGeom prst="roundRect">
            <a:avLst>
              <a:gd name="adj" fmla="val 4971"/>
            </a:avLst>
          </a:prstGeom>
          <a:ln w="9525">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dirty="0">
              <a:ln>
                <a:noFill/>
              </a:ln>
              <a:solidFill>
                <a:schemeClr val="tx1"/>
              </a:solidFill>
              <a:effectLst/>
              <a:latin typeface="Verdana" charset="0"/>
            </a:endParaRPr>
          </a:p>
        </p:txBody>
      </p:sp>
      <p:sp>
        <p:nvSpPr>
          <p:cNvPr id="9" name="Rectangle: Rounded Corners 8">
            <a:extLst>
              <a:ext uri="{FF2B5EF4-FFF2-40B4-BE49-F238E27FC236}">
                <a16:creationId xmlns:a16="http://schemas.microsoft.com/office/drawing/2014/main" id="{20A49C08-D788-F4D9-E3ED-1E30F2ADFFA8}"/>
              </a:ext>
            </a:extLst>
          </p:cNvPr>
          <p:cNvSpPr/>
          <p:nvPr/>
        </p:nvSpPr>
        <p:spPr bwMode="auto">
          <a:xfrm>
            <a:off x="4725700" y="6071100"/>
            <a:ext cx="2404533" cy="402811"/>
          </a:xfrm>
          <a:prstGeom prst="roundRect">
            <a:avLst/>
          </a:prstGeom>
          <a:ln w="9525">
            <a:solidFill>
              <a:srgbClr val="A28FB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3" name="Rectangle: Rounded Corners 2">
            <a:extLst>
              <a:ext uri="{FF2B5EF4-FFF2-40B4-BE49-F238E27FC236}">
                <a16:creationId xmlns:a16="http://schemas.microsoft.com/office/drawing/2014/main" id="{A59749B3-8B89-3368-B05D-A23A4445A252}"/>
              </a:ext>
            </a:extLst>
          </p:cNvPr>
          <p:cNvSpPr/>
          <p:nvPr/>
        </p:nvSpPr>
        <p:spPr bwMode="auto">
          <a:xfrm>
            <a:off x="4686311" y="1231043"/>
            <a:ext cx="2438400" cy="238760"/>
          </a:xfrm>
          <a:prstGeom prst="roundRect">
            <a:avLst>
              <a:gd name="adj" fmla="val 12412"/>
            </a:avLst>
          </a:prstGeom>
          <a:solidFill>
            <a:srgbClr val="ED7D31"/>
          </a:solidFill>
          <a:ln w="6350">
            <a:solidFill>
              <a:schemeClr val="tx1">
                <a:lumMod val="95000"/>
                <a:lumOff val="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 Ingestion &amp; Encoding Correction</a:t>
            </a:r>
          </a:p>
        </p:txBody>
      </p:sp>
      <p:sp>
        <p:nvSpPr>
          <p:cNvPr id="10" name="Rectangle: Rounded Corners 9">
            <a:extLst>
              <a:ext uri="{FF2B5EF4-FFF2-40B4-BE49-F238E27FC236}">
                <a16:creationId xmlns:a16="http://schemas.microsoft.com/office/drawing/2014/main" id="{0EAB5229-A7BB-675C-29FF-3A91EEA7E819}"/>
              </a:ext>
            </a:extLst>
          </p:cNvPr>
          <p:cNvSpPr/>
          <p:nvPr/>
        </p:nvSpPr>
        <p:spPr bwMode="auto">
          <a:xfrm>
            <a:off x="4516120" y="1571420"/>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Unicode &amp; </a:t>
            </a:r>
          </a:p>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Cleanup</a:t>
            </a:r>
          </a:p>
        </p:txBody>
      </p:sp>
      <p:sp>
        <p:nvSpPr>
          <p:cNvPr id="11" name="Rectangle: Rounded Corners 10">
            <a:extLst>
              <a:ext uri="{FF2B5EF4-FFF2-40B4-BE49-F238E27FC236}">
                <a16:creationId xmlns:a16="http://schemas.microsoft.com/office/drawing/2014/main" id="{A127046D-4C47-230A-B2C4-9DB6927D9901}"/>
              </a:ext>
            </a:extLst>
          </p:cNvPr>
          <p:cNvSpPr/>
          <p:nvPr/>
        </p:nvSpPr>
        <p:spPr bwMode="auto">
          <a:xfrm>
            <a:off x="5530443" y="1573943"/>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Mojibake Fix</a:t>
            </a:r>
          </a:p>
        </p:txBody>
      </p:sp>
      <p:sp>
        <p:nvSpPr>
          <p:cNvPr id="12" name="Rectangle: Rounded Corners 11">
            <a:extLst>
              <a:ext uri="{FF2B5EF4-FFF2-40B4-BE49-F238E27FC236}">
                <a16:creationId xmlns:a16="http://schemas.microsoft.com/office/drawing/2014/main" id="{9A159CD6-C91B-6839-0166-DC4D2F7E44F0}"/>
              </a:ext>
            </a:extLst>
          </p:cNvPr>
          <p:cNvSpPr/>
          <p:nvPr/>
        </p:nvSpPr>
        <p:spPr bwMode="auto">
          <a:xfrm>
            <a:off x="6544765" y="1575220"/>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Apostrophe Fixes</a:t>
            </a:r>
          </a:p>
        </p:txBody>
      </p:sp>
      <p:sp>
        <p:nvSpPr>
          <p:cNvPr id="13" name="Rectangle: Rounded Corners 12">
            <a:extLst>
              <a:ext uri="{FF2B5EF4-FFF2-40B4-BE49-F238E27FC236}">
                <a16:creationId xmlns:a16="http://schemas.microsoft.com/office/drawing/2014/main" id="{1C5AB151-4C5E-2392-9E77-A022C40DCFBD}"/>
              </a:ext>
            </a:extLst>
          </p:cNvPr>
          <p:cNvSpPr/>
          <p:nvPr/>
        </p:nvSpPr>
        <p:spPr bwMode="auto">
          <a:xfrm>
            <a:off x="4516120" y="2057400"/>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Symbol &amp;</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Punctuation Fix</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4424B145-6B7C-AAA9-D00F-DB3D49E54B2C}"/>
              </a:ext>
            </a:extLst>
          </p:cNvPr>
          <p:cNvSpPr/>
          <p:nvPr/>
        </p:nvSpPr>
        <p:spPr bwMode="auto">
          <a:xfrm>
            <a:off x="5530442" y="2057400"/>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IN" sz="700" dirty="0">
                <a:latin typeface="Times New Roman" panose="02020603050405020304" pitchFamily="18" charset="0"/>
                <a:cs typeface="Times New Roman" panose="02020603050405020304" pitchFamily="18" charset="0"/>
              </a:rPr>
              <a:t>Stray Ó / Quote </a:t>
            </a:r>
          </a:p>
          <a:p>
            <a:pPr algn="ctr"/>
            <a:r>
              <a:rPr lang="en-IN" sz="700" dirty="0">
                <a:latin typeface="Times New Roman" panose="02020603050405020304" pitchFamily="18" charset="0"/>
                <a:cs typeface="Times New Roman" panose="02020603050405020304" pitchFamily="18" charset="0"/>
              </a:rPr>
              <a:t>Fix</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7758A1CE-98E6-0D4D-7405-B450A7CE3A65}"/>
              </a:ext>
            </a:extLst>
          </p:cNvPr>
          <p:cNvSpPr/>
          <p:nvPr/>
        </p:nvSpPr>
        <p:spPr bwMode="auto">
          <a:xfrm>
            <a:off x="6544765" y="2057400"/>
            <a:ext cx="741680" cy="314960"/>
          </a:xfrm>
          <a:prstGeom prst="roundRect">
            <a:avLst/>
          </a:prstGeom>
          <a:solidFill>
            <a:srgbClr val="F8CBAD"/>
          </a:solidFill>
          <a:ln w="6350">
            <a:solidFill>
              <a:srgbClr val="F0995E"/>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Encoding</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Repair</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8DDEE397-35A1-C634-80DA-C00FCD75719C}"/>
              </a:ext>
            </a:extLst>
          </p:cNvPr>
          <p:cNvSpPr/>
          <p:nvPr/>
        </p:nvSpPr>
        <p:spPr bwMode="auto">
          <a:xfrm>
            <a:off x="4686311" y="3076770"/>
            <a:ext cx="2438400" cy="238760"/>
          </a:xfrm>
          <a:prstGeom prst="roundRect">
            <a:avLst>
              <a:gd name="adj" fmla="val 12412"/>
            </a:avLst>
          </a:prstGeom>
          <a:solidFill>
            <a:srgbClr val="1D6691"/>
          </a:solidFill>
          <a:ln w="635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Structural Cleaning &amp; Deduplication</a:t>
            </a:r>
          </a:p>
        </p:txBody>
      </p:sp>
      <p:sp>
        <p:nvSpPr>
          <p:cNvPr id="17" name="Rectangle: Rounded Corners 16">
            <a:extLst>
              <a:ext uri="{FF2B5EF4-FFF2-40B4-BE49-F238E27FC236}">
                <a16:creationId xmlns:a16="http://schemas.microsoft.com/office/drawing/2014/main" id="{465C584A-B050-67F6-0790-C1572E849E2E}"/>
              </a:ext>
            </a:extLst>
          </p:cNvPr>
          <p:cNvSpPr/>
          <p:nvPr/>
        </p:nvSpPr>
        <p:spPr bwMode="auto">
          <a:xfrm>
            <a:off x="4516120" y="3490350"/>
            <a:ext cx="741680" cy="314960"/>
          </a:xfrm>
          <a:prstGeom prst="roundRect">
            <a:avLst/>
          </a:prstGeom>
          <a:solidFill>
            <a:srgbClr val="BFDFEF"/>
          </a:solidFill>
          <a:ln w="6350">
            <a:solidFill>
              <a:srgbClr val="90BDD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Drop Null/Empty</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rows</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AA5E9346-C246-63A3-F257-D158A016FD22}"/>
              </a:ext>
            </a:extLst>
          </p:cNvPr>
          <p:cNvSpPr/>
          <p:nvPr/>
        </p:nvSpPr>
        <p:spPr bwMode="auto">
          <a:xfrm>
            <a:off x="5537079" y="3492467"/>
            <a:ext cx="741680" cy="314960"/>
          </a:xfrm>
          <a:prstGeom prst="roundRect">
            <a:avLst/>
          </a:prstGeom>
          <a:solidFill>
            <a:srgbClr val="BFDFEF"/>
          </a:solidFill>
          <a:ln w="6350">
            <a:solidFill>
              <a:srgbClr val="90BDD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 Exact </a:t>
            </a:r>
          </a:p>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Duplicate</a:t>
            </a:r>
          </a:p>
        </p:txBody>
      </p:sp>
      <p:sp>
        <p:nvSpPr>
          <p:cNvPr id="19" name="Rectangle: Rounded Corners 18">
            <a:extLst>
              <a:ext uri="{FF2B5EF4-FFF2-40B4-BE49-F238E27FC236}">
                <a16:creationId xmlns:a16="http://schemas.microsoft.com/office/drawing/2014/main" id="{09440FF9-942B-4EDF-92A4-5A16C9B5BDC3}"/>
              </a:ext>
            </a:extLst>
          </p:cNvPr>
          <p:cNvSpPr/>
          <p:nvPr/>
        </p:nvSpPr>
        <p:spPr bwMode="auto">
          <a:xfrm>
            <a:off x="6544765" y="3492467"/>
            <a:ext cx="741680" cy="314960"/>
          </a:xfrm>
          <a:prstGeom prst="roundRect">
            <a:avLst/>
          </a:prstGeom>
          <a:solidFill>
            <a:srgbClr val="BFDFEF"/>
          </a:solidFill>
          <a:ln w="6350">
            <a:solidFill>
              <a:srgbClr val="90BDD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Near-Dupe</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Removal</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60488896-A2DF-23B2-5D2E-597533E12964}"/>
              </a:ext>
            </a:extLst>
          </p:cNvPr>
          <p:cNvSpPr/>
          <p:nvPr/>
        </p:nvSpPr>
        <p:spPr bwMode="auto">
          <a:xfrm>
            <a:off x="4682083" y="4520330"/>
            <a:ext cx="2438400" cy="238760"/>
          </a:xfrm>
          <a:prstGeom prst="roundRect">
            <a:avLst>
              <a:gd name="adj" fmla="val 12412"/>
            </a:avLst>
          </a:prstGeom>
          <a:solidFill>
            <a:srgbClr val="186F51"/>
          </a:solidFill>
          <a:ln w="6350">
            <a:solidFill>
              <a:schemeClr val="tx1">
                <a:lumMod val="95000"/>
                <a:lumOff val="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Content Standardization &amp; Formatting</a:t>
            </a:r>
          </a:p>
        </p:txBody>
      </p:sp>
      <p:sp>
        <p:nvSpPr>
          <p:cNvPr id="21" name="Rectangle: Rounded Corners 20">
            <a:extLst>
              <a:ext uri="{FF2B5EF4-FFF2-40B4-BE49-F238E27FC236}">
                <a16:creationId xmlns:a16="http://schemas.microsoft.com/office/drawing/2014/main" id="{CD19EF39-4D81-D7CD-38A5-FBE2FFD84037}"/>
              </a:ext>
            </a:extLst>
          </p:cNvPr>
          <p:cNvSpPr/>
          <p:nvPr/>
        </p:nvSpPr>
        <p:spPr bwMode="auto">
          <a:xfrm>
            <a:off x="4524592" y="4933520"/>
            <a:ext cx="741680" cy="314960"/>
          </a:xfrm>
          <a:prstGeom prst="roundRect">
            <a:avLst/>
          </a:prstGeom>
          <a:solidFill>
            <a:srgbClr val="CDE0C7"/>
          </a:solidFill>
          <a:ln w="6350">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WS/Quote </a:t>
            </a:r>
          </a:p>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Normalization</a:t>
            </a:r>
          </a:p>
        </p:txBody>
      </p:sp>
      <p:sp>
        <p:nvSpPr>
          <p:cNvPr id="22" name="Rectangle: Rounded Corners 21">
            <a:extLst>
              <a:ext uri="{FF2B5EF4-FFF2-40B4-BE49-F238E27FC236}">
                <a16:creationId xmlns:a16="http://schemas.microsoft.com/office/drawing/2014/main" id="{7727E603-4962-374F-1FB6-82AC900C99B7}"/>
              </a:ext>
            </a:extLst>
          </p:cNvPr>
          <p:cNvSpPr/>
          <p:nvPr/>
        </p:nvSpPr>
        <p:spPr bwMode="auto">
          <a:xfrm>
            <a:off x="5530443" y="4933520"/>
            <a:ext cx="741680" cy="314960"/>
          </a:xfrm>
          <a:prstGeom prst="roundRect">
            <a:avLst/>
          </a:prstGeom>
          <a:solidFill>
            <a:srgbClr val="CDE0C7"/>
          </a:solidFill>
          <a:ln w="6350">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Removal HTML</a:t>
            </a:r>
          </a:p>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&amp; </a:t>
            </a:r>
            <a:r>
              <a:rPr lang="en-IN" sz="700" dirty="0">
                <a:solidFill>
                  <a:schemeClr val="tx1"/>
                </a:solidFill>
                <a:latin typeface="Times New Roman" panose="02020603050405020304" pitchFamily="18" charset="0"/>
                <a:cs typeface="Times New Roman" panose="02020603050405020304" pitchFamily="18" charset="0"/>
              </a:rPr>
              <a:t>inline credits</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Rounded Corners 22">
            <a:extLst>
              <a:ext uri="{FF2B5EF4-FFF2-40B4-BE49-F238E27FC236}">
                <a16:creationId xmlns:a16="http://schemas.microsoft.com/office/drawing/2014/main" id="{D636AA3F-44CC-B335-D0E2-AECA4480F6E9}"/>
              </a:ext>
            </a:extLst>
          </p:cNvPr>
          <p:cNvSpPr/>
          <p:nvPr/>
        </p:nvSpPr>
        <p:spPr bwMode="auto">
          <a:xfrm>
            <a:off x="6544765" y="4930980"/>
            <a:ext cx="741680" cy="314960"/>
          </a:xfrm>
          <a:prstGeom prst="roundRect">
            <a:avLst/>
          </a:prstGeom>
          <a:solidFill>
            <a:srgbClr val="CDE0C7"/>
          </a:solidFill>
          <a:ln w="6350">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URL/Email/</a:t>
            </a:r>
            <a:r>
              <a:rPr lang="en-IN" sz="700" dirty="0" err="1">
                <a:solidFill>
                  <a:schemeClr val="tx1"/>
                </a:solidFill>
                <a:latin typeface="Times New Roman" panose="02020603050405020304" pitchFamily="18" charset="0"/>
                <a:cs typeface="Times New Roman" panose="02020603050405020304" pitchFamily="18" charset="0"/>
              </a:rPr>
              <a:t>Htag</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ED457AB7-A7E0-7336-3860-7BAF5B98FFBD}"/>
              </a:ext>
            </a:extLst>
          </p:cNvPr>
          <p:cNvSpPr/>
          <p:nvPr/>
        </p:nvSpPr>
        <p:spPr bwMode="auto">
          <a:xfrm>
            <a:off x="4991911" y="5363637"/>
            <a:ext cx="741680" cy="314960"/>
          </a:xfrm>
          <a:prstGeom prst="roundRect">
            <a:avLst/>
          </a:prstGeom>
          <a:solidFill>
            <a:srgbClr val="CDE0C7"/>
          </a:solidFill>
          <a:ln w="6350">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Mild Symbol</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Cleaning</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5" name="Rectangle: Rounded Corners 24">
            <a:extLst>
              <a:ext uri="{FF2B5EF4-FFF2-40B4-BE49-F238E27FC236}">
                <a16:creationId xmlns:a16="http://schemas.microsoft.com/office/drawing/2014/main" id="{3FC63B55-71A3-6AA8-8006-D3904D74EAE4}"/>
              </a:ext>
            </a:extLst>
          </p:cNvPr>
          <p:cNvSpPr/>
          <p:nvPr/>
        </p:nvSpPr>
        <p:spPr bwMode="auto">
          <a:xfrm>
            <a:off x="6071547" y="5363637"/>
            <a:ext cx="741680" cy="314960"/>
          </a:xfrm>
          <a:prstGeom prst="roundRect">
            <a:avLst/>
          </a:prstGeom>
          <a:solidFill>
            <a:srgbClr val="CDE0C7"/>
          </a:solidFill>
          <a:ln w="6350">
            <a:solidFill>
              <a:srgbClr val="A9C4A8"/>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 Number</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Normalization</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723A4F0B-B11C-959C-3A9A-97A57CE5328B}"/>
              </a:ext>
            </a:extLst>
          </p:cNvPr>
          <p:cNvSpPr/>
          <p:nvPr/>
        </p:nvSpPr>
        <p:spPr bwMode="auto">
          <a:xfrm>
            <a:off x="4877652" y="6136210"/>
            <a:ext cx="806450" cy="273050"/>
          </a:xfrm>
          <a:prstGeom prst="roundRect">
            <a:avLst>
              <a:gd name="adj" fmla="val 14342"/>
            </a:avLst>
          </a:prstGeom>
          <a:solidFill>
            <a:srgbClr val="E1DDE7"/>
          </a:solidFill>
          <a:ln w="6350">
            <a:solidFill>
              <a:srgbClr val="A28FB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Source-Boilerplate</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Mitigation</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350AC68D-A10B-CC8B-E533-EB60D122E4BD}"/>
              </a:ext>
            </a:extLst>
          </p:cNvPr>
          <p:cNvSpPr/>
          <p:nvPr/>
        </p:nvSpPr>
        <p:spPr bwMode="auto">
          <a:xfrm>
            <a:off x="6169500" y="6135979"/>
            <a:ext cx="806450" cy="273050"/>
          </a:xfrm>
          <a:prstGeom prst="roundRect">
            <a:avLst>
              <a:gd name="adj" fmla="val 14342"/>
            </a:avLst>
          </a:prstGeom>
          <a:solidFill>
            <a:srgbClr val="E1DDE7"/>
          </a:solidFill>
          <a:ln w="6350">
            <a:solidFill>
              <a:srgbClr val="A28FB3"/>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512 Token Limit &amp;</a:t>
            </a:r>
          </a:p>
          <a:p>
            <a:pPr marL="0" marR="0" indent="0" algn="ctr" defTabSz="914400" rtl="0" eaLnBrk="0" fontAlgn="base" latinLnBrk="0" hangingPunct="0">
              <a:lnSpc>
                <a:spcPct val="100000"/>
              </a:lnSpc>
              <a:spcBef>
                <a:spcPct val="0"/>
              </a:spcBef>
              <a:spcAft>
                <a:spcPct val="0"/>
              </a:spcAft>
              <a:buClrTx/>
              <a:buSzTx/>
              <a:buFontTx/>
              <a:buNone/>
              <a:tabLst/>
            </a:pPr>
            <a:r>
              <a:rPr lang="en-IN" sz="700" dirty="0">
                <a:solidFill>
                  <a:schemeClr val="tx1"/>
                </a:solidFill>
                <a:latin typeface="Times New Roman" panose="02020603050405020304" pitchFamily="18" charset="0"/>
                <a:cs typeface="Times New Roman" panose="02020603050405020304" pitchFamily="18" charset="0"/>
              </a:rPr>
              <a:t>Min-Length</a:t>
            </a:r>
            <a:endParaRPr kumimoji="0" lang="en-IN"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8" name="Left Brace 27">
            <a:extLst>
              <a:ext uri="{FF2B5EF4-FFF2-40B4-BE49-F238E27FC236}">
                <a16:creationId xmlns:a16="http://schemas.microsoft.com/office/drawing/2014/main" id="{50AA7F2E-C525-1616-FDB7-42345190E65B}"/>
              </a:ext>
            </a:extLst>
          </p:cNvPr>
          <p:cNvSpPr/>
          <p:nvPr/>
        </p:nvSpPr>
        <p:spPr bwMode="auto">
          <a:xfrm>
            <a:off x="4092432" y="1211471"/>
            <a:ext cx="237744" cy="1265777"/>
          </a:xfrm>
          <a:prstGeom prst="leftBrace">
            <a:avLst>
              <a:gd name="adj1" fmla="val 61751"/>
              <a:gd name="adj2" fmla="val 50000"/>
            </a:avLst>
          </a:prstGeom>
          <a:solidFill>
            <a:schemeClr val="bg1"/>
          </a:solidFill>
          <a:ln w="9525" cap="flat" cmpd="sng" algn="ctr">
            <a:solidFill>
              <a:srgbClr val="F0995E"/>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29" name="Left Brace 28">
            <a:extLst>
              <a:ext uri="{FF2B5EF4-FFF2-40B4-BE49-F238E27FC236}">
                <a16:creationId xmlns:a16="http://schemas.microsoft.com/office/drawing/2014/main" id="{A1A026C4-952A-0D51-619C-A660F0A2EE20}"/>
              </a:ext>
            </a:extLst>
          </p:cNvPr>
          <p:cNvSpPr/>
          <p:nvPr/>
        </p:nvSpPr>
        <p:spPr bwMode="auto">
          <a:xfrm>
            <a:off x="4091299" y="3021012"/>
            <a:ext cx="237744" cy="901701"/>
          </a:xfrm>
          <a:prstGeom prst="leftBrace">
            <a:avLst>
              <a:gd name="adj1" fmla="val 49287"/>
              <a:gd name="adj2" fmla="val 50000"/>
            </a:avLst>
          </a:prstGeom>
          <a:solidFill>
            <a:schemeClr val="bg1"/>
          </a:solidFill>
          <a:ln w="9525" cap="flat" cmpd="sng" algn="ctr">
            <a:solidFill>
              <a:srgbClr val="90BDD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30" name="Left Brace 29">
            <a:extLst>
              <a:ext uri="{FF2B5EF4-FFF2-40B4-BE49-F238E27FC236}">
                <a16:creationId xmlns:a16="http://schemas.microsoft.com/office/drawing/2014/main" id="{E36EC98D-F050-ECC8-0E30-889F6C1E10C6}"/>
              </a:ext>
            </a:extLst>
          </p:cNvPr>
          <p:cNvSpPr/>
          <p:nvPr/>
        </p:nvSpPr>
        <p:spPr bwMode="auto">
          <a:xfrm>
            <a:off x="4091299" y="4465967"/>
            <a:ext cx="237744" cy="1265777"/>
          </a:xfrm>
          <a:prstGeom prst="leftBrace">
            <a:avLst>
              <a:gd name="adj1" fmla="val 61752"/>
              <a:gd name="adj2" fmla="val 50000"/>
            </a:avLst>
          </a:prstGeom>
          <a:solidFill>
            <a:schemeClr val="bg1"/>
          </a:solidFill>
          <a:ln w="9525" cap="flat" cmpd="sng" algn="ctr">
            <a:solidFill>
              <a:srgbClr val="A9C4A8"/>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31" name="Right Brace 30">
            <a:extLst>
              <a:ext uri="{FF2B5EF4-FFF2-40B4-BE49-F238E27FC236}">
                <a16:creationId xmlns:a16="http://schemas.microsoft.com/office/drawing/2014/main" id="{6372F171-0C87-1876-3D3B-D4642ED662C3}"/>
              </a:ext>
            </a:extLst>
          </p:cNvPr>
          <p:cNvSpPr/>
          <p:nvPr/>
        </p:nvSpPr>
        <p:spPr bwMode="auto">
          <a:xfrm>
            <a:off x="7184390" y="6119286"/>
            <a:ext cx="76200" cy="303213"/>
          </a:xfrm>
          <a:prstGeom prst="rightBrace">
            <a:avLst>
              <a:gd name="adj1" fmla="val 53988"/>
              <a:gd name="adj2" fmla="val 50000"/>
            </a:avLst>
          </a:prstGeom>
          <a:solidFill>
            <a:schemeClr val="bg1"/>
          </a:solidFill>
          <a:ln w="9525" cap="flat" cmpd="sng" algn="ctr">
            <a:solidFill>
              <a:srgbClr val="A28FB3"/>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charset="0"/>
            </a:endParaRPr>
          </a:p>
        </p:txBody>
      </p:sp>
      <p:sp>
        <p:nvSpPr>
          <p:cNvPr id="32" name="Rectangle: Rounded Corners 31">
            <a:extLst>
              <a:ext uri="{FF2B5EF4-FFF2-40B4-BE49-F238E27FC236}">
                <a16:creationId xmlns:a16="http://schemas.microsoft.com/office/drawing/2014/main" id="{0DFFF5D0-206F-7A4C-8EB4-0534C6F51F2D}"/>
              </a:ext>
            </a:extLst>
          </p:cNvPr>
          <p:cNvSpPr/>
          <p:nvPr/>
        </p:nvSpPr>
        <p:spPr bwMode="auto">
          <a:xfrm rot="16200000">
            <a:off x="3667436" y="1726884"/>
            <a:ext cx="556896" cy="234950"/>
          </a:xfrm>
          <a:prstGeom prst="roundRect">
            <a:avLst>
              <a:gd name="adj" fmla="val 15165"/>
            </a:avLst>
          </a:prstGeom>
          <a:solidFill>
            <a:srgbClr val="F8CBAD"/>
          </a:solidFill>
          <a:ln w="9525" cap="flat" cmpd="sng" algn="ctr">
            <a:solidFill>
              <a:srgbClr val="F0995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Phase1</a:t>
            </a:r>
          </a:p>
        </p:txBody>
      </p:sp>
      <p:sp>
        <p:nvSpPr>
          <p:cNvPr id="33" name="Rectangle: Rounded Corners 32">
            <a:extLst>
              <a:ext uri="{FF2B5EF4-FFF2-40B4-BE49-F238E27FC236}">
                <a16:creationId xmlns:a16="http://schemas.microsoft.com/office/drawing/2014/main" id="{DB2AEF80-0324-4370-34AD-A8BBD4757E39}"/>
              </a:ext>
            </a:extLst>
          </p:cNvPr>
          <p:cNvSpPr/>
          <p:nvPr/>
        </p:nvSpPr>
        <p:spPr bwMode="auto">
          <a:xfrm rot="16200000">
            <a:off x="3668493" y="3353856"/>
            <a:ext cx="556896" cy="234950"/>
          </a:xfrm>
          <a:prstGeom prst="roundRect">
            <a:avLst>
              <a:gd name="adj" fmla="val 15165"/>
            </a:avLst>
          </a:prstGeom>
          <a:solidFill>
            <a:srgbClr val="BFDFEF"/>
          </a:solidFill>
          <a:ln w="9525" cap="flat" cmpd="sng" algn="ctr">
            <a:solidFill>
              <a:srgbClr val="90BDD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Phase2</a:t>
            </a:r>
          </a:p>
        </p:txBody>
      </p:sp>
      <p:sp>
        <p:nvSpPr>
          <p:cNvPr id="34" name="Rectangle: Rounded Corners 33">
            <a:extLst>
              <a:ext uri="{FF2B5EF4-FFF2-40B4-BE49-F238E27FC236}">
                <a16:creationId xmlns:a16="http://schemas.microsoft.com/office/drawing/2014/main" id="{93D781A9-2A34-43C7-CFC1-AE8BB9A57C3E}"/>
              </a:ext>
            </a:extLst>
          </p:cNvPr>
          <p:cNvSpPr/>
          <p:nvPr/>
        </p:nvSpPr>
        <p:spPr bwMode="auto">
          <a:xfrm rot="16200000">
            <a:off x="3669796" y="4983329"/>
            <a:ext cx="556896" cy="234950"/>
          </a:xfrm>
          <a:prstGeom prst="roundRect">
            <a:avLst>
              <a:gd name="adj" fmla="val 15165"/>
            </a:avLst>
          </a:prstGeom>
          <a:solidFill>
            <a:srgbClr val="CDE0C7"/>
          </a:solidFill>
          <a:ln w="9525" cap="flat" cmpd="sng" algn="ctr">
            <a:solidFill>
              <a:srgbClr val="A9C4A8"/>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Phase3</a:t>
            </a:r>
          </a:p>
        </p:txBody>
      </p:sp>
      <p:sp>
        <p:nvSpPr>
          <p:cNvPr id="35" name="Rectangle: Rounded Corners 34">
            <a:extLst>
              <a:ext uri="{FF2B5EF4-FFF2-40B4-BE49-F238E27FC236}">
                <a16:creationId xmlns:a16="http://schemas.microsoft.com/office/drawing/2014/main" id="{958B2D9D-6DF7-89BB-70DA-9804C6A9846D}"/>
              </a:ext>
            </a:extLst>
          </p:cNvPr>
          <p:cNvSpPr/>
          <p:nvPr/>
        </p:nvSpPr>
        <p:spPr bwMode="auto">
          <a:xfrm rot="16200000">
            <a:off x="7172584" y="6190495"/>
            <a:ext cx="387376" cy="158750"/>
          </a:xfrm>
          <a:prstGeom prst="roundRect">
            <a:avLst>
              <a:gd name="adj" fmla="val 15165"/>
            </a:avLst>
          </a:prstGeom>
          <a:solidFill>
            <a:srgbClr val="E1DDE7"/>
          </a:solidFill>
          <a:ln w="9525" cap="flat" cmpd="sng" algn="ctr">
            <a:solidFill>
              <a:srgbClr val="A28FB3"/>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Phase4</a:t>
            </a:r>
          </a:p>
        </p:txBody>
      </p:sp>
      <p:cxnSp>
        <p:nvCxnSpPr>
          <p:cNvPr id="37" name="Straight Arrow Connector 36">
            <a:extLst>
              <a:ext uri="{FF2B5EF4-FFF2-40B4-BE49-F238E27FC236}">
                <a16:creationId xmlns:a16="http://schemas.microsoft.com/office/drawing/2014/main" id="{2BDD5526-DE00-BC4C-1B80-D851CA366584}"/>
              </a:ext>
            </a:extLst>
          </p:cNvPr>
          <p:cNvCxnSpPr>
            <a:cxnSpLocks/>
            <a:stCxn id="5" idx="2"/>
            <a:endCxn id="6" idx="0"/>
          </p:cNvCxnSpPr>
          <p:nvPr/>
        </p:nvCxnSpPr>
        <p:spPr bwMode="auto">
          <a:xfrm flipH="1">
            <a:off x="5907920" y="963405"/>
            <a:ext cx="21" cy="133029"/>
          </a:xfrm>
          <a:prstGeom prst="straightConnector1">
            <a:avLst/>
          </a:prstGeom>
          <a:solidFill>
            <a:schemeClr val="accent1"/>
          </a:solidFill>
          <a:ln w="9525" cap="flat" cmpd="sng" algn="ctr">
            <a:solidFill>
              <a:srgbClr val="F0995E"/>
            </a:solidFill>
            <a:prstDash val="solid"/>
            <a:round/>
            <a:headEnd type="none" w="med" len="med"/>
            <a:tailEnd type="triangle"/>
          </a:ln>
          <a:effectLst/>
        </p:spPr>
      </p:cxnSp>
      <p:cxnSp>
        <p:nvCxnSpPr>
          <p:cNvPr id="39" name="Straight Connector 38">
            <a:extLst>
              <a:ext uri="{FF2B5EF4-FFF2-40B4-BE49-F238E27FC236}">
                <a16:creationId xmlns:a16="http://schemas.microsoft.com/office/drawing/2014/main" id="{B855704F-A0E2-EBDD-435D-7420A246FCF2}"/>
              </a:ext>
            </a:extLst>
          </p:cNvPr>
          <p:cNvCxnSpPr>
            <a:cxnSpLocks/>
            <a:stCxn id="3" idx="2"/>
          </p:cNvCxnSpPr>
          <p:nvPr/>
        </p:nvCxnSpPr>
        <p:spPr bwMode="auto">
          <a:xfrm flipH="1">
            <a:off x="5905500" y="1469803"/>
            <a:ext cx="11" cy="105309"/>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3ED33B0D-9BF8-D79C-1BC2-2FED9EADD68C}"/>
              </a:ext>
            </a:extLst>
          </p:cNvPr>
          <p:cNvCxnSpPr>
            <a:stCxn id="10" idx="3"/>
            <a:endCxn id="11" idx="1"/>
          </p:cNvCxnSpPr>
          <p:nvPr/>
        </p:nvCxnSpPr>
        <p:spPr bwMode="auto">
          <a:xfrm>
            <a:off x="5257800" y="1728900"/>
            <a:ext cx="272643" cy="2523"/>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87F07232-EAC9-0628-0388-2BCC6B5A3288}"/>
              </a:ext>
            </a:extLst>
          </p:cNvPr>
          <p:cNvCxnSpPr>
            <a:cxnSpLocks/>
            <a:stCxn id="11" idx="3"/>
            <a:endCxn id="12" idx="1"/>
          </p:cNvCxnSpPr>
          <p:nvPr/>
        </p:nvCxnSpPr>
        <p:spPr bwMode="auto">
          <a:xfrm>
            <a:off x="6272123" y="1731423"/>
            <a:ext cx="272642" cy="1277"/>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E63D4BC0-6E1F-23D0-1230-67EF7E88FD4E}"/>
              </a:ext>
            </a:extLst>
          </p:cNvPr>
          <p:cNvCxnSpPr>
            <a:stCxn id="10" idx="2"/>
            <a:endCxn id="13" idx="0"/>
          </p:cNvCxnSpPr>
          <p:nvPr/>
        </p:nvCxnSpPr>
        <p:spPr bwMode="auto">
          <a:xfrm>
            <a:off x="4886960" y="1886380"/>
            <a:ext cx="0" cy="171020"/>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52" name="Straight Connector 51">
            <a:extLst>
              <a:ext uri="{FF2B5EF4-FFF2-40B4-BE49-F238E27FC236}">
                <a16:creationId xmlns:a16="http://schemas.microsoft.com/office/drawing/2014/main" id="{1561EE21-6A4C-5F71-55EF-49DA2EFC0B69}"/>
              </a:ext>
            </a:extLst>
          </p:cNvPr>
          <p:cNvCxnSpPr>
            <a:stCxn id="13" idx="3"/>
            <a:endCxn id="14" idx="1"/>
          </p:cNvCxnSpPr>
          <p:nvPr/>
        </p:nvCxnSpPr>
        <p:spPr bwMode="auto">
          <a:xfrm>
            <a:off x="5257800" y="2214880"/>
            <a:ext cx="272642" cy="0"/>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54" name="Straight Connector 53">
            <a:extLst>
              <a:ext uri="{FF2B5EF4-FFF2-40B4-BE49-F238E27FC236}">
                <a16:creationId xmlns:a16="http://schemas.microsoft.com/office/drawing/2014/main" id="{F4B444F6-A43B-43C0-F653-12BBC3B47D54}"/>
              </a:ext>
            </a:extLst>
          </p:cNvPr>
          <p:cNvCxnSpPr>
            <a:stCxn id="14" idx="3"/>
            <a:endCxn id="15" idx="1"/>
          </p:cNvCxnSpPr>
          <p:nvPr/>
        </p:nvCxnSpPr>
        <p:spPr bwMode="auto">
          <a:xfrm>
            <a:off x="6272122" y="2214880"/>
            <a:ext cx="272643" cy="0"/>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CD69BC9E-2014-ECB2-9706-56EFC131D176}"/>
              </a:ext>
            </a:extLst>
          </p:cNvPr>
          <p:cNvCxnSpPr>
            <a:stCxn id="11" idx="2"/>
            <a:endCxn id="14" idx="0"/>
          </p:cNvCxnSpPr>
          <p:nvPr/>
        </p:nvCxnSpPr>
        <p:spPr bwMode="auto">
          <a:xfrm flipH="1">
            <a:off x="5901282" y="1888903"/>
            <a:ext cx="1" cy="168497"/>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9BFADC21-0CF7-36A7-0648-0921585821EE}"/>
              </a:ext>
            </a:extLst>
          </p:cNvPr>
          <p:cNvCxnSpPr>
            <a:stCxn id="12" idx="2"/>
            <a:endCxn id="15" idx="0"/>
          </p:cNvCxnSpPr>
          <p:nvPr/>
        </p:nvCxnSpPr>
        <p:spPr bwMode="auto">
          <a:xfrm>
            <a:off x="6915605" y="1890180"/>
            <a:ext cx="0" cy="167220"/>
          </a:xfrm>
          <a:prstGeom prst="line">
            <a:avLst/>
          </a:prstGeom>
          <a:solidFill>
            <a:schemeClr val="accent1"/>
          </a:solidFill>
          <a:ln w="9525" cap="flat" cmpd="sng" algn="ctr">
            <a:solidFill>
              <a:srgbClr val="F0995E"/>
            </a:solidFill>
            <a:prstDash val="solid"/>
            <a:round/>
            <a:headEnd type="none" w="med" len="med"/>
            <a:tailEnd type="none" w="med" len="med"/>
          </a:ln>
          <a:effectLst/>
        </p:spPr>
      </p:cxnSp>
      <p:cxnSp>
        <p:nvCxnSpPr>
          <p:cNvPr id="63" name="Straight Arrow Connector 62">
            <a:extLst>
              <a:ext uri="{FF2B5EF4-FFF2-40B4-BE49-F238E27FC236}">
                <a16:creationId xmlns:a16="http://schemas.microsoft.com/office/drawing/2014/main" id="{AFCDB6E5-1BC0-52D4-C199-6389C70660D5}"/>
              </a:ext>
            </a:extLst>
          </p:cNvPr>
          <p:cNvCxnSpPr>
            <a:stCxn id="14" idx="2"/>
            <a:endCxn id="7" idx="0"/>
          </p:cNvCxnSpPr>
          <p:nvPr/>
        </p:nvCxnSpPr>
        <p:spPr bwMode="auto">
          <a:xfrm>
            <a:off x="5901282" y="2372360"/>
            <a:ext cx="0" cy="565523"/>
          </a:xfrm>
          <a:prstGeom prst="straightConnector1">
            <a:avLst/>
          </a:prstGeom>
          <a:solidFill>
            <a:schemeClr val="accent1"/>
          </a:solidFill>
          <a:ln w="9525" cap="flat" cmpd="sng" algn="ctr">
            <a:solidFill>
              <a:srgbClr val="F0995E"/>
            </a:solidFill>
            <a:prstDash val="solid"/>
            <a:round/>
            <a:headEnd type="none" w="med" len="med"/>
            <a:tailEnd type="triangle"/>
          </a:ln>
          <a:effectLst/>
        </p:spPr>
      </p:cxnSp>
      <p:cxnSp>
        <p:nvCxnSpPr>
          <p:cNvPr id="5123" name="Straight Connector 5122">
            <a:extLst>
              <a:ext uri="{FF2B5EF4-FFF2-40B4-BE49-F238E27FC236}">
                <a16:creationId xmlns:a16="http://schemas.microsoft.com/office/drawing/2014/main" id="{839511F4-F682-6B2D-AA43-CC3FC97A52BC}"/>
              </a:ext>
            </a:extLst>
          </p:cNvPr>
          <p:cNvCxnSpPr>
            <a:cxnSpLocks/>
          </p:cNvCxnSpPr>
          <p:nvPr/>
        </p:nvCxnSpPr>
        <p:spPr bwMode="auto">
          <a:xfrm>
            <a:off x="5907919" y="3316807"/>
            <a:ext cx="0" cy="174072"/>
          </a:xfrm>
          <a:prstGeom prst="line">
            <a:avLst/>
          </a:prstGeom>
          <a:solidFill>
            <a:schemeClr val="accent1"/>
          </a:solidFill>
          <a:ln w="9525" cap="flat" cmpd="sng" algn="ctr">
            <a:solidFill>
              <a:srgbClr val="90BDD0"/>
            </a:solidFill>
            <a:prstDash val="solid"/>
            <a:round/>
            <a:headEnd type="none" w="med" len="med"/>
            <a:tailEnd type="none" w="med" len="med"/>
          </a:ln>
          <a:effectLst/>
        </p:spPr>
      </p:cxnSp>
      <p:cxnSp>
        <p:nvCxnSpPr>
          <p:cNvPr id="5130" name="Straight Connector 5129">
            <a:extLst>
              <a:ext uri="{FF2B5EF4-FFF2-40B4-BE49-F238E27FC236}">
                <a16:creationId xmlns:a16="http://schemas.microsoft.com/office/drawing/2014/main" id="{878AEBA1-93F0-1108-CD41-4090615637E2}"/>
              </a:ext>
            </a:extLst>
          </p:cNvPr>
          <p:cNvCxnSpPr>
            <a:stCxn id="17" idx="3"/>
            <a:endCxn id="18" idx="1"/>
          </p:cNvCxnSpPr>
          <p:nvPr/>
        </p:nvCxnSpPr>
        <p:spPr bwMode="auto">
          <a:xfrm>
            <a:off x="5257800" y="3647830"/>
            <a:ext cx="279279" cy="2117"/>
          </a:xfrm>
          <a:prstGeom prst="line">
            <a:avLst/>
          </a:prstGeom>
          <a:solidFill>
            <a:schemeClr val="accent1"/>
          </a:solidFill>
          <a:ln w="9525" cap="flat" cmpd="sng" algn="ctr">
            <a:solidFill>
              <a:srgbClr val="90BDD0"/>
            </a:solidFill>
            <a:prstDash val="solid"/>
            <a:round/>
            <a:headEnd type="none" w="med" len="med"/>
            <a:tailEnd type="none" w="med" len="med"/>
          </a:ln>
          <a:effectLst/>
        </p:spPr>
      </p:cxnSp>
      <p:cxnSp>
        <p:nvCxnSpPr>
          <p:cNvPr id="5133" name="Straight Connector 5132">
            <a:extLst>
              <a:ext uri="{FF2B5EF4-FFF2-40B4-BE49-F238E27FC236}">
                <a16:creationId xmlns:a16="http://schemas.microsoft.com/office/drawing/2014/main" id="{D39514BD-1474-DD01-60F0-843F1E4A2004}"/>
              </a:ext>
            </a:extLst>
          </p:cNvPr>
          <p:cNvCxnSpPr>
            <a:stCxn id="18" idx="3"/>
            <a:endCxn id="19" idx="1"/>
          </p:cNvCxnSpPr>
          <p:nvPr/>
        </p:nvCxnSpPr>
        <p:spPr bwMode="auto">
          <a:xfrm>
            <a:off x="6278759" y="3649947"/>
            <a:ext cx="266006" cy="0"/>
          </a:xfrm>
          <a:prstGeom prst="line">
            <a:avLst/>
          </a:prstGeom>
          <a:solidFill>
            <a:schemeClr val="accent1"/>
          </a:solidFill>
          <a:ln w="9525" cap="flat" cmpd="sng" algn="ctr">
            <a:solidFill>
              <a:srgbClr val="90BDD0"/>
            </a:solidFill>
            <a:prstDash val="solid"/>
            <a:round/>
            <a:headEnd type="none" w="med" len="med"/>
            <a:tailEnd type="none" w="med" len="med"/>
          </a:ln>
          <a:effectLst/>
        </p:spPr>
      </p:cxnSp>
      <p:cxnSp>
        <p:nvCxnSpPr>
          <p:cNvPr id="5140" name="Straight Arrow Connector 5139">
            <a:extLst>
              <a:ext uri="{FF2B5EF4-FFF2-40B4-BE49-F238E27FC236}">
                <a16:creationId xmlns:a16="http://schemas.microsoft.com/office/drawing/2014/main" id="{3CABD264-7D54-DB61-F3E8-4432DC2B9E89}"/>
              </a:ext>
            </a:extLst>
          </p:cNvPr>
          <p:cNvCxnSpPr>
            <a:stCxn id="18" idx="2"/>
            <a:endCxn id="8" idx="0"/>
          </p:cNvCxnSpPr>
          <p:nvPr/>
        </p:nvCxnSpPr>
        <p:spPr bwMode="auto">
          <a:xfrm>
            <a:off x="5907919" y="3807427"/>
            <a:ext cx="1" cy="548667"/>
          </a:xfrm>
          <a:prstGeom prst="straightConnector1">
            <a:avLst/>
          </a:prstGeom>
          <a:solidFill>
            <a:schemeClr val="accent1"/>
          </a:solidFill>
          <a:ln w="9525" cap="flat" cmpd="sng" algn="ctr">
            <a:solidFill>
              <a:srgbClr val="90BDD0"/>
            </a:solidFill>
            <a:prstDash val="solid"/>
            <a:round/>
            <a:headEnd type="none" w="med" len="med"/>
            <a:tailEnd type="triangle"/>
          </a:ln>
          <a:effectLst/>
        </p:spPr>
      </p:cxnSp>
      <p:cxnSp>
        <p:nvCxnSpPr>
          <p:cNvPr id="5144" name="Straight Connector 5143">
            <a:extLst>
              <a:ext uri="{FF2B5EF4-FFF2-40B4-BE49-F238E27FC236}">
                <a16:creationId xmlns:a16="http://schemas.microsoft.com/office/drawing/2014/main" id="{BD1730F5-BC15-74B3-E8CD-128AEED280B5}"/>
              </a:ext>
            </a:extLst>
          </p:cNvPr>
          <p:cNvCxnSpPr>
            <a:cxnSpLocks/>
          </p:cNvCxnSpPr>
          <p:nvPr/>
        </p:nvCxnSpPr>
        <p:spPr bwMode="auto">
          <a:xfrm>
            <a:off x="5901283" y="4762266"/>
            <a:ext cx="0" cy="171254"/>
          </a:xfrm>
          <a:prstGeom prst="line">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47" name="Straight Connector 5146">
            <a:extLst>
              <a:ext uri="{FF2B5EF4-FFF2-40B4-BE49-F238E27FC236}">
                <a16:creationId xmlns:a16="http://schemas.microsoft.com/office/drawing/2014/main" id="{B948DF99-A644-98D4-9A1A-C66AF1770B37}"/>
              </a:ext>
            </a:extLst>
          </p:cNvPr>
          <p:cNvCxnSpPr>
            <a:cxnSpLocks/>
            <a:stCxn id="21" idx="3"/>
          </p:cNvCxnSpPr>
          <p:nvPr/>
        </p:nvCxnSpPr>
        <p:spPr bwMode="auto">
          <a:xfrm>
            <a:off x="5266272" y="5091000"/>
            <a:ext cx="265759" cy="0"/>
          </a:xfrm>
          <a:prstGeom prst="line">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49" name="Straight Connector 5148">
            <a:extLst>
              <a:ext uri="{FF2B5EF4-FFF2-40B4-BE49-F238E27FC236}">
                <a16:creationId xmlns:a16="http://schemas.microsoft.com/office/drawing/2014/main" id="{84292B2F-69A9-86BA-6073-443A59EB5B7E}"/>
              </a:ext>
            </a:extLst>
          </p:cNvPr>
          <p:cNvCxnSpPr>
            <a:stCxn id="22" idx="3"/>
            <a:endCxn id="23" idx="1"/>
          </p:cNvCxnSpPr>
          <p:nvPr/>
        </p:nvCxnSpPr>
        <p:spPr bwMode="auto">
          <a:xfrm flipV="1">
            <a:off x="6272123" y="5088460"/>
            <a:ext cx="272642" cy="2540"/>
          </a:xfrm>
          <a:prstGeom prst="line">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55" name="Connector: Elbow 5154">
            <a:extLst>
              <a:ext uri="{FF2B5EF4-FFF2-40B4-BE49-F238E27FC236}">
                <a16:creationId xmlns:a16="http://schemas.microsoft.com/office/drawing/2014/main" id="{4F57DD54-7AD6-01B6-E583-0DF95EDE36C3}"/>
              </a:ext>
            </a:extLst>
          </p:cNvPr>
          <p:cNvCxnSpPr>
            <a:stCxn id="21" idx="2"/>
            <a:endCxn id="24" idx="0"/>
          </p:cNvCxnSpPr>
          <p:nvPr/>
        </p:nvCxnSpPr>
        <p:spPr bwMode="auto">
          <a:xfrm rot="16200000" flipH="1">
            <a:off x="5071513" y="5072398"/>
            <a:ext cx="115157" cy="467319"/>
          </a:xfrm>
          <a:prstGeom prst="bentConnector3">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59" name="Connector: Elbow 5158">
            <a:extLst>
              <a:ext uri="{FF2B5EF4-FFF2-40B4-BE49-F238E27FC236}">
                <a16:creationId xmlns:a16="http://schemas.microsoft.com/office/drawing/2014/main" id="{CE43B9DF-6668-7B61-A489-882A948388AC}"/>
              </a:ext>
            </a:extLst>
          </p:cNvPr>
          <p:cNvCxnSpPr>
            <a:stCxn id="23" idx="2"/>
            <a:endCxn id="25" idx="0"/>
          </p:cNvCxnSpPr>
          <p:nvPr/>
        </p:nvCxnSpPr>
        <p:spPr bwMode="auto">
          <a:xfrm rot="5400000">
            <a:off x="6620148" y="5068179"/>
            <a:ext cx="117697" cy="473218"/>
          </a:xfrm>
          <a:prstGeom prst="bentConnector3">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61" name="Straight Connector 5160">
            <a:extLst>
              <a:ext uri="{FF2B5EF4-FFF2-40B4-BE49-F238E27FC236}">
                <a16:creationId xmlns:a16="http://schemas.microsoft.com/office/drawing/2014/main" id="{E00BEB4D-56D2-DE0F-86F1-5989594D8207}"/>
              </a:ext>
            </a:extLst>
          </p:cNvPr>
          <p:cNvCxnSpPr>
            <a:stCxn id="24" idx="3"/>
            <a:endCxn id="25" idx="1"/>
          </p:cNvCxnSpPr>
          <p:nvPr/>
        </p:nvCxnSpPr>
        <p:spPr bwMode="auto">
          <a:xfrm>
            <a:off x="5733591" y="5521117"/>
            <a:ext cx="337956" cy="0"/>
          </a:xfrm>
          <a:prstGeom prst="line">
            <a:avLst/>
          </a:prstGeom>
          <a:solidFill>
            <a:schemeClr val="accent1"/>
          </a:solidFill>
          <a:ln w="9525" cap="flat" cmpd="sng" algn="ctr">
            <a:solidFill>
              <a:srgbClr val="A9C4A8"/>
            </a:solidFill>
            <a:prstDash val="solid"/>
            <a:round/>
            <a:headEnd type="none" w="med" len="med"/>
            <a:tailEnd type="none" w="med" len="med"/>
          </a:ln>
          <a:effectLst/>
        </p:spPr>
      </p:cxnSp>
      <p:cxnSp>
        <p:nvCxnSpPr>
          <p:cNvPr id="5164" name="Straight Connector 5163">
            <a:extLst>
              <a:ext uri="{FF2B5EF4-FFF2-40B4-BE49-F238E27FC236}">
                <a16:creationId xmlns:a16="http://schemas.microsoft.com/office/drawing/2014/main" id="{477EF227-385F-239F-188A-92661E3DF77A}"/>
              </a:ext>
            </a:extLst>
          </p:cNvPr>
          <p:cNvCxnSpPr>
            <a:stCxn id="26" idx="3"/>
            <a:endCxn id="27" idx="1"/>
          </p:cNvCxnSpPr>
          <p:nvPr/>
        </p:nvCxnSpPr>
        <p:spPr bwMode="auto">
          <a:xfrm flipV="1">
            <a:off x="5684102" y="6272504"/>
            <a:ext cx="485398" cy="231"/>
          </a:xfrm>
          <a:prstGeom prst="line">
            <a:avLst/>
          </a:prstGeom>
          <a:solidFill>
            <a:schemeClr val="accent1"/>
          </a:solidFill>
          <a:ln w="9525" cap="flat" cmpd="sng" algn="ctr">
            <a:solidFill>
              <a:srgbClr val="A28FB3"/>
            </a:solidFill>
            <a:prstDash val="solid"/>
            <a:round/>
            <a:headEnd type="none" w="med" len="med"/>
            <a:tailEnd type="none" w="med" len="med"/>
          </a:ln>
          <a:effectLst/>
        </p:spPr>
      </p:cxnSp>
      <p:cxnSp>
        <p:nvCxnSpPr>
          <p:cNvPr id="5170" name="Straight Arrow Connector 5169">
            <a:extLst>
              <a:ext uri="{FF2B5EF4-FFF2-40B4-BE49-F238E27FC236}">
                <a16:creationId xmlns:a16="http://schemas.microsoft.com/office/drawing/2014/main" id="{6F0C8328-17D6-A4E6-5045-DD20C4F2FBBB}"/>
              </a:ext>
            </a:extLst>
          </p:cNvPr>
          <p:cNvCxnSpPr>
            <a:stCxn id="22" idx="2"/>
          </p:cNvCxnSpPr>
          <p:nvPr/>
        </p:nvCxnSpPr>
        <p:spPr bwMode="auto">
          <a:xfrm>
            <a:off x="5901283" y="5248480"/>
            <a:ext cx="0" cy="822620"/>
          </a:xfrm>
          <a:prstGeom prst="straightConnector1">
            <a:avLst/>
          </a:prstGeom>
          <a:solidFill>
            <a:schemeClr val="accent1"/>
          </a:solidFill>
          <a:ln w="9525" cap="flat" cmpd="sng" algn="ctr">
            <a:solidFill>
              <a:srgbClr val="A9C4A8"/>
            </a:solidFill>
            <a:prstDash val="solid"/>
            <a:round/>
            <a:headEnd type="none" w="med" len="med"/>
            <a:tailEnd type="triangle"/>
          </a:ln>
          <a:effectLst/>
        </p:spPr>
      </p:cxnSp>
      <p:cxnSp>
        <p:nvCxnSpPr>
          <p:cNvPr id="5187" name="Straight Arrow Connector 5186">
            <a:extLst>
              <a:ext uri="{FF2B5EF4-FFF2-40B4-BE49-F238E27FC236}">
                <a16:creationId xmlns:a16="http://schemas.microsoft.com/office/drawing/2014/main" id="{29D8C4DF-0641-8AEA-AA87-2F96A2DD5D9C}"/>
              </a:ext>
            </a:extLst>
          </p:cNvPr>
          <p:cNvCxnSpPr>
            <a:stCxn id="9" idx="1"/>
          </p:cNvCxnSpPr>
          <p:nvPr/>
        </p:nvCxnSpPr>
        <p:spPr bwMode="auto">
          <a:xfrm flipH="1" flipV="1">
            <a:off x="4516120" y="6272504"/>
            <a:ext cx="209580" cy="2"/>
          </a:xfrm>
          <a:prstGeom prst="straightConnector1">
            <a:avLst/>
          </a:prstGeom>
          <a:solidFill>
            <a:schemeClr val="accent1"/>
          </a:solidFill>
          <a:ln w="9525" cap="flat" cmpd="sng" algn="ctr">
            <a:solidFill>
              <a:srgbClr val="A28FB3"/>
            </a:solidFill>
            <a:prstDash val="solid"/>
            <a:round/>
            <a:headEnd type="none" w="med" len="med"/>
            <a:tailEnd type="triangle"/>
          </a:ln>
          <a:effectLst/>
        </p:spPr>
      </p:cxnSp>
      <p:pic>
        <p:nvPicPr>
          <p:cNvPr id="5189" name="Picture 5188">
            <a:extLst>
              <a:ext uri="{FF2B5EF4-FFF2-40B4-BE49-F238E27FC236}">
                <a16:creationId xmlns:a16="http://schemas.microsoft.com/office/drawing/2014/main" id="{C8BCF574-E434-8889-9D64-50B29CDA7328}"/>
              </a:ext>
            </a:extLst>
          </p:cNvPr>
          <p:cNvPicPr>
            <a:picLocks noChangeAspect="1"/>
          </p:cNvPicPr>
          <p:nvPr/>
        </p:nvPicPr>
        <p:blipFill>
          <a:blip r:embed="rId3"/>
          <a:srcRect l="31636" t="22469" r="6016" b="10453"/>
          <a:stretch>
            <a:fillRect/>
          </a:stretch>
        </p:blipFill>
        <p:spPr>
          <a:xfrm>
            <a:off x="4214687" y="6133458"/>
            <a:ext cx="292611" cy="260753"/>
          </a:xfrm>
          <a:prstGeom prst="rect">
            <a:avLst/>
          </a:prstGeom>
        </p:spPr>
      </p:pic>
      <p:sp>
        <p:nvSpPr>
          <p:cNvPr id="5193" name="Double Bracket 5192">
            <a:extLst>
              <a:ext uri="{FF2B5EF4-FFF2-40B4-BE49-F238E27FC236}">
                <a16:creationId xmlns:a16="http://schemas.microsoft.com/office/drawing/2014/main" id="{0376BE8D-2ACC-FF2A-5093-C0BB769F71AC}"/>
              </a:ext>
            </a:extLst>
          </p:cNvPr>
          <p:cNvSpPr/>
          <p:nvPr/>
        </p:nvSpPr>
        <p:spPr bwMode="auto">
          <a:xfrm>
            <a:off x="980496" y="3756568"/>
            <a:ext cx="2192866" cy="2015169"/>
          </a:xfrm>
          <a:prstGeom prst="bracketPair">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1400" i="1" dirty="0">
                <a:latin typeface="Corbel" panose="020B0503020204020204" pitchFamily="34" charset="0"/>
              </a:rPr>
              <a:t>The preprocessing </a:t>
            </a:r>
          </a:p>
          <a:p>
            <a:r>
              <a:rPr lang="en-US" sz="1400" i="1" dirty="0">
                <a:latin typeface="Corbel" panose="020B0503020204020204" pitchFamily="34" charset="0"/>
              </a:rPr>
              <a:t>pipeline cleans</a:t>
            </a:r>
          </a:p>
          <a:p>
            <a:r>
              <a:rPr lang="en-US" sz="1400" i="1" dirty="0">
                <a:latin typeface="Corbel" panose="020B0503020204020204" pitchFamily="34" charset="0"/>
              </a:rPr>
              <a:t>the IFND dataset</a:t>
            </a:r>
          </a:p>
          <a:p>
            <a:r>
              <a:rPr lang="en-US" sz="1400" i="1" dirty="0">
                <a:latin typeface="Corbel" panose="020B0503020204020204" pitchFamily="34" charset="0"/>
              </a:rPr>
              <a:t>through </a:t>
            </a:r>
            <a:r>
              <a:rPr lang="en-US" sz="1400" b="1" i="1" dirty="0">
                <a:latin typeface="Aptos" panose="020B0004020202020204" pitchFamily="34" charset="0"/>
              </a:rPr>
              <a:t>16</a:t>
            </a:r>
            <a:r>
              <a:rPr lang="en-US" sz="1400" b="1" i="1" dirty="0">
                <a:latin typeface="+mn-lt"/>
              </a:rPr>
              <a:t> </a:t>
            </a:r>
            <a:r>
              <a:rPr lang="en-US" sz="1400" b="1" i="1" dirty="0">
                <a:latin typeface="Corbel" panose="020B0503020204020204" pitchFamily="34" charset="0"/>
              </a:rPr>
              <a:t>essential</a:t>
            </a:r>
          </a:p>
          <a:p>
            <a:r>
              <a:rPr lang="en-US" sz="1400" b="1" i="1" dirty="0">
                <a:latin typeface="Corbel" panose="020B0503020204020204" pitchFamily="34" charset="0"/>
              </a:rPr>
              <a:t>steps</a:t>
            </a:r>
            <a:r>
              <a:rPr lang="en-US" sz="1400" i="1" dirty="0">
                <a:latin typeface="Corbel" panose="020B0503020204020204" pitchFamily="34" charset="0"/>
              </a:rPr>
              <a:t>.</a:t>
            </a:r>
            <a:r>
              <a:rPr lang="en-US" sz="1400" dirty="0"/>
              <a:t> </a:t>
            </a:r>
            <a:r>
              <a:rPr lang="en-US" sz="1400" i="1" dirty="0">
                <a:latin typeface="Corbel" panose="020B0503020204020204" pitchFamily="34" charset="0"/>
              </a:rPr>
              <a:t>After these stages,</a:t>
            </a:r>
          </a:p>
          <a:p>
            <a:r>
              <a:rPr lang="en-US" sz="1400" i="1" dirty="0">
                <a:latin typeface="Corbel" panose="020B0503020204020204" pitchFamily="34" charset="0"/>
              </a:rPr>
              <a:t>the dataset becomes fully</a:t>
            </a:r>
          </a:p>
          <a:p>
            <a:r>
              <a:rPr lang="en-US" sz="1400" i="1" dirty="0">
                <a:latin typeface="Corbel" panose="020B0503020204020204" pitchFamily="34" charset="0"/>
              </a:rPr>
              <a:t> normalized and ready</a:t>
            </a:r>
          </a:p>
          <a:p>
            <a:r>
              <a:rPr lang="en-US" sz="1400" i="1" dirty="0">
                <a:latin typeface="Corbel" panose="020B0503020204020204" pitchFamily="34" charset="0"/>
              </a:rPr>
              <a:t> for model training.</a:t>
            </a:r>
            <a:endParaRPr kumimoji="0" lang="en-IN" sz="1400" b="0" i="1" u="none" strike="noStrike" cap="none" normalizeH="0" baseline="0" dirty="0">
              <a:ln>
                <a:noFill/>
              </a:ln>
              <a:solidFill>
                <a:schemeClr val="tx1"/>
              </a:solidFill>
              <a:effectLst/>
              <a:latin typeface="Corbel" panose="020B0503020204020204" pitchFamily="34" charset="0"/>
            </a:endParaRPr>
          </a:p>
        </p:txBody>
      </p:sp>
      <p:sp>
        <p:nvSpPr>
          <p:cNvPr id="41" name="TextBox 40">
            <a:extLst>
              <a:ext uri="{FF2B5EF4-FFF2-40B4-BE49-F238E27FC236}">
                <a16:creationId xmlns:a16="http://schemas.microsoft.com/office/drawing/2014/main" id="{116DFC14-01EE-C1DC-C859-B675CF5BDFDD}"/>
              </a:ext>
            </a:extLst>
          </p:cNvPr>
          <p:cNvSpPr txBox="1"/>
          <p:nvPr/>
        </p:nvSpPr>
        <p:spPr>
          <a:xfrm>
            <a:off x="4830634" y="6467525"/>
            <a:ext cx="2217866" cy="215444"/>
          </a:xfrm>
          <a:prstGeom prst="rect">
            <a:avLst/>
          </a:prstGeom>
          <a:noFill/>
        </p:spPr>
        <p:txBody>
          <a:bodyPr wrap="square" rtlCol="0" anchor="ctr">
            <a:spAutoFit/>
          </a:bodyPr>
          <a:lstStyle/>
          <a:p>
            <a:pPr algn="ctr"/>
            <a:r>
              <a:rPr lang="en-IN" sz="800" dirty="0">
                <a:latin typeface="+mn-lt"/>
              </a:rPr>
              <a:t>Fig. 2. Sixteen-steps preprocessing pipeline.</a:t>
            </a:r>
          </a:p>
        </p:txBody>
      </p:sp>
      <p:sp>
        <p:nvSpPr>
          <p:cNvPr id="42" name="TextBox 41">
            <a:extLst>
              <a:ext uri="{FF2B5EF4-FFF2-40B4-BE49-F238E27FC236}">
                <a16:creationId xmlns:a16="http://schemas.microsoft.com/office/drawing/2014/main" id="{BAAC7AF5-6A5E-3F5E-4845-844D711A5140}"/>
              </a:ext>
            </a:extLst>
          </p:cNvPr>
          <p:cNvSpPr txBox="1"/>
          <p:nvPr/>
        </p:nvSpPr>
        <p:spPr>
          <a:xfrm>
            <a:off x="3957795" y="6349119"/>
            <a:ext cx="913507" cy="184666"/>
          </a:xfrm>
          <a:prstGeom prst="rect">
            <a:avLst/>
          </a:prstGeom>
          <a:noFill/>
        </p:spPr>
        <p:txBody>
          <a:bodyPr wrap="square" rtlCol="0">
            <a:spAutoFit/>
          </a:bodyPr>
          <a:lstStyle/>
          <a:p>
            <a:r>
              <a:rPr lang="en-IN" sz="600" dirty="0">
                <a:solidFill>
                  <a:srgbClr val="8295A6"/>
                </a:solidFill>
                <a:latin typeface="Franklin Gothic Medium" panose="020B0603020102020204" pitchFamily="34" charset="0"/>
              </a:rPr>
              <a:t>(Cleaned_IFND.csv)</a:t>
            </a:r>
          </a:p>
        </p:txBody>
      </p:sp>
    </p:spTree>
    <p:extLst>
      <p:ext uri="{BB962C8B-B14F-4D97-AF65-F5344CB8AC3E}">
        <p14:creationId xmlns:p14="http://schemas.microsoft.com/office/powerpoint/2010/main" val="1206112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CD5D5-C258-B811-B346-72E05AFDB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5780D-9791-A6F9-0C9A-28DBF41A2F35}"/>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CD4119C3-F5CA-3033-38AA-71D484A4D2F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IN" dirty="0" err="1"/>
              <a:t>RoBERTa</a:t>
            </a:r>
            <a:r>
              <a:rPr lang="en-IN" dirty="0"/>
              <a:t> provides CLS embeddings </a:t>
            </a:r>
            <a:r>
              <a:rPr lang="en-IN" b="1" dirty="0"/>
              <a:t>768-dim</a:t>
            </a:r>
            <a:r>
              <a:rPr lang="en-IN" dirty="0"/>
              <a:t> that capture global meaning across the whole sentence.</a:t>
            </a:r>
          </a:p>
          <a:p>
            <a:r>
              <a:rPr lang="en-IN" dirty="0"/>
              <a:t>The Hybrid model provides a </a:t>
            </a:r>
            <a:r>
              <a:rPr lang="en-IN" b="1" dirty="0"/>
              <a:t>128-dim</a:t>
            </a:r>
            <a:r>
              <a:rPr lang="en-IN" dirty="0"/>
              <a:t> GRU hidden vector, which highlights local transitions, word importance, and sentence flow.</a:t>
            </a:r>
          </a:p>
          <a:p>
            <a:r>
              <a:rPr lang="en-IN" dirty="0"/>
              <a:t>Both embeddings are fused at the feature-level by concatenating them into a single vector of size </a:t>
            </a:r>
            <a:r>
              <a:rPr lang="en-IN" b="1" dirty="0"/>
              <a:t>896</a:t>
            </a:r>
            <a:r>
              <a:rPr lang="en-IN" dirty="0"/>
              <a:t>.</a:t>
            </a:r>
          </a:p>
          <a:p>
            <a:pPr marL="0" indent="0">
              <a:lnSpc>
                <a:spcPct val="100000"/>
              </a:lnSpc>
              <a:buNone/>
            </a:pPr>
            <a:r>
              <a:rPr lang="en-IN" dirty="0"/>
              <a:t>      </a:t>
            </a:r>
            <a:r>
              <a:rPr lang="en-IN" sz="1400" dirty="0"/>
              <a:t>e.g., For Statement 1:</a:t>
            </a:r>
          </a:p>
          <a:p>
            <a:pPr marL="0" indent="0">
              <a:lnSpc>
                <a:spcPct val="100000"/>
              </a:lnSpc>
              <a:buNone/>
            </a:pPr>
            <a:r>
              <a:rPr lang="en-IN" sz="1400" b="1" dirty="0"/>
              <a:t>        </a:t>
            </a:r>
            <a:r>
              <a:rPr lang="en-IN" sz="1400" b="1" dirty="0" err="1"/>
              <a:t>RoBERTa</a:t>
            </a:r>
            <a:r>
              <a:rPr lang="en-IN" sz="1400" b="1" dirty="0"/>
              <a:t> </a:t>
            </a:r>
            <a:r>
              <a:rPr lang="en-IN" sz="1400" dirty="0"/>
              <a:t>Vector: [4.21, 8.61, 1.12, … (768 values)]</a:t>
            </a:r>
          </a:p>
          <a:p>
            <a:pPr marL="0" indent="0">
              <a:lnSpc>
                <a:spcPct val="100000"/>
              </a:lnSpc>
              <a:buNone/>
            </a:pPr>
            <a:r>
              <a:rPr lang="en-IN" sz="1400" b="1" dirty="0"/>
              <a:t>        Hybrid </a:t>
            </a:r>
            <a:r>
              <a:rPr lang="en-IN" sz="1400" dirty="0"/>
              <a:t>Vector: [7.2, 0.8, 5.4, … (128 values)]</a:t>
            </a:r>
          </a:p>
          <a:p>
            <a:pPr marL="0" indent="0">
              <a:lnSpc>
                <a:spcPct val="100000"/>
              </a:lnSpc>
              <a:buNone/>
            </a:pPr>
            <a:endParaRPr lang="en-IN" sz="1400" dirty="0"/>
          </a:p>
          <a:p>
            <a:pPr marL="0" indent="0">
              <a:lnSpc>
                <a:spcPct val="100000"/>
              </a:lnSpc>
              <a:buNone/>
            </a:pPr>
            <a:r>
              <a:rPr lang="en-IN" sz="1400" dirty="0"/>
              <a:t>        Concatenation: </a:t>
            </a:r>
          </a:p>
          <a:p>
            <a:pPr marL="0" indent="0">
              <a:lnSpc>
                <a:spcPct val="100000"/>
              </a:lnSpc>
              <a:buNone/>
            </a:pPr>
            <a:r>
              <a:rPr lang="en-IN" sz="1400" dirty="0"/>
              <a:t>   </a:t>
            </a:r>
          </a:p>
          <a:p>
            <a:endParaRPr lang="en-IN" dirty="0"/>
          </a:p>
        </p:txBody>
      </p:sp>
      <p:pic>
        <p:nvPicPr>
          <p:cNvPr id="21" name="Picture 20">
            <a:extLst>
              <a:ext uri="{FF2B5EF4-FFF2-40B4-BE49-F238E27FC236}">
                <a16:creationId xmlns:a16="http://schemas.microsoft.com/office/drawing/2014/main" id="{D4AE9B9A-5D15-CED6-D838-FC00ADBD262E}"/>
              </a:ext>
            </a:extLst>
          </p:cNvPr>
          <p:cNvPicPr>
            <a:picLocks noChangeAspect="1"/>
          </p:cNvPicPr>
          <p:nvPr/>
        </p:nvPicPr>
        <p:blipFill>
          <a:blip r:embed="rId3"/>
          <a:srcRect t="11333" b="48235"/>
          <a:stretch>
            <a:fillRect/>
          </a:stretch>
        </p:blipFill>
        <p:spPr>
          <a:xfrm>
            <a:off x="433116" y="5065776"/>
            <a:ext cx="7485588" cy="521208"/>
          </a:xfrm>
          <a:prstGeom prst="rect">
            <a:avLst/>
          </a:prstGeom>
        </p:spPr>
      </p:pic>
      <p:sp>
        <p:nvSpPr>
          <p:cNvPr id="22" name="Rectangle: Rounded Corners 21">
            <a:extLst>
              <a:ext uri="{FF2B5EF4-FFF2-40B4-BE49-F238E27FC236}">
                <a16:creationId xmlns:a16="http://schemas.microsoft.com/office/drawing/2014/main" id="{F1E5D95B-4E35-8738-EAB3-BB79E054067E}"/>
              </a:ext>
            </a:extLst>
          </p:cNvPr>
          <p:cNvSpPr/>
          <p:nvPr/>
        </p:nvSpPr>
        <p:spPr bwMode="auto">
          <a:xfrm>
            <a:off x="1216152" y="5596128"/>
            <a:ext cx="960120" cy="521208"/>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Context </a:t>
            </a:r>
          </a:p>
          <a:p>
            <a:pPr marL="0" marR="0" indent="0" algn="ctr" defTabSz="914400" rtl="0" eaLnBrk="0" fontAlgn="base" latinLnBrk="0" hangingPunct="0">
              <a:lnSpc>
                <a:spcPct val="100000"/>
              </a:lnSpc>
              <a:spcBef>
                <a:spcPct val="0"/>
              </a:spcBef>
              <a:spcAft>
                <a:spcPct val="0"/>
              </a:spcAft>
              <a:buClrTx/>
              <a:buSzTx/>
              <a:buFontTx/>
              <a:buNone/>
              <a:tabLst/>
            </a:pPr>
            <a:r>
              <a:rPr kumimoji="0" lang="en-IN"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Leaning</a:t>
            </a:r>
          </a:p>
        </p:txBody>
      </p:sp>
      <p:sp>
        <p:nvSpPr>
          <p:cNvPr id="23" name="Rectangle: Rounded Corners 22">
            <a:extLst>
              <a:ext uri="{FF2B5EF4-FFF2-40B4-BE49-F238E27FC236}">
                <a16:creationId xmlns:a16="http://schemas.microsoft.com/office/drawing/2014/main" id="{76A52239-3D66-382F-E976-DF16D9374038}"/>
              </a:ext>
            </a:extLst>
          </p:cNvPr>
          <p:cNvSpPr/>
          <p:nvPr/>
        </p:nvSpPr>
        <p:spPr bwMode="auto">
          <a:xfrm>
            <a:off x="3572256" y="5593080"/>
            <a:ext cx="960120" cy="521208"/>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IN" sz="900" b="1" dirty="0">
                <a:latin typeface="Times New Roman" panose="02020603050405020304" pitchFamily="18" charset="0"/>
                <a:cs typeface="Times New Roman" panose="02020603050405020304" pitchFamily="18" charset="0"/>
              </a:rPr>
              <a:t>Pattern </a:t>
            </a:r>
          </a:p>
          <a:p>
            <a:pPr algn="ctr"/>
            <a:r>
              <a:rPr lang="en-IN" sz="900" b="1" dirty="0">
                <a:latin typeface="Times New Roman" panose="02020603050405020304" pitchFamily="18" charset="0"/>
                <a:cs typeface="Times New Roman" panose="02020603050405020304" pitchFamily="18" charset="0"/>
              </a:rPr>
              <a:t>Based Leaning</a:t>
            </a:r>
          </a:p>
          <a:p>
            <a:pPr marL="0" marR="0" indent="0" algn="l" defTabSz="914400" rtl="0" eaLnBrk="0" fontAlgn="base" latinLnBrk="0" hangingPunct="0">
              <a:lnSpc>
                <a:spcPct val="100000"/>
              </a:lnSpc>
              <a:spcBef>
                <a:spcPct val="0"/>
              </a:spcBef>
              <a:spcAft>
                <a:spcPct val="0"/>
              </a:spcAft>
              <a:buClrTx/>
              <a:buSzTx/>
              <a:buFontTx/>
              <a:buNone/>
              <a:tabLst/>
            </a:pPr>
            <a:endParaRPr kumimoji="0" lang="en-IN" sz="300" b="0" i="0" u="none" strike="noStrike" cap="none" normalizeH="0" baseline="0" dirty="0">
              <a:ln>
                <a:noFill/>
              </a:ln>
              <a:solidFill>
                <a:schemeClr val="tx1"/>
              </a:solidFill>
              <a:effectLst/>
              <a:latin typeface="Verdana" charset="0"/>
            </a:endParaRPr>
          </a:p>
        </p:txBody>
      </p:sp>
      <p:sp>
        <p:nvSpPr>
          <p:cNvPr id="25" name="Rectangle: Rounded Corners 24">
            <a:extLst>
              <a:ext uri="{FF2B5EF4-FFF2-40B4-BE49-F238E27FC236}">
                <a16:creationId xmlns:a16="http://schemas.microsoft.com/office/drawing/2014/main" id="{5947A284-8706-2D26-F2BF-61C0404434F7}"/>
              </a:ext>
            </a:extLst>
          </p:cNvPr>
          <p:cNvSpPr/>
          <p:nvPr/>
        </p:nvSpPr>
        <p:spPr bwMode="auto">
          <a:xfrm>
            <a:off x="6001512" y="5599176"/>
            <a:ext cx="960120" cy="521208"/>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 Pattern</a:t>
            </a:r>
          </a:p>
          <a:p>
            <a:pPr marL="0" marR="0" indent="0" algn="ctr" defTabSz="914400" rtl="0" eaLnBrk="0" fontAlgn="base" latinLnBrk="0" hangingPunct="0">
              <a:lnSpc>
                <a:spcPct val="100000"/>
              </a:lnSpc>
              <a:spcBef>
                <a:spcPct val="0"/>
              </a:spcBef>
              <a:spcAft>
                <a:spcPct val="0"/>
              </a:spcAft>
              <a:buClrTx/>
              <a:buSzTx/>
              <a:buFontTx/>
              <a:buNone/>
              <a:tabLst/>
            </a:pPr>
            <a:r>
              <a:rPr lang="en-IN" sz="900" b="1" dirty="0">
                <a:latin typeface="Times New Roman" panose="02020603050405020304" pitchFamily="18" charset="0"/>
                <a:cs typeface="Times New Roman" panose="02020603050405020304" pitchFamily="18" charset="0"/>
              </a:rPr>
              <a:t>Based Learning</a:t>
            </a:r>
            <a:endParaRPr kumimoji="0" lang="en-IN" sz="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499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8339-687A-6C4B-93A5-A181B762B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A7892-48CD-0D5B-D0A0-0275C6709358}"/>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1668025F-BD1A-85CD-A291-58E887DB2C0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dirty="0"/>
              <a:t>This fused representation goes into a </a:t>
            </a:r>
            <a:r>
              <a:rPr lang="en-US" b="1" dirty="0">
                <a:solidFill>
                  <a:srgbClr val="3333FF"/>
                </a:solidFill>
              </a:rPr>
              <a:t>two-layer MLP </a:t>
            </a:r>
            <a:r>
              <a:rPr lang="en-US" dirty="0"/>
              <a:t>with</a:t>
            </a:r>
            <a:r>
              <a:rPr lang="en-US" b="1" dirty="0"/>
              <a:t> </a:t>
            </a:r>
            <a:r>
              <a:rPr lang="en-US" b="1" dirty="0" err="1">
                <a:solidFill>
                  <a:srgbClr val="3333FF"/>
                </a:solidFill>
              </a:rPr>
              <a:t>ReLU</a:t>
            </a:r>
            <a:r>
              <a:rPr lang="en-US" b="1" dirty="0"/>
              <a:t> </a:t>
            </a:r>
            <a:r>
              <a:rPr lang="en-US" dirty="0"/>
              <a:t>and </a:t>
            </a:r>
            <a:r>
              <a:rPr lang="en-US" b="1" dirty="0" err="1">
                <a:solidFill>
                  <a:srgbClr val="3333FF"/>
                </a:solidFill>
              </a:rPr>
              <a:t>Softmax</a:t>
            </a:r>
            <a:r>
              <a:rPr lang="en-US" dirty="0"/>
              <a:t>, forming the final classifier.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1400" dirty="0"/>
          </a:p>
          <a:p>
            <a:pPr marL="0" indent="0" algn="l">
              <a:buNone/>
            </a:pPr>
            <a:r>
              <a:rPr lang="en-US" sz="1400" dirty="0"/>
              <a:t>                                                    </a:t>
            </a:r>
            <a:r>
              <a:rPr lang="en-US" sz="1200" dirty="0"/>
              <a:t>Fig. 3. Architecture of the feature-level fusion classifier.</a:t>
            </a:r>
          </a:p>
          <a:p>
            <a:pPr marL="0" indent="0">
              <a:buNone/>
            </a:pPr>
            <a:endParaRPr lang="en-US" dirty="0"/>
          </a:p>
          <a:p>
            <a:pPr marL="0" indent="0">
              <a:lnSpc>
                <a:spcPct val="100000"/>
              </a:lnSpc>
              <a:buNone/>
            </a:pPr>
            <a:endParaRPr lang="en-IN" sz="1400" dirty="0"/>
          </a:p>
          <a:p>
            <a:pPr marL="0" indent="0">
              <a:lnSpc>
                <a:spcPct val="100000"/>
              </a:lnSpc>
              <a:buNone/>
            </a:pPr>
            <a:r>
              <a:rPr lang="en-IN" sz="1400" dirty="0"/>
              <a:t>        </a:t>
            </a:r>
          </a:p>
          <a:p>
            <a:pPr marL="0" indent="0">
              <a:lnSpc>
                <a:spcPct val="100000"/>
              </a:lnSpc>
              <a:buNone/>
            </a:pPr>
            <a:r>
              <a:rPr lang="en-IN" sz="1400" dirty="0"/>
              <a:t>   </a:t>
            </a:r>
          </a:p>
          <a:p>
            <a:endParaRPr lang="en-IN" dirty="0"/>
          </a:p>
        </p:txBody>
      </p:sp>
      <p:sp>
        <p:nvSpPr>
          <p:cNvPr id="3" name="Rectangle: Rounded Corners 2">
            <a:extLst>
              <a:ext uri="{FF2B5EF4-FFF2-40B4-BE49-F238E27FC236}">
                <a16:creationId xmlns:a16="http://schemas.microsoft.com/office/drawing/2014/main" id="{3B57A9A6-81F1-0CDF-91C7-068626225636}"/>
              </a:ext>
            </a:extLst>
          </p:cNvPr>
          <p:cNvSpPr/>
          <p:nvPr/>
        </p:nvSpPr>
        <p:spPr bwMode="auto">
          <a:xfrm>
            <a:off x="3682321" y="1601536"/>
            <a:ext cx="1673352" cy="478867"/>
          </a:xfrm>
          <a:prstGeom prst="roundRect">
            <a:avLst>
              <a:gd name="adj" fmla="val 22917"/>
            </a:avLst>
          </a:prstGeom>
          <a:solidFill>
            <a:srgbClr val="FFFFDD"/>
          </a:solidFill>
          <a:ln w="9525">
            <a:solidFill>
              <a:srgbClr val="EEE8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Fusion Vector</a:t>
            </a:r>
          </a:p>
          <a:p>
            <a:pPr marL="0" marR="0" indent="0" algn="ctr" defTabSz="914400" rtl="0" eaLnBrk="0" fontAlgn="base" latinLnBrk="0" hangingPunct="0">
              <a:lnSpc>
                <a:spcPct val="100000"/>
              </a:lnSpc>
              <a:spcBef>
                <a:spcPct val="0"/>
              </a:spcBef>
              <a:spcAft>
                <a:spcPct val="0"/>
              </a:spcAft>
              <a:buClrTx/>
              <a:buSzTx/>
              <a:buFontTx/>
              <a:buNone/>
              <a:tabLst/>
            </a:pPr>
            <a:r>
              <a:rPr lang="en-IN" sz="1400" dirty="0">
                <a:solidFill>
                  <a:schemeClr val="tx1"/>
                </a:solidFill>
                <a:latin typeface="Times New Roman" panose="02020603050405020304" pitchFamily="18" charset="0"/>
                <a:cs typeface="Times New Roman" panose="02020603050405020304" pitchFamily="18" charset="0"/>
              </a:rPr>
              <a:t>(896 values)</a:t>
            </a:r>
            <a:endPar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372E9BBB-39E2-482F-B8B1-339486EFDC5F}"/>
              </a:ext>
            </a:extLst>
          </p:cNvPr>
          <p:cNvSpPr/>
          <p:nvPr/>
        </p:nvSpPr>
        <p:spPr bwMode="auto">
          <a:xfrm>
            <a:off x="3316561" y="2233520"/>
            <a:ext cx="2404872" cy="585216"/>
          </a:xfrm>
          <a:prstGeom prst="roundRect">
            <a:avLst>
              <a:gd name="adj" fmla="val 19792"/>
            </a:avLst>
          </a:prstGeom>
          <a:solidFill>
            <a:srgbClr val="FFEFF4"/>
          </a:solidFill>
          <a:ln w="9525">
            <a:solidFill>
              <a:srgbClr val="FFA3B9"/>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 Layer (896</a:t>
            </a:r>
            <a:r>
              <a:rPr lang="en-IN" sz="1400" dirty="0"/>
              <a:t>➝</a:t>
            </a: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256)</a:t>
            </a:r>
          </a:p>
        </p:txBody>
      </p:sp>
      <p:sp>
        <p:nvSpPr>
          <p:cNvPr id="6" name="Rectangle: Rounded Corners 5">
            <a:extLst>
              <a:ext uri="{FF2B5EF4-FFF2-40B4-BE49-F238E27FC236}">
                <a16:creationId xmlns:a16="http://schemas.microsoft.com/office/drawing/2014/main" id="{6D0DFC32-83FA-5C67-6BEE-586CF265085D}"/>
              </a:ext>
            </a:extLst>
          </p:cNvPr>
          <p:cNvSpPr/>
          <p:nvPr/>
        </p:nvSpPr>
        <p:spPr bwMode="auto">
          <a:xfrm>
            <a:off x="3316561" y="2987273"/>
            <a:ext cx="2404872" cy="585216"/>
          </a:xfrm>
          <a:prstGeom prst="roundRect">
            <a:avLst>
              <a:gd name="adj" fmla="val 19792"/>
            </a:avLst>
          </a:prstGeom>
          <a:solidFill>
            <a:srgbClr val="E8F1FF"/>
          </a:solidFill>
          <a:ln w="9525">
            <a:solidFill>
              <a:srgbClr val="7DA9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activation + Dropout</a:t>
            </a:r>
          </a:p>
        </p:txBody>
      </p:sp>
      <p:sp>
        <p:nvSpPr>
          <p:cNvPr id="7" name="Rectangle: Rounded Corners 6">
            <a:extLst>
              <a:ext uri="{FF2B5EF4-FFF2-40B4-BE49-F238E27FC236}">
                <a16:creationId xmlns:a16="http://schemas.microsoft.com/office/drawing/2014/main" id="{17786677-5A0A-4047-99BB-A34EED021097}"/>
              </a:ext>
            </a:extLst>
          </p:cNvPr>
          <p:cNvSpPr/>
          <p:nvPr/>
        </p:nvSpPr>
        <p:spPr bwMode="auto">
          <a:xfrm>
            <a:off x="3316561" y="3741027"/>
            <a:ext cx="2404872" cy="585216"/>
          </a:xfrm>
          <a:prstGeom prst="roundRect">
            <a:avLst>
              <a:gd name="adj" fmla="val 18230"/>
            </a:avLst>
          </a:prstGeom>
          <a:solidFill>
            <a:srgbClr val="FFF2E8"/>
          </a:solidFill>
          <a:ln w="9525">
            <a:solidFill>
              <a:srgbClr val="FFB78D"/>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Dense Layer (256</a:t>
            </a:r>
            <a:r>
              <a:rPr lang="en-IN" sz="1400" dirty="0"/>
              <a:t>➝</a:t>
            </a: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p:txBody>
      </p:sp>
      <p:sp>
        <p:nvSpPr>
          <p:cNvPr id="8" name="Rectangle: Rounded Corners 7">
            <a:extLst>
              <a:ext uri="{FF2B5EF4-FFF2-40B4-BE49-F238E27FC236}">
                <a16:creationId xmlns:a16="http://schemas.microsoft.com/office/drawing/2014/main" id="{EC004357-544A-05CA-6600-81A23C79D3BB}"/>
              </a:ext>
            </a:extLst>
          </p:cNvPr>
          <p:cNvSpPr/>
          <p:nvPr/>
        </p:nvSpPr>
        <p:spPr bwMode="auto">
          <a:xfrm>
            <a:off x="3828625" y="4494781"/>
            <a:ext cx="1380744" cy="713001"/>
          </a:xfrm>
          <a:prstGeom prst="roundRect">
            <a:avLst>
              <a:gd name="adj" fmla="val 20386"/>
            </a:avLst>
          </a:prstGeom>
          <a:solidFill>
            <a:srgbClr val="E8FFF5"/>
          </a:solidFill>
          <a:ln w="9525">
            <a:solidFill>
              <a:srgbClr val="6ED7A6"/>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Softmax</a:t>
            </a:r>
            <a:endPar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52A1B177-09FE-9C19-93DE-2CD949CDCD08}"/>
              </a:ext>
            </a:extLst>
          </p:cNvPr>
          <p:cNvSpPr/>
          <p:nvPr/>
        </p:nvSpPr>
        <p:spPr bwMode="auto">
          <a:xfrm>
            <a:off x="3170257" y="5376320"/>
            <a:ext cx="2697480" cy="818405"/>
          </a:xfrm>
          <a:prstGeom prst="roundRect">
            <a:avLst>
              <a:gd name="adj" fmla="val 22254"/>
            </a:avLst>
          </a:prstGeom>
          <a:solidFill>
            <a:srgbClr val="F3EDFF"/>
          </a:solidFill>
          <a:ln w="9525">
            <a:solidFill>
              <a:srgbClr val="B89B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OUTPUT: TRUE/FALSE</a:t>
            </a:r>
          </a:p>
        </p:txBody>
      </p:sp>
      <p:cxnSp>
        <p:nvCxnSpPr>
          <p:cNvPr id="10" name="Straight Arrow Connector 9">
            <a:extLst>
              <a:ext uri="{FF2B5EF4-FFF2-40B4-BE49-F238E27FC236}">
                <a16:creationId xmlns:a16="http://schemas.microsoft.com/office/drawing/2014/main" id="{92700250-9146-11AE-E2AA-5EA6123B8D57}"/>
              </a:ext>
            </a:extLst>
          </p:cNvPr>
          <p:cNvCxnSpPr>
            <a:stCxn id="3" idx="2"/>
            <a:endCxn id="5" idx="0"/>
          </p:cNvCxnSpPr>
          <p:nvPr/>
        </p:nvCxnSpPr>
        <p:spPr bwMode="auto">
          <a:xfrm>
            <a:off x="4518997" y="2080403"/>
            <a:ext cx="0" cy="15311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740B465B-4301-EDFB-76AB-17E04A928CE2}"/>
              </a:ext>
            </a:extLst>
          </p:cNvPr>
          <p:cNvCxnSpPr>
            <a:stCxn id="5" idx="2"/>
            <a:endCxn id="6" idx="0"/>
          </p:cNvCxnSpPr>
          <p:nvPr/>
        </p:nvCxnSpPr>
        <p:spPr bwMode="auto">
          <a:xfrm>
            <a:off x="4518997" y="2818736"/>
            <a:ext cx="0" cy="1685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4152B964-7CC5-FD0C-E400-4CFF1C3FE95B}"/>
              </a:ext>
            </a:extLst>
          </p:cNvPr>
          <p:cNvCxnSpPr>
            <a:stCxn id="6" idx="2"/>
            <a:endCxn id="7" idx="0"/>
          </p:cNvCxnSpPr>
          <p:nvPr/>
        </p:nvCxnSpPr>
        <p:spPr bwMode="auto">
          <a:xfrm>
            <a:off x="4518997" y="3572489"/>
            <a:ext cx="0" cy="1685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C37F98DD-06DC-D20D-415F-452D6ECC5F20}"/>
              </a:ext>
            </a:extLst>
          </p:cNvPr>
          <p:cNvCxnSpPr>
            <a:stCxn id="7" idx="2"/>
            <a:endCxn id="8" idx="0"/>
          </p:cNvCxnSpPr>
          <p:nvPr/>
        </p:nvCxnSpPr>
        <p:spPr bwMode="auto">
          <a:xfrm>
            <a:off x="4518997" y="4326243"/>
            <a:ext cx="0" cy="1685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22311FB8-E5F2-6230-3969-DA6383F38143}"/>
              </a:ext>
            </a:extLst>
          </p:cNvPr>
          <p:cNvCxnSpPr>
            <a:stCxn id="8" idx="2"/>
            <a:endCxn id="9" idx="0"/>
          </p:cNvCxnSpPr>
          <p:nvPr/>
        </p:nvCxnSpPr>
        <p:spPr bwMode="auto">
          <a:xfrm>
            <a:off x="4518997" y="5207782"/>
            <a:ext cx="0" cy="1685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731742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Tools, Technologies and Languages</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IN" b="1" dirty="0"/>
              <a:t>Python</a:t>
            </a:r>
            <a:r>
              <a:rPr lang="en-IN" dirty="0"/>
              <a:t> </a:t>
            </a:r>
            <a:r>
              <a:rPr lang="en-IN" b="1" dirty="0"/>
              <a:t>3.12</a:t>
            </a:r>
            <a:r>
              <a:rPr lang="en-IN" dirty="0"/>
              <a:t> as the core language for implementing each stage of the pipeline.</a:t>
            </a:r>
          </a:p>
          <a:p>
            <a:pPr marL="357188" indent="-261938"/>
            <a:r>
              <a:rPr lang="en-IN" b="1" dirty="0"/>
              <a:t>NumPy 2.0.2</a:t>
            </a:r>
            <a:r>
              <a:rPr lang="en-IN" dirty="0"/>
              <a:t>, </a:t>
            </a:r>
            <a:r>
              <a:rPr lang="en-IN" b="1" dirty="0"/>
              <a:t>Pandas 2.2.2</a:t>
            </a:r>
            <a:r>
              <a:rPr lang="en-IN" dirty="0"/>
              <a:t> for dataset manipulation, cleaning, and splitting.</a:t>
            </a:r>
          </a:p>
          <a:p>
            <a:pPr marL="357188" indent="-261938"/>
            <a:r>
              <a:rPr lang="en-IN" b="1" dirty="0" err="1"/>
              <a:t>PyTorch</a:t>
            </a:r>
            <a:r>
              <a:rPr lang="en-IN" b="1" dirty="0"/>
              <a:t> 2.9.0+cu126 </a:t>
            </a:r>
            <a:r>
              <a:rPr lang="en-IN" dirty="0"/>
              <a:t>used for building </a:t>
            </a:r>
            <a:r>
              <a:rPr lang="en-IN" dirty="0" err="1"/>
              <a:t>RoBERTa</a:t>
            </a:r>
            <a:r>
              <a:rPr lang="en-IN" dirty="0"/>
              <a:t> model, Hybrid LSTM-GRU models, and the final fusion classifier.</a:t>
            </a:r>
          </a:p>
          <a:p>
            <a:pPr marL="357188" indent="-261938"/>
            <a:r>
              <a:rPr lang="en-IN" b="1" dirty="0"/>
              <a:t>TensorFlow 2.19.0 </a:t>
            </a:r>
            <a:r>
              <a:rPr lang="en-IN" dirty="0"/>
              <a:t>used specifically for tokenization and sequence preparation for Hybrid model training.</a:t>
            </a:r>
          </a:p>
          <a:p>
            <a:pPr marL="357188" indent="-261938"/>
            <a:r>
              <a:rPr lang="en-IN" b="1" dirty="0"/>
              <a:t>Matplotlib </a:t>
            </a:r>
            <a:r>
              <a:rPr lang="en-IN" dirty="0"/>
              <a:t>for ROC curves, evaluation graphs, and accuracy visualizations.</a:t>
            </a:r>
          </a:p>
          <a:p>
            <a:pPr marL="357188" indent="-261938"/>
            <a:r>
              <a:rPr lang="en-IN" b="1" dirty="0"/>
              <a:t>Google Colab GPU (CUDA 12.6) </a:t>
            </a:r>
            <a:r>
              <a:rPr lang="en-IN" dirty="0"/>
              <a:t>for full training pipeline with mixed precision.</a:t>
            </a:r>
          </a:p>
          <a:p>
            <a:pPr marL="357188" indent="-261938"/>
            <a:r>
              <a:rPr lang="en-IN" b="1" dirty="0"/>
              <a:t>Feature-level Fusion </a:t>
            </a:r>
            <a:r>
              <a:rPr lang="en-IN" dirty="0"/>
              <a:t>for combining embeddings from </a:t>
            </a:r>
            <a:r>
              <a:rPr lang="en-IN" dirty="0" err="1"/>
              <a:t>RoBERTa</a:t>
            </a:r>
            <a:r>
              <a:rPr lang="en-IN" dirty="0"/>
              <a:t> and Hybrid models.</a:t>
            </a:r>
          </a:p>
          <a:p>
            <a:pPr marL="357188" indent="-261938"/>
            <a:r>
              <a:rPr lang="en-US" b="1" dirty="0"/>
              <a:t>Class Weighting</a:t>
            </a:r>
            <a:r>
              <a:rPr lang="en-US" dirty="0"/>
              <a:t> to handle dataset imbalance and improve fairness.</a:t>
            </a:r>
            <a:endParaRPr lang="en-IN" dirty="0"/>
          </a:p>
          <a:p>
            <a:pPr marL="357188" indent="-261938"/>
            <a:r>
              <a:rPr lang="en-IN" b="1" dirty="0"/>
              <a:t>MLP</a:t>
            </a:r>
            <a:r>
              <a:rPr lang="en-IN" dirty="0"/>
              <a:t> </a:t>
            </a:r>
            <a:r>
              <a:rPr lang="en-IN" b="1" dirty="0"/>
              <a:t>classifier</a:t>
            </a:r>
            <a:r>
              <a:rPr lang="en-IN" dirty="0"/>
              <a:t> + </a:t>
            </a:r>
            <a:r>
              <a:rPr lang="en-IN" b="1" dirty="0" err="1"/>
              <a:t>Softmax</a:t>
            </a:r>
            <a:r>
              <a:rPr lang="en-IN" dirty="0"/>
              <a:t> for final decision layer.</a:t>
            </a:r>
          </a:p>
        </p:txBody>
      </p:sp>
    </p:spTree>
    <p:extLst>
      <p:ext uri="{BB962C8B-B14F-4D97-AF65-F5344CB8AC3E}">
        <p14:creationId xmlns:p14="http://schemas.microsoft.com/office/powerpoint/2010/main" val="2046308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88E6A-1AE1-A079-F01F-D65ADCBCD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B7D60-BB71-49E4-A3E3-7EE2CB4E66E0}"/>
              </a:ext>
            </a:extLst>
          </p:cNvPr>
          <p:cNvSpPr>
            <a:spLocks noGrp="1"/>
          </p:cNvSpPr>
          <p:nvPr>
            <p:ph type="title"/>
          </p:nvPr>
        </p:nvSpPr>
        <p:spPr/>
        <p:txBody>
          <a:bodyPr/>
          <a:lstStyle/>
          <a:p>
            <a:r>
              <a:rPr lang="en-IN" sz="2400" dirty="0">
                <a:ea typeface="Palatino" pitchFamily="2" charset="77"/>
              </a:rPr>
              <a:t>Dataset</a:t>
            </a:r>
            <a:endParaRPr lang="en-US" dirty="0"/>
          </a:p>
        </p:txBody>
      </p:sp>
      <p:sp>
        <p:nvSpPr>
          <p:cNvPr id="4" name="Content Placeholder 2">
            <a:extLst>
              <a:ext uri="{FF2B5EF4-FFF2-40B4-BE49-F238E27FC236}">
                <a16:creationId xmlns:a16="http://schemas.microsoft.com/office/drawing/2014/main" id="{C9873ADC-1482-5DD2-B4CC-E47AD543FBF5}"/>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US" dirty="0"/>
              <a:t>The IFND dataset contains short political and factual statements labeled as </a:t>
            </a:r>
            <a:r>
              <a:rPr lang="en-US" b="1" dirty="0"/>
              <a:t>REAL </a:t>
            </a:r>
            <a:r>
              <a:rPr lang="en-US" dirty="0"/>
              <a:t>or </a:t>
            </a:r>
            <a:r>
              <a:rPr lang="en-US" b="1" dirty="0"/>
              <a:t>FAKE</a:t>
            </a:r>
            <a:r>
              <a:rPr lang="en-US" dirty="0"/>
              <a:t> with metadata such as category and date, and </a:t>
            </a:r>
            <a:r>
              <a:rPr lang="en-US" b="1" dirty="0"/>
              <a:t>in this work </a:t>
            </a:r>
            <a:r>
              <a:rPr lang="en-US" dirty="0"/>
              <a:t>only the </a:t>
            </a:r>
            <a:r>
              <a:rPr lang="en-US" b="1" dirty="0"/>
              <a:t>text portion</a:t>
            </a:r>
            <a:r>
              <a:rPr lang="en-US" dirty="0"/>
              <a:t> was </a:t>
            </a:r>
            <a:r>
              <a:rPr lang="en-US" b="1" dirty="0"/>
              <a:t>used </a:t>
            </a:r>
            <a:r>
              <a:rPr lang="en-US" dirty="0"/>
              <a:t>since image fusion will be added in the next phase.</a:t>
            </a:r>
          </a:p>
          <a:p>
            <a:pPr marL="357188" indent="-261938"/>
            <a:r>
              <a:rPr lang="en-US" b="1" dirty="0">
                <a:ea typeface="Palatino" pitchFamily="2" charset="77"/>
              </a:rPr>
              <a:t>Raw data </a:t>
            </a:r>
            <a:r>
              <a:rPr lang="en-US" dirty="0">
                <a:ea typeface="Palatino" pitchFamily="2" charset="77"/>
              </a:rPr>
              <a:t>contained broken characters, HTML leftovers, encoding errors, near-duplicates, and punctuation inconsistencies, which required an extensive cleaning pipeline.</a:t>
            </a:r>
          </a:p>
          <a:p>
            <a:pPr marL="95250" indent="0">
              <a:buNone/>
            </a:pPr>
            <a:r>
              <a:rPr lang="en-IN" sz="1600" b="1" dirty="0"/>
              <a:t>Table 1: Statistics of the cleaned IFND text dataset</a:t>
            </a:r>
            <a:endParaRPr lang="en-IN" sz="1600" dirty="0"/>
          </a:p>
          <a:p>
            <a:pPr marL="95250" indent="0">
              <a:buNone/>
            </a:pPr>
            <a:endParaRPr lang="en-US" dirty="0">
              <a:ea typeface="Palatino" pitchFamily="2" charset="77"/>
            </a:endParaRPr>
          </a:p>
        </p:txBody>
      </p:sp>
      <p:graphicFrame>
        <p:nvGraphicFramePr>
          <p:cNvPr id="3" name="Table 2">
            <a:extLst>
              <a:ext uri="{FF2B5EF4-FFF2-40B4-BE49-F238E27FC236}">
                <a16:creationId xmlns:a16="http://schemas.microsoft.com/office/drawing/2014/main" id="{152D342A-D1FE-0A53-301C-55C17B9348BE}"/>
              </a:ext>
            </a:extLst>
          </p:cNvPr>
          <p:cNvGraphicFramePr>
            <a:graphicFrameLocks noGrp="1"/>
          </p:cNvGraphicFramePr>
          <p:nvPr>
            <p:extLst>
              <p:ext uri="{D42A27DB-BD31-4B8C-83A1-F6EECF244321}">
                <p14:modId xmlns:p14="http://schemas.microsoft.com/office/powerpoint/2010/main" val="4137090609"/>
              </p:ext>
            </p:extLst>
          </p:nvPr>
        </p:nvGraphicFramePr>
        <p:xfrm>
          <a:off x="301625" y="3911450"/>
          <a:ext cx="3594100" cy="2602551"/>
        </p:xfrm>
        <a:graphic>
          <a:graphicData uri="http://schemas.openxmlformats.org/drawingml/2006/table">
            <a:tbl>
              <a:tblPr firstRow="1" firstCol="1" bandRow="1"/>
              <a:tblGrid>
                <a:gridCol w="2604135">
                  <a:extLst>
                    <a:ext uri="{9D8B030D-6E8A-4147-A177-3AD203B41FA5}">
                      <a16:colId xmlns:a16="http://schemas.microsoft.com/office/drawing/2014/main" val="3874740741"/>
                    </a:ext>
                  </a:extLst>
                </a:gridCol>
                <a:gridCol w="989965">
                  <a:extLst>
                    <a:ext uri="{9D8B030D-6E8A-4147-A177-3AD203B41FA5}">
                      <a16:colId xmlns:a16="http://schemas.microsoft.com/office/drawing/2014/main" val="2067664770"/>
                    </a:ext>
                  </a:extLst>
                </a:gridCol>
              </a:tblGrid>
              <a:tr h="0">
                <a:tc>
                  <a:txBody>
                    <a:bodyPr/>
                    <a:lstStyle/>
                    <a:p>
                      <a:pPr>
                        <a:lnSpc>
                          <a:spcPct val="150000"/>
                        </a:lnSpc>
                        <a:spcAft>
                          <a:spcPts val="800"/>
                        </a:spcAft>
                        <a:buNone/>
                        <a:tabLst>
                          <a:tab pos="1300480" algn="l"/>
                        </a:tabLst>
                      </a:pPr>
                      <a:r>
                        <a:rPr lang="en-IN" sz="1200" kern="100" dirty="0">
                          <a:effectLst/>
                        </a:rPr>
                        <a:t>Statistic</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chemeClr val="bg1">
                        <a:lumMod val="85000"/>
                      </a:schemeClr>
                    </a:solidFill>
                  </a:tcPr>
                </a:tc>
                <a:tc>
                  <a:txBody>
                    <a:bodyPr/>
                    <a:lstStyle/>
                    <a:p>
                      <a:pPr>
                        <a:lnSpc>
                          <a:spcPct val="150000"/>
                        </a:lnSpc>
                        <a:spcAft>
                          <a:spcPts val="800"/>
                        </a:spcAft>
                        <a:buNone/>
                        <a:tabLst>
                          <a:tab pos="1300480" algn="l"/>
                        </a:tabLst>
                      </a:pPr>
                      <a:r>
                        <a:rPr lang="en-IN" sz="1200" kern="100" dirty="0">
                          <a:effectLst/>
                        </a:rPr>
                        <a:t>Count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chemeClr val="bg1">
                        <a:lumMod val="85000"/>
                      </a:schemeClr>
                    </a:solidFill>
                  </a:tcPr>
                </a:tc>
                <a:extLst>
                  <a:ext uri="{0D108BD9-81ED-4DB2-BD59-A6C34878D82A}">
                    <a16:rowId xmlns:a16="http://schemas.microsoft.com/office/drawing/2014/main" val="607713648"/>
                  </a:ext>
                </a:extLst>
              </a:tr>
              <a:tr h="0">
                <a:tc>
                  <a:txBody>
                    <a:bodyPr/>
                    <a:lstStyle/>
                    <a:p>
                      <a:pPr>
                        <a:lnSpc>
                          <a:spcPct val="150000"/>
                        </a:lnSpc>
                        <a:spcAft>
                          <a:spcPts val="800"/>
                        </a:spcAft>
                        <a:buNone/>
                        <a:tabLst>
                          <a:tab pos="1300480" algn="l"/>
                        </a:tabLst>
                      </a:pPr>
                      <a:r>
                        <a:rPr lang="en-IN" sz="1200" kern="100" dirty="0">
                          <a:effectLst/>
                        </a:rPr>
                        <a:t>Total samples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52,754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3101428949"/>
                  </a:ext>
                </a:extLst>
              </a:tr>
              <a:tr h="0">
                <a:tc>
                  <a:txBody>
                    <a:bodyPr/>
                    <a:lstStyle/>
                    <a:p>
                      <a:pPr>
                        <a:lnSpc>
                          <a:spcPct val="150000"/>
                        </a:lnSpc>
                        <a:spcAft>
                          <a:spcPts val="800"/>
                        </a:spcAft>
                        <a:buNone/>
                        <a:tabLst>
                          <a:tab pos="1300480" algn="l"/>
                        </a:tabLst>
                      </a:pPr>
                      <a:r>
                        <a:rPr lang="en-IN" sz="1200" kern="100" dirty="0">
                          <a:effectLst/>
                        </a:rPr>
                        <a:t>Real samples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36,450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4056285145"/>
                  </a:ext>
                </a:extLst>
              </a:tr>
              <a:tr h="0">
                <a:tc>
                  <a:txBody>
                    <a:bodyPr/>
                    <a:lstStyle/>
                    <a:p>
                      <a:pPr>
                        <a:lnSpc>
                          <a:spcPct val="150000"/>
                        </a:lnSpc>
                        <a:spcAft>
                          <a:spcPts val="800"/>
                        </a:spcAft>
                        <a:buNone/>
                        <a:tabLst>
                          <a:tab pos="1300480" algn="l"/>
                        </a:tabLst>
                      </a:pPr>
                      <a:r>
                        <a:rPr lang="en-IN" sz="1200" kern="100" dirty="0">
                          <a:effectLst/>
                        </a:rPr>
                        <a:t>Fake samples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16,304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2026885333"/>
                  </a:ext>
                </a:extLst>
              </a:tr>
              <a:tr h="0">
                <a:tc>
                  <a:txBody>
                    <a:bodyPr/>
                    <a:lstStyle/>
                    <a:p>
                      <a:pPr>
                        <a:lnSpc>
                          <a:spcPct val="150000"/>
                        </a:lnSpc>
                        <a:spcAft>
                          <a:spcPts val="800"/>
                        </a:spcAft>
                        <a:buNone/>
                        <a:tabLst>
                          <a:tab pos="1300480" algn="l"/>
                        </a:tabLst>
                      </a:pPr>
                      <a:r>
                        <a:rPr lang="en-IN" sz="1200" kern="100" dirty="0">
                          <a:effectLst/>
                        </a:rPr>
                        <a:t>Training set (80%)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42,203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4205024388"/>
                  </a:ext>
                </a:extLst>
              </a:tr>
              <a:tr h="0">
                <a:tc>
                  <a:txBody>
                    <a:bodyPr/>
                    <a:lstStyle/>
                    <a:p>
                      <a:pPr>
                        <a:lnSpc>
                          <a:spcPct val="150000"/>
                        </a:lnSpc>
                        <a:spcAft>
                          <a:spcPts val="800"/>
                        </a:spcAft>
                        <a:buNone/>
                        <a:tabLst>
                          <a:tab pos="1300480" algn="l"/>
                        </a:tabLst>
                      </a:pPr>
                      <a:r>
                        <a:rPr lang="en-IN" sz="1200" kern="100" dirty="0">
                          <a:effectLst/>
                        </a:rPr>
                        <a:t>Validation set (10%)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5,275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4219720081"/>
                  </a:ext>
                </a:extLst>
              </a:tr>
              <a:tr h="0">
                <a:tc>
                  <a:txBody>
                    <a:bodyPr/>
                    <a:lstStyle/>
                    <a:p>
                      <a:pPr>
                        <a:lnSpc>
                          <a:spcPct val="150000"/>
                        </a:lnSpc>
                        <a:spcAft>
                          <a:spcPts val="800"/>
                        </a:spcAft>
                        <a:buNone/>
                        <a:tabLst>
                          <a:tab pos="1300480" algn="l"/>
                        </a:tabLst>
                      </a:pPr>
                      <a:r>
                        <a:rPr lang="en-IN" sz="1200" kern="100" dirty="0">
                          <a:effectLst/>
                        </a:rPr>
                        <a:t>Test set (10%)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E8F1FF"/>
                    </a:solidFill>
                  </a:tcPr>
                </a:tc>
                <a:tc>
                  <a:txBody>
                    <a:bodyPr/>
                    <a:lstStyle/>
                    <a:p>
                      <a:pPr>
                        <a:lnSpc>
                          <a:spcPct val="150000"/>
                        </a:lnSpc>
                        <a:spcAft>
                          <a:spcPts val="800"/>
                        </a:spcAft>
                        <a:buNone/>
                        <a:tabLst>
                          <a:tab pos="1300480" algn="l"/>
                        </a:tabLst>
                      </a:pPr>
                      <a:r>
                        <a:rPr lang="en-IN" sz="1200" kern="100" dirty="0">
                          <a:effectLst/>
                        </a:rPr>
                        <a:t>5,276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nchor="ctr">
                    <a:solidFill>
                      <a:srgbClr val="FFFFC9"/>
                    </a:solidFill>
                  </a:tcPr>
                </a:tc>
                <a:extLst>
                  <a:ext uri="{0D108BD9-81ED-4DB2-BD59-A6C34878D82A}">
                    <a16:rowId xmlns:a16="http://schemas.microsoft.com/office/drawing/2014/main" val="118134970"/>
                  </a:ext>
                </a:extLst>
              </a:tr>
            </a:tbl>
          </a:graphicData>
        </a:graphic>
      </p:graphicFrame>
    </p:spTree>
    <p:extLst>
      <p:ext uri="{BB962C8B-B14F-4D97-AF65-F5344CB8AC3E}">
        <p14:creationId xmlns:p14="http://schemas.microsoft.com/office/powerpoint/2010/main" val="28493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Dataset</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US" dirty="0">
                <a:ea typeface="Palatino" pitchFamily="2" charset="77"/>
              </a:rPr>
              <a:t>After cleaning, the dataset was split into:</a:t>
            </a:r>
          </a:p>
          <a:p>
            <a:pPr marL="757238" lvl="1" indent="-261938">
              <a:buSzPct val="75000"/>
            </a:pPr>
            <a:r>
              <a:rPr lang="en-US" b="1" dirty="0">
                <a:ea typeface="Palatino" pitchFamily="2" charset="77"/>
              </a:rPr>
              <a:t>80% Training (42,203 samples)</a:t>
            </a:r>
          </a:p>
          <a:p>
            <a:pPr marL="757238" lvl="1" indent="-261938">
              <a:buSzPct val="75000"/>
            </a:pPr>
            <a:r>
              <a:rPr lang="en-US" b="1" dirty="0">
                <a:ea typeface="Palatino" pitchFamily="2" charset="77"/>
              </a:rPr>
              <a:t>10% Validation (5,275 samples)</a:t>
            </a:r>
          </a:p>
          <a:p>
            <a:pPr marL="757238" lvl="1" indent="-261938">
              <a:buSzPct val="75000"/>
            </a:pPr>
            <a:r>
              <a:rPr lang="en-US" b="1" dirty="0">
                <a:ea typeface="Palatino" pitchFamily="2" charset="77"/>
              </a:rPr>
              <a:t>10% Testing (5,276 samples)</a:t>
            </a:r>
          </a:p>
          <a:p>
            <a:pPr marL="357188" indent="-261938"/>
            <a:r>
              <a:rPr lang="en-US" dirty="0">
                <a:ea typeface="Palatino" pitchFamily="2" charset="77"/>
              </a:rPr>
              <a:t>The cleaned dataset reflects real patterns seen in Indian news content and fits the requirements for deep fake-news analysis.</a:t>
            </a:r>
            <a:endParaRPr lang="en-IN" sz="1800" dirty="0">
              <a:ea typeface="Palatino" pitchFamily="2" charset="77"/>
            </a:endParaRPr>
          </a:p>
        </p:txBody>
      </p:sp>
    </p:spTree>
    <p:extLst>
      <p:ext uri="{BB962C8B-B14F-4D97-AF65-F5344CB8AC3E}">
        <p14:creationId xmlns:p14="http://schemas.microsoft.com/office/powerpoint/2010/main" val="2305819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SzPct val="140000"/>
            </a:pPr>
            <a:r>
              <a:rPr lang="en-IN" b="1" dirty="0"/>
              <a:t>Dataset Splitting + </a:t>
            </a:r>
            <a:r>
              <a:rPr lang="en-IN" b="1" dirty="0" err="1"/>
              <a:t>RoBERTa</a:t>
            </a:r>
            <a:r>
              <a:rPr lang="en-IN" b="1" dirty="0"/>
              <a:t> Pipeline</a:t>
            </a:r>
          </a:p>
          <a:p>
            <a:pPr lvl="1">
              <a:buSzPct val="70000"/>
            </a:pPr>
            <a:r>
              <a:rPr lang="en-US" dirty="0"/>
              <a:t>The IFND dataset was split in an 80/10/10 stratified ratio to ensure the TRUE and FALSE labels remained balanced.</a:t>
            </a:r>
          </a:p>
          <a:p>
            <a:pPr lvl="1">
              <a:buSzPct val="70000"/>
            </a:pPr>
            <a:r>
              <a:rPr lang="en-US" dirty="0"/>
              <a:t>The </a:t>
            </a:r>
            <a:r>
              <a:rPr lang="en-US" dirty="0" err="1"/>
              <a:t>RoBERTa</a:t>
            </a:r>
            <a:r>
              <a:rPr lang="en-US" dirty="0"/>
              <a:t> tokenizer converted the text into input IDs and attention masks, creating a model-ready format.</a:t>
            </a:r>
          </a:p>
          <a:p>
            <a:pPr lvl="1">
              <a:buSzPct val="70000"/>
            </a:pPr>
            <a:r>
              <a:rPr lang="en-US" dirty="0"/>
              <a:t>The model was trained using AMP, gradient clipping, a warmup scheduler, and early stopping to maintain stable learning.</a:t>
            </a:r>
            <a:endParaRPr lang="en-US" sz="1000" dirty="0"/>
          </a:p>
          <a:p>
            <a:pPr marL="457200" lvl="1" indent="0">
              <a:buSzPct val="75000"/>
              <a:buNone/>
            </a:pPr>
            <a:r>
              <a:rPr lang="en-IN" b="1" dirty="0"/>
              <a:t>Snippet 1:</a:t>
            </a:r>
            <a:r>
              <a:rPr lang="en-IN" dirty="0"/>
              <a:t> (</a:t>
            </a:r>
            <a:r>
              <a:rPr lang="en-IN" dirty="0">
                <a:solidFill>
                  <a:srgbClr val="021BD4"/>
                </a:solidFill>
              </a:rPr>
              <a:t>✔</a:t>
            </a:r>
            <a:r>
              <a:rPr lang="en-IN" dirty="0"/>
              <a:t> Dataset Splitting)</a:t>
            </a:r>
            <a:r>
              <a:rPr lang="en-IN" b="1" dirty="0"/>
              <a:t> </a:t>
            </a:r>
          </a:p>
          <a:p>
            <a:pPr marL="457200" lvl="1" indent="0">
              <a:buNone/>
            </a:pPr>
            <a:endParaRPr lang="en-IN" dirty="0"/>
          </a:p>
        </p:txBody>
      </p:sp>
      <p:pic>
        <p:nvPicPr>
          <p:cNvPr id="5" name="Picture 4">
            <a:extLst>
              <a:ext uri="{FF2B5EF4-FFF2-40B4-BE49-F238E27FC236}">
                <a16:creationId xmlns:a16="http://schemas.microsoft.com/office/drawing/2014/main" id="{71AF2777-193E-66CD-A3EC-A5CC94FD5420}"/>
              </a:ext>
            </a:extLst>
          </p:cNvPr>
          <p:cNvPicPr>
            <a:picLocks noChangeAspect="1"/>
          </p:cNvPicPr>
          <p:nvPr/>
        </p:nvPicPr>
        <p:blipFill>
          <a:blip r:embed="rId2"/>
          <a:stretch>
            <a:fillRect/>
          </a:stretch>
        </p:blipFill>
        <p:spPr>
          <a:xfrm>
            <a:off x="627807" y="4224528"/>
            <a:ext cx="6214205" cy="1581912"/>
          </a:xfrm>
          <a:prstGeom prst="rect">
            <a:avLst/>
          </a:prstGeom>
          <a:ln>
            <a:solidFill>
              <a:schemeClr val="tx1"/>
            </a:solidFill>
          </a:ln>
        </p:spPr>
      </p:pic>
    </p:spTree>
    <p:extLst>
      <p:ext uri="{BB962C8B-B14F-4D97-AF65-F5344CB8AC3E}">
        <p14:creationId xmlns:p14="http://schemas.microsoft.com/office/powerpoint/2010/main" val="3407709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C85D1-0BFF-36D3-E66B-B3157EA52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0826D-CDF3-C24C-885D-ACDC843C6ACC}"/>
              </a:ext>
            </a:extLst>
          </p:cNvPr>
          <p:cNvSpPr>
            <a:spLocks noGrp="1"/>
          </p:cNvSpPr>
          <p:nvPr>
            <p:ph type="title"/>
          </p:nvPr>
        </p:nvSpPr>
        <p:spPr/>
        <p:txBody>
          <a:bodyPr/>
          <a:lstStyle/>
          <a:p>
            <a:r>
              <a:rPr lang="en-IN" sz="2400" dirty="0">
                <a:ea typeface="Palatino" pitchFamily="2" charset="77"/>
              </a:rPr>
              <a:t>Implementation (</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A10784C3-80BA-D79F-422B-B1A651248AB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2: </a:t>
            </a:r>
            <a:r>
              <a:rPr lang="en-IN" sz="1600" dirty="0">
                <a:ea typeface="Palatino" pitchFamily="2" charset="77"/>
              </a:rPr>
              <a:t>(</a:t>
            </a:r>
            <a:r>
              <a:rPr lang="en-IN" sz="1600" dirty="0">
                <a:solidFill>
                  <a:srgbClr val="021BD4"/>
                </a:solidFill>
              </a:rPr>
              <a:t>✔</a:t>
            </a:r>
            <a:r>
              <a:rPr lang="en-IN" sz="1600" dirty="0"/>
              <a:t> </a:t>
            </a:r>
            <a:r>
              <a:rPr lang="en-IN" sz="1600" dirty="0" err="1"/>
              <a:t>RoBERTa</a:t>
            </a:r>
            <a:r>
              <a:rPr lang="en-IN" sz="1600" dirty="0"/>
              <a:t> Dataset Loader)</a:t>
            </a: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250" b="1" dirty="0">
              <a:ea typeface="Palatino" pitchFamily="2" charset="77"/>
            </a:endParaRPr>
          </a:p>
          <a:p>
            <a:pPr marL="95250" indent="0">
              <a:buNone/>
            </a:pPr>
            <a:r>
              <a:rPr lang="en-IN" sz="1600" b="1" dirty="0">
                <a:ea typeface="Palatino" pitchFamily="2" charset="77"/>
              </a:rPr>
              <a:t>Snippet 3: (</a:t>
            </a:r>
            <a:r>
              <a:rPr lang="en-IN" sz="1600" dirty="0">
                <a:solidFill>
                  <a:srgbClr val="021BD4"/>
                </a:solidFill>
              </a:rPr>
              <a:t>✔</a:t>
            </a:r>
            <a:r>
              <a:rPr lang="en-IN" sz="1600" dirty="0"/>
              <a:t> Training Core)</a:t>
            </a:r>
          </a:p>
          <a:p>
            <a:pPr marL="95250" indent="0">
              <a:buNone/>
            </a:pPr>
            <a:endParaRPr lang="en-IN" sz="1600" b="1" dirty="0">
              <a:ea typeface="Palatino" pitchFamily="2" charset="77"/>
            </a:endParaRPr>
          </a:p>
          <a:p>
            <a:pPr marL="95250" indent="0">
              <a:buNone/>
            </a:pPr>
            <a:endParaRPr lang="en-IN" sz="1600" b="1" dirty="0">
              <a:ea typeface="Palatino" pitchFamily="2" charset="77"/>
            </a:endParaRPr>
          </a:p>
        </p:txBody>
      </p:sp>
      <p:pic>
        <p:nvPicPr>
          <p:cNvPr id="5" name="Picture 4">
            <a:extLst>
              <a:ext uri="{FF2B5EF4-FFF2-40B4-BE49-F238E27FC236}">
                <a16:creationId xmlns:a16="http://schemas.microsoft.com/office/drawing/2014/main" id="{1E4358E2-D101-F240-523D-07168DBBCC02}"/>
              </a:ext>
            </a:extLst>
          </p:cNvPr>
          <p:cNvPicPr>
            <a:picLocks noChangeAspect="1"/>
          </p:cNvPicPr>
          <p:nvPr/>
        </p:nvPicPr>
        <p:blipFill>
          <a:blip r:embed="rId2"/>
          <a:stretch>
            <a:fillRect/>
          </a:stretch>
        </p:blipFill>
        <p:spPr>
          <a:xfrm>
            <a:off x="290951" y="1273676"/>
            <a:ext cx="6420746" cy="2356492"/>
          </a:xfrm>
          <a:prstGeom prst="rect">
            <a:avLst/>
          </a:prstGeom>
          <a:ln>
            <a:solidFill>
              <a:schemeClr val="tx1"/>
            </a:solidFill>
          </a:ln>
        </p:spPr>
      </p:pic>
      <p:pic>
        <p:nvPicPr>
          <p:cNvPr id="7" name="Picture 6">
            <a:extLst>
              <a:ext uri="{FF2B5EF4-FFF2-40B4-BE49-F238E27FC236}">
                <a16:creationId xmlns:a16="http://schemas.microsoft.com/office/drawing/2014/main" id="{53F7BE29-13D1-C60B-842C-214D135465C9}"/>
              </a:ext>
            </a:extLst>
          </p:cNvPr>
          <p:cNvPicPr>
            <a:picLocks noChangeAspect="1"/>
          </p:cNvPicPr>
          <p:nvPr/>
        </p:nvPicPr>
        <p:blipFill>
          <a:blip r:embed="rId3"/>
          <a:stretch>
            <a:fillRect/>
          </a:stretch>
        </p:blipFill>
        <p:spPr>
          <a:xfrm>
            <a:off x="290951" y="4068012"/>
            <a:ext cx="8326012" cy="1648055"/>
          </a:xfrm>
          <a:prstGeom prst="rect">
            <a:avLst/>
          </a:prstGeom>
          <a:ln>
            <a:solidFill>
              <a:schemeClr val="tx1"/>
            </a:solidFill>
          </a:ln>
        </p:spPr>
      </p:pic>
    </p:spTree>
    <p:extLst>
      <p:ext uri="{BB962C8B-B14F-4D97-AF65-F5344CB8AC3E}">
        <p14:creationId xmlns:p14="http://schemas.microsoft.com/office/powerpoint/2010/main" val="3870366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31DC-3C21-12BE-7E18-E64B47D17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20750-7FC2-DBC8-B25E-E4505654B191}"/>
              </a:ext>
            </a:extLst>
          </p:cNvPr>
          <p:cNvSpPr>
            <a:spLocks noGrp="1"/>
          </p:cNvSpPr>
          <p:nvPr>
            <p:ph type="title"/>
          </p:nvPr>
        </p:nvSpPr>
        <p:spPr/>
        <p:txBody>
          <a:bodyPr/>
          <a:lstStyle/>
          <a:p>
            <a:r>
              <a:rPr lang="en-IN" sz="2400" dirty="0">
                <a:ea typeface="Palatino" pitchFamily="2" charset="77"/>
              </a:rPr>
              <a:t>Implementation (</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AEB77656-C745-88CA-F06B-6046B0BAF21A}"/>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4: </a:t>
            </a:r>
            <a:r>
              <a:rPr lang="en-IN" sz="1600" dirty="0">
                <a:ea typeface="Palatino" pitchFamily="2" charset="77"/>
              </a:rPr>
              <a:t>(</a:t>
            </a:r>
            <a:r>
              <a:rPr lang="en-IN" sz="1600" dirty="0">
                <a:solidFill>
                  <a:srgbClr val="021BD4"/>
                </a:solidFill>
              </a:rPr>
              <a:t>✔</a:t>
            </a:r>
            <a:r>
              <a:rPr lang="en-IN" sz="1600" dirty="0"/>
              <a:t> Early Stopping)</a:t>
            </a: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1600" b="1" dirty="0">
              <a:ea typeface="Palatino" pitchFamily="2" charset="77"/>
            </a:endParaRPr>
          </a:p>
          <a:p>
            <a:pPr marL="95250" indent="0">
              <a:buNone/>
            </a:pPr>
            <a:endParaRPr lang="en-IN" sz="300" b="1" dirty="0">
              <a:ea typeface="Palatino" pitchFamily="2" charset="77"/>
            </a:endParaRPr>
          </a:p>
          <a:p>
            <a:pPr marL="95250" indent="0">
              <a:buNone/>
            </a:pPr>
            <a:endParaRPr lang="en-IN" sz="300" b="1" dirty="0">
              <a:ea typeface="Palatino" pitchFamily="2" charset="77"/>
            </a:endParaRPr>
          </a:p>
          <a:p>
            <a:pPr>
              <a:buSzPct val="140000"/>
            </a:pPr>
            <a:r>
              <a:rPr lang="en-IN" b="1" dirty="0"/>
              <a:t>Hybrid Model (Bi-LSTM + Attention + GRU)</a:t>
            </a:r>
          </a:p>
          <a:p>
            <a:pPr lvl="1">
              <a:buSzPct val="70000"/>
            </a:pPr>
            <a:r>
              <a:rPr lang="en-US" dirty="0"/>
              <a:t>The </a:t>
            </a:r>
            <a:r>
              <a:rPr lang="en-US" dirty="0" err="1"/>
              <a:t>Keras</a:t>
            </a:r>
            <a:r>
              <a:rPr lang="en-US" dirty="0"/>
              <a:t> tokenizer converted the text into padded integer sequences with a maximum length of 128.</a:t>
            </a:r>
          </a:p>
          <a:p>
            <a:pPr lvl="1">
              <a:buSzPct val="70000"/>
            </a:pPr>
            <a:r>
              <a:rPr lang="en-US" dirty="0"/>
              <a:t>The hybrid architecture used Bi-LSTM, an attention mechanism, and GRU layers to extract deep contextual features.</a:t>
            </a:r>
          </a:p>
          <a:p>
            <a:pPr lvl="1">
              <a:buSzPct val="70000"/>
            </a:pPr>
            <a:r>
              <a:rPr lang="en-US" dirty="0"/>
              <a:t>Training was performed with class-weighted loss, gradient clipping, learning-rate scheduling, and early stopping.</a:t>
            </a:r>
            <a:endParaRPr lang="en-IN" b="1" dirty="0">
              <a:ea typeface="Palatino" pitchFamily="2" charset="77"/>
            </a:endParaRPr>
          </a:p>
        </p:txBody>
      </p:sp>
      <p:pic>
        <p:nvPicPr>
          <p:cNvPr id="5" name="Picture 4">
            <a:extLst>
              <a:ext uri="{FF2B5EF4-FFF2-40B4-BE49-F238E27FC236}">
                <a16:creationId xmlns:a16="http://schemas.microsoft.com/office/drawing/2014/main" id="{A8B5FA76-3D76-EE8A-6702-5F516AA193EC}"/>
              </a:ext>
            </a:extLst>
          </p:cNvPr>
          <p:cNvPicPr>
            <a:picLocks noChangeAspect="1"/>
          </p:cNvPicPr>
          <p:nvPr/>
        </p:nvPicPr>
        <p:blipFill>
          <a:blip r:embed="rId2"/>
          <a:srcRect r="11245" b="9144"/>
          <a:stretch>
            <a:fillRect/>
          </a:stretch>
        </p:blipFill>
        <p:spPr>
          <a:xfrm>
            <a:off x="284324" y="1271271"/>
            <a:ext cx="3601876" cy="1453641"/>
          </a:xfrm>
          <a:prstGeom prst="rect">
            <a:avLst/>
          </a:prstGeom>
          <a:ln>
            <a:solidFill>
              <a:schemeClr val="tx1"/>
            </a:solidFill>
          </a:ln>
        </p:spPr>
      </p:pic>
    </p:spTree>
    <p:extLst>
      <p:ext uri="{BB962C8B-B14F-4D97-AF65-F5344CB8AC3E}">
        <p14:creationId xmlns:p14="http://schemas.microsoft.com/office/powerpoint/2010/main" val="2667767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600FA-E015-693D-5750-83EC8B7D4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BEA1E-C26B-60E9-2BA3-86D15261312C}"/>
              </a:ext>
            </a:extLst>
          </p:cNvPr>
          <p:cNvSpPr>
            <a:spLocks noGrp="1"/>
          </p:cNvSpPr>
          <p:nvPr>
            <p:ph type="title"/>
          </p:nvPr>
        </p:nvSpPr>
        <p:spPr/>
        <p:txBody>
          <a:bodyPr/>
          <a:lstStyle/>
          <a:p>
            <a:r>
              <a:rPr lang="en-IN" dirty="0">
                <a:ea typeface="Palatino" pitchFamily="2" charset="77"/>
              </a:rPr>
              <a:t>Implementation (</a:t>
            </a:r>
            <a:r>
              <a:rPr lang="en-IN" dirty="0" err="1">
                <a:ea typeface="Palatino" pitchFamily="2" charset="77"/>
              </a:rPr>
              <a:t>cont</a:t>
            </a:r>
            <a:r>
              <a:rPr lang="en-IN" dirty="0">
                <a:ea typeface="Palatino" pitchFamily="2" charset="77"/>
              </a:rPr>
              <a:t>…)</a:t>
            </a:r>
            <a:endParaRPr lang="en-US" dirty="0"/>
          </a:p>
        </p:txBody>
      </p:sp>
      <p:sp>
        <p:nvSpPr>
          <p:cNvPr id="4" name="Content Placeholder 2">
            <a:extLst>
              <a:ext uri="{FF2B5EF4-FFF2-40B4-BE49-F238E27FC236}">
                <a16:creationId xmlns:a16="http://schemas.microsoft.com/office/drawing/2014/main" id="{A6584451-44FA-A9E5-6C25-938EFC57D3F2}"/>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1: </a:t>
            </a:r>
            <a:r>
              <a:rPr lang="en-IN" sz="1600" dirty="0">
                <a:ea typeface="Palatino" pitchFamily="2" charset="77"/>
              </a:rPr>
              <a:t>(</a:t>
            </a:r>
            <a:r>
              <a:rPr lang="en-IN" sz="1600" dirty="0">
                <a:solidFill>
                  <a:srgbClr val="021BD4"/>
                </a:solidFill>
              </a:rPr>
              <a:t>✔</a:t>
            </a:r>
            <a:r>
              <a:rPr lang="en-IN" sz="1600" dirty="0"/>
              <a:t> </a:t>
            </a:r>
            <a:r>
              <a:rPr lang="en-US" sz="1600" dirty="0" err="1"/>
              <a:t>Keras</a:t>
            </a:r>
            <a:r>
              <a:rPr lang="en-US" sz="1600" dirty="0"/>
              <a:t> tokenizer to convert text into padded integer sequences)</a:t>
            </a:r>
          </a:p>
          <a:p>
            <a:pPr marL="95250" indent="0">
              <a:buNone/>
            </a:pPr>
            <a:endParaRPr lang="en-US" sz="1600" dirty="0"/>
          </a:p>
          <a:p>
            <a:pPr marL="95250" indent="0">
              <a:buNone/>
            </a:pPr>
            <a:endParaRPr lang="en-US" sz="1600" dirty="0"/>
          </a:p>
          <a:p>
            <a:pPr marL="95250" indent="0">
              <a:buNone/>
            </a:pPr>
            <a:r>
              <a:rPr lang="en-US" sz="1600" b="1" dirty="0"/>
              <a:t>Snippet 2: </a:t>
            </a:r>
            <a:r>
              <a:rPr lang="en-US" sz="1600" dirty="0"/>
              <a:t>(</a:t>
            </a:r>
            <a:r>
              <a:rPr lang="en-IN" sz="1600" dirty="0">
                <a:solidFill>
                  <a:srgbClr val="021BD4"/>
                </a:solidFill>
              </a:rPr>
              <a:t>✔</a:t>
            </a:r>
            <a:r>
              <a:rPr lang="en-IN" sz="1600" dirty="0"/>
              <a:t> Hybrid Architecture Forward Pass)</a:t>
            </a:r>
          </a:p>
          <a:p>
            <a:pPr marL="95250" indent="0">
              <a:buNone/>
            </a:pPr>
            <a:endParaRPr lang="en-IN" sz="1600" dirty="0"/>
          </a:p>
          <a:p>
            <a:pPr marL="95250" indent="0">
              <a:buNone/>
            </a:pPr>
            <a:endParaRPr lang="en-IN" sz="1600" dirty="0"/>
          </a:p>
          <a:p>
            <a:pPr marL="95250" indent="0">
              <a:buNone/>
            </a:pPr>
            <a:endParaRPr lang="en-IN" sz="1600" dirty="0"/>
          </a:p>
          <a:p>
            <a:pPr marL="95250" indent="0">
              <a:buNone/>
            </a:pPr>
            <a:endParaRPr lang="en-IN" sz="1000" dirty="0"/>
          </a:p>
          <a:p>
            <a:pPr marL="95250" indent="0">
              <a:buNone/>
            </a:pPr>
            <a:r>
              <a:rPr lang="en-IN" sz="1600" b="1" dirty="0"/>
              <a:t>Snippet 3: </a:t>
            </a:r>
            <a:r>
              <a:rPr lang="en-IN" sz="1600" dirty="0"/>
              <a:t>(</a:t>
            </a:r>
            <a:r>
              <a:rPr lang="en-IN" sz="1600" dirty="0">
                <a:solidFill>
                  <a:srgbClr val="021BD4"/>
                </a:solidFill>
              </a:rPr>
              <a:t>✔</a:t>
            </a:r>
            <a:r>
              <a:rPr lang="en-IN" sz="1600" dirty="0"/>
              <a:t> Training Core)</a:t>
            </a:r>
            <a:endParaRPr lang="en-US" sz="1600" dirty="0"/>
          </a:p>
          <a:p>
            <a:pPr marL="95250" indent="0">
              <a:buNone/>
            </a:pPr>
            <a:endParaRPr lang="en-IN" sz="1600" b="1" dirty="0">
              <a:ea typeface="Palatino" pitchFamily="2" charset="77"/>
            </a:endParaRPr>
          </a:p>
        </p:txBody>
      </p:sp>
      <p:pic>
        <p:nvPicPr>
          <p:cNvPr id="5" name="Picture 4">
            <a:extLst>
              <a:ext uri="{FF2B5EF4-FFF2-40B4-BE49-F238E27FC236}">
                <a16:creationId xmlns:a16="http://schemas.microsoft.com/office/drawing/2014/main" id="{193B70BA-7C5D-F041-6806-1FAAD469700D}"/>
              </a:ext>
            </a:extLst>
          </p:cNvPr>
          <p:cNvPicPr>
            <a:picLocks noChangeAspect="1"/>
          </p:cNvPicPr>
          <p:nvPr/>
        </p:nvPicPr>
        <p:blipFill>
          <a:blip r:embed="rId2"/>
          <a:stretch>
            <a:fillRect/>
          </a:stretch>
        </p:blipFill>
        <p:spPr>
          <a:xfrm>
            <a:off x="286633" y="1257427"/>
            <a:ext cx="6449325" cy="905001"/>
          </a:xfrm>
          <a:prstGeom prst="rect">
            <a:avLst/>
          </a:prstGeom>
          <a:ln>
            <a:solidFill>
              <a:schemeClr val="tx1"/>
            </a:solidFill>
          </a:ln>
        </p:spPr>
      </p:pic>
      <p:pic>
        <p:nvPicPr>
          <p:cNvPr id="7" name="Picture 6">
            <a:extLst>
              <a:ext uri="{FF2B5EF4-FFF2-40B4-BE49-F238E27FC236}">
                <a16:creationId xmlns:a16="http://schemas.microsoft.com/office/drawing/2014/main" id="{0058287B-9F01-62C1-61A4-D6C5399314B8}"/>
              </a:ext>
            </a:extLst>
          </p:cNvPr>
          <p:cNvPicPr>
            <a:picLocks noChangeAspect="1"/>
          </p:cNvPicPr>
          <p:nvPr/>
        </p:nvPicPr>
        <p:blipFill>
          <a:blip r:embed="rId3"/>
          <a:stretch>
            <a:fillRect/>
          </a:stretch>
        </p:blipFill>
        <p:spPr>
          <a:xfrm>
            <a:off x="279252" y="2623260"/>
            <a:ext cx="4248743" cy="1648055"/>
          </a:xfrm>
          <a:prstGeom prst="rect">
            <a:avLst/>
          </a:prstGeom>
          <a:ln>
            <a:solidFill>
              <a:schemeClr val="tx1"/>
            </a:solidFill>
          </a:ln>
        </p:spPr>
      </p:pic>
      <p:pic>
        <p:nvPicPr>
          <p:cNvPr id="9" name="Picture 8">
            <a:extLst>
              <a:ext uri="{FF2B5EF4-FFF2-40B4-BE49-F238E27FC236}">
                <a16:creationId xmlns:a16="http://schemas.microsoft.com/office/drawing/2014/main" id="{15821314-6714-43F0-45D5-F29CA683DBC1}"/>
              </a:ext>
            </a:extLst>
          </p:cNvPr>
          <p:cNvPicPr>
            <a:picLocks noChangeAspect="1"/>
          </p:cNvPicPr>
          <p:nvPr/>
        </p:nvPicPr>
        <p:blipFill>
          <a:blip r:embed="rId4"/>
          <a:stretch>
            <a:fillRect/>
          </a:stretch>
        </p:blipFill>
        <p:spPr>
          <a:xfrm>
            <a:off x="279252" y="4723003"/>
            <a:ext cx="6335009" cy="1552792"/>
          </a:xfrm>
          <a:prstGeom prst="rect">
            <a:avLst/>
          </a:prstGeom>
          <a:ln>
            <a:solidFill>
              <a:schemeClr val="tx1"/>
            </a:solidFill>
          </a:ln>
        </p:spPr>
      </p:pic>
    </p:spTree>
    <p:extLst>
      <p:ext uri="{BB962C8B-B14F-4D97-AF65-F5344CB8AC3E}">
        <p14:creationId xmlns:p14="http://schemas.microsoft.com/office/powerpoint/2010/main" val="3671605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21D5-3E69-1A6A-0123-ED3A9B56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4FDAF-CBFB-D6AE-7160-8429C02D7523}"/>
              </a:ext>
            </a:extLst>
          </p:cNvPr>
          <p:cNvSpPr>
            <a:spLocks noGrp="1"/>
          </p:cNvSpPr>
          <p:nvPr>
            <p:ph type="title"/>
          </p:nvPr>
        </p:nvSpPr>
        <p:spPr/>
        <p:txBody>
          <a:bodyPr/>
          <a:lstStyle/>
          <a:p>
            <a:r>
              <a:rPr lang="en-IN" dirty="0">
                <a:ea typeface="Palatino" pitchFamily="2" charset="77"/>
              </a:rPr>
              <a:t>Implementation (</a:t>
            </a:r>
            <a:r>
              <a:rPr lang="en-IN" dirty="0" err="1">
                <a:ea typeface="Palatino" pitchFamily="2" charset="77"/>
              </a:rPr>
              <a:t>cont</a:t>
            </a:r>
            <a:r>
              <a:rPr lang="en-IN" dirty="0">
                <a:ea typeface="Palatino" pitchFamily="2" charset="77"/>
              </a:rPr>
              <a:t>…)</a:t>
            </a:r>
            <a:endParaRPr lang="en-US" dirty="0"/>
          </a:p>
        </p:txBody>
      </p:sp>
      <p:sp>
        <p:nvSpPr>
          <p:cNvPr id="4" name="Content Placeholder 2">
            <a:extLst>
              <a:ext uri="{FF2B5EF4-FFF2-40B4-BE49-F238E27FC236}">
                <a16:creationId xmlns:a16="http://schemas.microsoft.com/office/drawing/2014/main" id="{ECA801C9-546A-4637-E895-7436F30588D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4: </a:t>
            </a:r>
            <a:r>
              <a:rPr lang="en-IN" sz="1600" dirty="0">
                <a:ea typeface="Palatino" pitchFamily="2" charset="77"/>
              </a:rPr>
              <a:t>(</a:t>
            </a:r>
            <a:r>
              <a:rPr lang="en-IN" sz="1600" dirty="0">
                <a:solidFill>
                  <a:srgbClr val="021BD4"/>
                </a:solidFill>
              </a:rPr>
              <a:t>✔</a:t>
            </a:r>
            <a:r>
              <a:rPr lang="en-IN" sz="1600" dirty="0"/>
              <a:t> LR Scheduler + Early Stopping)</a:t>
            </a:r>
          </a:p>
          <a:p>
            <a:pPr marL="95250" indent="0">
              <a:buNone/>
            </a:pPr>
            <a:endParaRPr lang="en-IN" sz="1600" dirty="0"/>
          </a:p>
          <a:p>
            <a:pPr marL="95250" indent="0">
              <a:buNone/>
            </a:pPr>
            <a:endParaRPr lang="en-IN" sz="1600" dirty="0"/>
          </a:p>
          <a:p>
            <a:endParaRPr lang="en-US" sz="600" b="1" dirty="0"/>
          </a:p>
          <a:p>
            <a:endParaRPr lang="en-US" sz="600" b="1" dirty="0"/>
          </a:p>
          <a:p>
            <a:endParaRPr lang="en-US" sz="600" b="1" dirty="0"/>
          </a:p>
          <a:p>
            <a:endParaRPr lang="en-US" sz="600" b="1" dirty="0"/>
          </a:p>
          <a:p>
            <a:endParaRPr lang="en-US" sz="600" b="1" dirty="0"/>
          </a:p>
          <a:p>
            <a:endParaRPr lang="en-US" sz="600" b="1" dirty="0"/>
          </a:p>
          <a:p>
            <a:pPr marL="0" indent="0">
              <a:buNone/>
            </a:pPr>
            <a:endParaRPr lang="en-US" sz="650" b="1" dirty="0"/>
          </a:p>
          <a:p>
            <a:pPr>
              <a:buSzPct val="140000"/>
            </a:pPr>
            <a:r>
              <a:rPr lang="en-US" b="1" dirty="0"/>
              <a:t>Feature-Level Fusion (</a:t>
            </a:r>
            <a:r>
              <a:rPr lang="en-US" b="1" dirty="0" err="1"/>
              <a:t>RoBERTa</a:t>
            </a:r>
            <a:r>
              <a:rPr lang="en-US" b="1" dirty="0"/>
              <a:t> + Hybrid)</a:t>
            </a:r>
          </a:p>
          <a:p>
            <a:pPr lvl="1">
              <a:buSzPct val="70000"/>
            </a:pPr>
            <a:r>
              <a:rPr lang="en-US" dirty="0"/>
              <a:t>The best </a:t>
            </a:r>
            <a:r>
              <a:rPr lang="en-US" dirty="0" err="1"/>
              <a:t>RoBERTa</a:t>
            </a:r>
            <a:r>
              <a:rPr lang="en-US" dirty="0"/>
              <a:t> and Hybrid models were loaded in </a:t>
            </a:r>
            <a:r>
              <a:rPr lang="en-US" b="1" dirty="0"/>
              <a:t>frozen feature-extractor mode</a:t>
            </a:r>
            <a:r>
              <a:rPr lang="en-US" dirty="0"/>
              <a:t>, meaning only the fusion classifier was trainable.</a:t>
            </a:r>
          </a:p>
          <a:p>
            <a:pPr lvl="1">
              <a:buSzPct val="70000"/>
            </a:pPr>
            <a:r>
              <a:rPr lang="en-US" dirty="0" err="1"/>
              <a:t>RoBERTa’s</a:t>
            </a:r>
            <a:r>
              <a:rPr lang="en-US" dirty="0"/>
              <a:t> </a:t>
            </a:r>
            <a:r>
              <a:rPr lang="en-US" b="1" dirty="0"/>
              <a:t>768-dim CLS embedding</a:t>
            </a:r>
            <a:r>
              <a:rPr lang="en-US" dirty="0"/>
              <a:t> and the Hybrid model’s </a:t>
            </a:r>
            <a:r>
              <a:rPr lang="en-US" b="1" dirty="0"/>
              <a:t>128-dim GRU output</a:t>
            </a:r>
            <a:r>
              <a:rPr lang="en-US" dirty="0"/>
              <a:t> were extracted and combined into a single fused vector.</a:t>
            </a:r>
          </a:p>
          <a:p>
            <a:pPr lvl="1">
              <a:buSzPct val="70000"/>
            </a:pPr>
            <a:r>
              <a:rPr lang="en-US" dirty="0"/>
              <a:t>A lightweight </a:t>
            </a:r>
            <a:r>
              <a:rPr lang="en-US" b="1" dirty="0"/>
              <a:t>MLP classifier</a:t>
            </a:r>
            <a:r>
              <a:rPr lang="en-US" dirty="0"/>
              <a:t> was trained on this fused representation, producing the final fake-news predictions.</a:t>
            </a:r>
          </a:p>
          <a:p>
            <a:pPr marL="95250" indent="0">
              <a:buNone/>
            </a:pPr>
            <a:endParaRPr lang="en-IN" sz="1600" dirty="0"/>
          </a:p>
          <a:p>
            <a:pPr marL="95250" indent="0">
              <a:buNone/>
            </a:pPr>
            <a:endParaRPr lang="en-IN" sz="1600" dirty="0"/>
          </a:p>
          <a:p>
            <a:pPr marL="95250" indent="0">
              <a:buNone/>
            </a:pPr>
            <a:endParaRPr lang="en-IN" sz="1600" dirty="0"/>
          </a:p>
          <a:p>
            <a:pPr marL="95250" indent="0">
              <a:buNone/>
            </a:pPr>
            <a:endParaRPr lang="en-IN" sz="1600" dirty="0"/>
          </a:p>
          <a:p>
            <a:pPr marL="95250" indent="0">
              <a:buNone/>
            </a:pPr>
            <a:endParaRPr lang="en-IN" sz="1600" b="1" dirty="0">
              <a:ea typeface="Palatino" pitchFamily="2" charset="77"/>
            </a:endParaRPr>
          </a:p>
        </p:txBody>
      </p:sp>
      <p:pic>
        <p:nvPicPr>
          <p:cNvPr id="5" name="Picture 4">
            <a:extLst>
              <a:ext uri="{FF2B5EF4-FFF2-40B4-BE49-F238E27FC236}">
                <a16:creationId xmlns:a16="http://schemas.microsoft.com/office/drawing/2014/main" id="{00BC1117-771B-BB25-0D27-CE2B68ADA33E}"/>
              </a:ext>
            </a:extLst>
          </p:cNvPr>
          <p:cNvPicPr>
            <a:picLocks noChangeAspect="1"/>
          </p:cNvPicPr>
          <p:nvPr/>
        </p:nvPicPr>
        <p:blipFill>
          <a:blip r:embed="rId2"/>
          <a:srcRect l="-1" r="13785" b="4474"/>
          <a:stretch>
            <a:fillRect/>
          </a:stretch>
        </p:blipFill>
        <p:spPr>
          <a:xfrm>
            <a:off x="288063" y="1256567"/>
            <a:ext cx="3854169" cy="2080993"/>
          </a:xfrm>
          <a:prstGeom prst="rect">
            <a:avLst/>
          </a:prstGeom>
          <a:ln>
            <a:solidFill>
              <a:schemeClr val="tx1"/>
            </a:solidFill>
          </a:ln>
        </p:spPr>
      </p:pic>
    </p:spTree>
    <p:extLst>
      <p:ext uri="{BB962C8B-B14F-4D97-AF65-F5344CB8AC3E}">
        <p14:creationId xmlns:p14="http://schemas.microsoft.com/office/powerpoint/2010/main" val="2400475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2C902-FFCF-57F0-6CA2-5CF88BF23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AE197-E8D0-BB05-54CC-E1A2D703441F}"/>
              </a:ext>
            </a:extLst>
          </p:cNvPr>
          <p:cNvSpPr>
            <a:spLocks noGrp="1"/>
          </p:cNvSpPr>
          <p:nvPr>
            <p:ph type="title"/>
          </p:nvPr>
        </p:nvSpPr>
        <p:spPr/>
        <p:txBody>
          <a:bodyPr/>
          <a:lstStyle/>
          <a:p>
            <a:r>
              <a:rPr lang="en-IN" dirty="0">
                <a:ea typeface="Palatino" pitchFamily="2" charset="77"/>
              </a:rPr>
              <a:t>Implementation (</a:t>
            </a:r>
            <a:r>
              <a:rPr lang="en-IN" dirty="0" err="1">
                <a:ea typeface="Palatino" pitchFamily="2" charset="77"/>
              </a:rPr>
              <a:t>cont</a:t>
            </a:r>
            <a:r>
              <a:rPr lang="en-IN" dirty="0">
                <a:ea typeface="Palatino" pitchFamily="2" charset="77"/>
              </a:rPr>
              <a:t>…)</a:t>
            </a:r>
            <a:endParaRPr lang="en-US" dirty="0"/>
          </a:p>
        </p:txBody>
      </p:sp>
      <p:sp>
        <p:nvSpPr>
          <p:cNvPr id="4" name="Content Placeholder 2">
            <a:extLst>
              <a:ext uri="{FF2B5EF4-FFF2-40B4-BE49-F238E27FC236}">
                <a16:creationId xmlns:a16="http://schemas.microsoft.com/office/drawing/2014/main" id="{38B1E0E4-053E-905C-34DC-B1931DBE00E0}"/>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1: </a:t>
            </a:r>
            <a:r>
              <a:rPr lang="en-IN" sz="1600" dirty="0">
                <a:ea typeface="Palatino" pitchFamily="2" charset="77"/>
              </a:rPr>
              <a:t>(</a:t>
            </a:r>
            <a:r>
              <a:rPr lang="en-IN" sz="1600" dirty="0">
                <a:solidFill>
                  <a:srgbClr val="021BD4"/>
                </a:solidFill>
              </a:rPr>
              <a:t>✔</a:t>
            </a:r>
            <a:r>
              <a:rPr lang="en-IN" sz="1600" dirty="0"/>
              <a:t> Load Best Saved Models)</a:t>
            </a:r>
          </a:p>
          <a:p>
            <a:pPr marL="95250" indent="0">
              <a:buNone/>
            </a:pPr>
            <a:endParaRPr lang="en-IN" sz="1600" dirty="0"/>
          </a:p>
          <a:p>
            <a:pPr marL="95250" indent="0">
              <a:buNone/>
            </a:pPr>
            <a:endParaRPr lang="en-IN" sz="1600" dirty="0"/>
          </a:p>
          <a:p>
            <a:pPr marL="95250" indent="0">
              <a:buNone/>
            </a:pPr>
            <a:endParaRPr lang="en-IN" sz="1600" dirty="0"/>
          </a:p>
          <a:p>
            <a:pPr marL="95250" indent="0">
              <a:buNone/>
            </a:pPr>
            <a:endParaRPr lang="en-IN" sz="700" dirty="0"/>
          </a:p>
          <a:p>
            <a:pPr marL="95250" indent="0">
              <a:buNone/>
            </a:pPr>
            <a:r>
              <a:rPr lang="en-IN" sz="1600" b="1" dirty="0"/>
              <a:t>Snippet 2: </a:t>
            </a:r>
            <a:r>
              <a:rPr lang="en-IN" sz="1600" dirty="0"/>
              <a:t>(</a:t>
            </a:r>
            <a:r>
              <a:rPr lang="en-IN" sz="1600" dirty="0">
                <a:solidFill>
                  <a:srgbClr val="021BD4"/>
                </a:solidFill>
              </a:rPr>
              <a:t>✔</a:t>
            </a:r>
            <a:r>
              <a:rPr lang="en-IN" sz="1600" dirty="0"/>
              <a:t> Freeze Encoders)</a:t>
            </a:r>
          </a:p>
          <a:p>
            <a:pPr marL="95250" indent="0">
              <a:buNone/>
            </a:pPr>
            <a:endParaRPr lang="en-IN" sz="1600" dirty="0"/>
          </a:p>
          <a:p>
            <a:pPr marL="95250" indent="0">
              <a:buNone/>
            </a:pPr>
            <a:endParaRPr lang="en-IN" sz="700" dirty="0"/>
          </a:p>
          <a:p>
            <a:pPr marL="95250" indent="0">
              <a:buNone/>
            </a:pPr>
            <a:r>
              <a:rPr lang="en-IN" sz="1600" b="1" dirty="0"/>
              <a:t>Snippet 3: </a:t>
            </a:r>
            <a:r>
              <a:rPr lang="en-IN" sz="1600" dirty="0"/>
              <a:t>(</a:t>
            </a:r>
            <a:r>
              <a:rPr lang="en-IN" sz="1600" dirty="0">
                <a:solidFill>
                  <a:srgbClr val="021BD4"/>
                </a:solidFill>
              </a:rPr>
              <a:t>✔</a:t>
            </a:r>
            <a:r>
              <a:rPr lang="en-IN" sz="1600" dirty="0"/>
              <a:t> Extract Feature Embeddings)</a:t>
            </a:r>
          </a:p>
          <a:p>
            <a:pPr marL="95250" indent="0">
              <a:buNone/>
            </a:pPr>
            <a:endParaRPr lang="en-IN" sz="1600" dirty="0"/>
          </a:p>
          <a:p>
            <a:pPr marL="95250" indent="0">
              <a:buNone/>
            </a:pPr>
            <a:endParaRPr lang="en-IN" sz="700" dirty="0"/>
          </a:p>
          <a:p>
            <a:pPr marL="95250" indent="0">
              <a:buNone/>
            </a:pPr>
            <a:r>
              <a:rPr lang="en-IN" sz="1600" b="1" dirty="0"/>
              <a:t>Snippet 4: </a:t>
            </a:r>
            <a:r>
              <a:rPr lang="en-IN" sz="1600" dirty="0"/>
              <a:t>(</a:t>
            </a:r>
            <a:r>
              <a:rPr lang="en-IN" sz="1600" dirty="0">
                <a:solidFill>
                  <a:srgbClr val="021BD4"/>
                </a:solidFill>
              </a:rPr>
              <a:t>✔ </a:t>
            </a:r>
            <a:r>
              <a:rPr lang="en-IN" sz="1600" dirty="0"/>
              <a:t>Concatenate Features)</a:t>
            </a:r>
          </a:p>
          <a:p>
            <a:pPr marL="95250" indent="0">
              <a:buNone/>
            </a:pPr>
            <a:endParaRPr lang="en-IN" sz="1600" dirty="0"/>
          </a:p>
          <a:p>
            <a:pPr marL="95250" indent="0">
              <a:buNone/>
            </a:pPr>
            <a:endParaRPr lang="en-IN" sz="1600" dirty="0"/>
          </a:p>
          <a:p>
            <a:pPr marL="95250" indent="0">
              <a:buNone/>
            </a:pPr>
            <a:endParaRPr lang="en-IN" sz="1600" dirty="0"/>
          </a:p>
          <a:p>
            <a:pPr marL="95250" indent="0">
              <a:buNone/>
            </a:pPr>
            <a:endParaRPr lang="en-IN" sz="1600" b="1" dirty="0">
              <a:ea typeface="Palatino" pitchFamily="2" charset="77"/>
            </a:endParaRPr>
          </a:p>
        </p:txBody>
      </p:sp>
      <p:pic>
        <p:nvPicPr>
          <p:cNvPr id="5" name="Picture 4">
            <a:extLst>
              <a:ext uri="{FF2B5EF4-FFF2-40B4-BE49-F238E27FC236}">
                <a16:creationId xmlns:a16="http://schemas.microsoft.com/office/drawing/2014/main" id="{6609F5F3-713C-057C-85B2-52E956D3944C}"/>
              </a:ext>
            </a:extLst>
          </p:cNvPr>
          <p:cNvPicPr>
            <a:picLocks noChangeAspect="1"/>
          </p:cNvPicPr>
          <p:nvPr/>
        </p:nvPicPr>
        <p:blipFill>
          <a:blip r:embed="rId2"/>
          <a:stretch>
            <a:fillRect/>
          </a:stretch>
        </p:blipFill>
        <p:spPr>
          <a:xfrm>
            <a:off x="284658" y="1282151"/>
            <a:ext cx="7459116" cy="1495634"/>
          </a:xfrm>
          <a:prstGeom prst="rect">
            <a:avLst/>
          </a:prstGeom>
          <a:ln>
            <a:solidFill>
              <a:schemeClr val="tx1"/>
            </a:solidFill>
          </a:ln>
        </p:spPr>
      </p:pic>
      <p:pic>
        <p:nvPicPr>
          <p:cNvPr id="7" name="Picture 6">
            <a:extLst>
              <a:ext uri="{FF2B5EF4-FFF2-40B4-BE49-F238E27FC236}">
                <a16:creationId xmlns:a16="http://schemas.microsoft.com/office/drawing/2014/main" id="{602D7527-1886-6E31-7C75-CADDC04C264A}"/>
              </a:ext>
            </a:extLst>
          </p:cNvPr>
          <p:cNvPicPr>
            <a:picLocks noChangeAspect="1"/>
          </p:cNvPicPr>
          <p:nvPr/>
        </p:nvPicPr>
        <p:blipFill>
          <a:blip r:embed="rId3"/>
          <a:stretch>
            <a:fillRect/>
          </a:stretch>
        </p:blipFill>
        <p:spPr>
          <a:xfrm>
            <a:off x="293802" y="3279605"/>
            <a:ext cx="6839905" cy="609685"/>
          </a:xfrm>
          <a:prstGeom prst="rect">
            <a:avLst/>
          </a:prstGeom>
          <a:ln>
            <a:solidFill>
              <a:schemeClr val="tx1"/>
            </a:solidFill>
          </a:ln>
        </p:spPr>
      </p:pic>
      <p:pic>
        <p:nvPicPr>
          <p:cNvPr id="9" name="Picture 8">
            <a:extLst>
              <a:ext uri="{FF2B5EF4-FFF2-40B4-BE49-F238E27FC236}">
                <a16:creationId xmlns:a16="http://schemas.microsoft.com/office/drawing/2014/main" id="{A84349A4-BCB0-8CF5-7518-0EB7C5FE863E}"/>
              </a:ext>
            </a:extLst>
          </p:cNvPr>
          <p:cNvPicPr>
            <a:picLocks noChangeAspect="1"/>
          </p:cNvPicPr>
          <p:nvPr/>
        </p:nvPicPr>
        <p:blipFill>
          <a:blip r:embed="rId4"/>
          <a:stretch>
            <a:fillRect/>
          </a:stretch>
        </p:blipFill>
        <p:spPr>
          <a:xfrm>
            <a:off x="293802" y="4391110"/>
            <a:ext cx="4867954" cy="666843"/>
          </a:xfrm>
          <a:prstGeom prst="rect">
            <a:avLst/>
          </a:prstGeom>
          <a:ln>
            <a:solidFill>
              <a:schemeClr val="tx1"/>
            </a:solidFill>
          </a:ln>
        </p:spPr>
      </p:pic>
      <p:pic>
        <p:nvPicPr>
          <p:cNvPr id="11" name="Picture 10">
            <a:extLst>
              <a:ext uri="{FF2B5EF4-FFF2-40B4-BE49-F238E27FC236}">
                <a16:creationId xmlns:a16="http://schemas.microsoft.com/office/drawing/2014/main" id="{5D19644C-4790-079B-CA44-25C75A2AFCAB}"/>
              </a:ext>
            </a:extLst>
          </p:cNvPr>
          <p:cNvPicPr>
            <a:picLocks noChangeAspect="1"/>
          </p:cNvPicPr>
          <p:nvPr/>
        </p:nvPicPr>
        <p:blipFill>
          <a:blip r:embed="rId5"/>
          <a:stretch>
            <a:fillRect/>
          </a:stretch>
        </p:blipFill>
        <p:spPr>
          <a:xfrm>
            <a:off x="293802" y="5481222"/>
            <a:ext cx="6544588" cy="485843"/>
          </a:xfrm>
          <a:prstGeom prst="rect">
            <a:avLst/>
          </a:prstGeom>
          <a:ln>
            <a:solidFill>
              <a:schemeClr val="tx1"/>
            </a:solidFill>
          </a:ln>
        </p:spPr>
      </p:pic>
    </p:spTree>
    <p:extLst>
      <p:ext uri="{BB962C8B-B14F-4D97-AF65-F5344CB8AC3E}">
        <p14:creationId xmlns:p14="http://schemas.microsoft.com/office/powerpoint/2010/main" val="36689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423B-3B76-BB2D-540F-6407DD5F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46FD5-56CD-F03C-31B2-413906154068}"/>
              </a:ext>
            </a:extLst>
          </p:cNvPr>
          <p:cNvSpPr>
            <a:spLocks noGrp="1"/>
          </p:cNvSpPr>
          <p:nvPr>
            <p:ph type="title"/>
          </p:nvPr>
        </p:nvSpPr>
        <p:spPr/>
        <p:txBody>
          <a:bodyPr/>
          <a:lstStyle/>
          <a:p>
            <a:r>
              <a:rPr lang="en-IN" dirty="0">
                <a:ea typeface="Palatino" pitchFamily="2" charset="77"/>
              </a:rPr>
              <a:t>Implementation (</a:t>
            </a:r>
            <a:r>
              <a:rPr lang="en-IN" dirty="0" err="1">
                <a:ea typeface="Palatino" pitchFamily="2" charset="77"/>
              </a:rPr>
              <a:t>cont</a:t>
            </a:r>
            <a:r>
              <a:rPr lang="en-IN" dirty="0">
                <a:ea typeface="Palatino" pitchFamily="2" charset="77"/>
              </a:rPr>
              <a:t>…)</a:t>
            </a:r>
            <a:endParaRPr lang="en-US" dirty="0"/>
          </a:p>
        </p:txBody>
      </p:sp>
      <p:sp>
        <p:nvSpPr>
          <p:cNvPr id="4" name="Content Placeholder 2">
            <a:extLst>
              <a:ext uri="{FF2B5EF4-FFF2-40B4-BE49-F238E27FC236}">
                <a16:creationId xmlns:a16="http://schemas.microsoft.com/office/drawing/2014/main" id="{AD8B0E23-28B9-A411-F2B9-0AAE335CE30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r>
              <a:rPr lang="en-IN" sz="1600" b="1" dirty="0">
                <a:ea typeface="Palatino" pitchFamily="2" charset="77"/>
              </a:rPr>
              <a:t>Snippet 5: </a:t>
            </a:r>
            <a:r>
              <a:rPr lang="en-IN" sz="1600" dirty="0">
                <a:ea typeface="Palatino" pitchFamily="2" charset="77"/>
              </a:rPr>
              <a:t>(</a:t>
            </a:r>
            <a:r>
              <a:rPr lang="en-IN" sz="1600" dirty="0">
                <a:solidFill>
                  <a:srgbClr val="021BD4"/>
                </a:solidFill>
              </a:rPr>
              <a:t>✔</a:t>
            </a:r>
            <a:r>
              <a:rPr lang="en-IN" sz="1600" dirty="0"/>
              <a:t> Train Fusion Classifier)</a:t>
            </a:r>
          </a:p>
          <a:p>
            <a:pPr marL="95250" indent="0">
              <a:buNone/>
            </a:pPr>
            <a:endParaRPr lang="en-IN" sz="1600" dirty="0">
              <a:ea typeface="Palatino" pitchFamily="2" charset="77"/>
            </a:endParaRPr>
          </a:p>
        </p:txBody>
      </p:sp>
      <p:pic>
        <p:nvPicPr>
          <p:cNvPr id="5" name="Picture 4">
            <a:extLst>
              <a:ext uri="{FF2B5EF4-FFF2-40B4-BE49-F238E27FC236}">
                <a16:creationId xmlns:a16="http://schemas.microsoft.com/office/drawing/2014/main" id="{D1B2CE83-75ED-4880-7915-D8F13D45C3C0}"/>
              </a:ext>
            </a:extLst>
          </p:cNvPr>
          <p:cNvPicPr>
            <a:picLocks noChangeAspect="1"/>
          </p:cNvPicPr>
          <p:nvPr/>
        </p:nvPicPr>
        <p:blipFill>
          <a:blip r:embed="rId2"/>
          <a:stretch>
            <a:fillRect/>
          </a:stretch>
        </p:blipFill>
        <p:spPr>
          <a:xfrm>
            <a:off x="280707" y="1270745"/>
            <a:ext cx="4010585" cy="1152686"/>
          </a:xfrm>
          <a:prstGeom prst="rect">
            <a:avLst/>
          </a:prstGeom>
          <a:ln>
            <a:solidFill>
              <a:schemeClr val="tx1"/>
            </a:solidFill>
          </a:ln>
        </p:spPr>
      </p:pic>
    </p:spTree>
    <p:extLst>
      <p:ext uri="{BB962C8B-B14F-4D97-AF65-F5344CB8AC3E}">
        <p14:creationId xmlns:p14="http://schemas.microsoft.com/office/powerpoint/2010/main" val="1701351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F3BA-770D-8241-26B4-0EB804FAD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88527-928C-FB52-A6DA-A38B96EEA2F8}"/>
              </a:ext>
            </a:extLst>
          </p:cNvPr>
          <p:cNvSpPr>
            <a:spLocks noGrp="1"/>
          </p:cNvSpPr>
          <p:nvPr>
            <p:ph type="title"/>
          </p:nvPr>
        </p:nvSpPr>
        <p:spPr/>
        <p:txBody>
          <a:bodyPr/>
          <a:lstStyle/>
          <a:p>
            <a:r>
              <a:rPr lang="en-IN" dirty="0"/>
              <a:t>Experimental Results &amp; Evaluation</a:t>
            </a:r>
            <a:endParaRPr lang="en-US" b="0" dirty="0"/>
          </a:p>
        </p:txBody>
      </p:sp>
      <p:sp>
        <p:nvSpPr>
          <p:cNvPr id="4" name="Content Placeholder 2">
            <a:extLst>
              <a:ext uri="{FF2B5EF4-FFF2-40B4-BE49-F238E27FC236}">
                <a16:creationId xmlns:a16="http://schemas.microsoft.com/office/drawing/2014/main" id="{A707BADD-4745-0DB4-8889-F99DB0D7E010}"/>
              </a:ext>
            </a:extLst>
          </p:cNvPr>
          <p:cNvSpPr txBox="1">
            <a:spLocks/>
          </p:cNvSpPr>
          <p:nvPr/>
        </p:nvSpPr>
        <p:spPr bwMode="auto">
          <a:xfrm>
            <a:off x="93643" y="88240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US" dirty="0"/>
              <a:t>Initially, multiple deep-learning models were </a:t>
            </a:r>
            <a:r>
              <a:rPr lang="en-US" b="1" dirty="0">
                <a:solidFill>
                  <a:srgbClr val="3333FF"/>
                </a:solidFill>
              </a:rPr>
              <a:t>trained</a:t>
            </a:r>
            <a:r>
              <a:rPr lang="en-US" dirty="0"/>
              <a:t> and </a:t>
            </a:r>
            <a:r>
              <a:rPr lang="en-US" b="1" dirty="0">
                <a:solidFill>
                  <a:srgbClr val="3333FF"/>
                </a:solidFill>
              </a:rPr>
              <a:t>tested</a:t>
            </a:r>
            <a:r>
              <a:rPr lang="en-US" dirty="0"/>
              <a:t> on the IFND dataset to </a:t>
            </a:r>
            <a:r>
              <a:rPr lang="en-US" b="1" dirty="0">
                <a:solidFill>
                  <a:srgbClr val="3333FF"/>
                </a:solidFill>
              </a:rPr>
              <a:t>compare</a:t>
            </a:r>
            <a:r>
              <a:rPr lang="en-US" dirty="0"/>
              <a:t> their </a:t>
            </a:r>
            <a:r>
              <a:rPr lang="en-US" b="1" dirty="0">
                <a:solidFill>
                  <a:srgbClr val="3333FF"/>
                </a:solidFill>
              </a:rPr>
              <a:t>performance</a:t>
            </a:r>
            <a:r>
              <a:rPr lang="en-US" dirty="0"/>
              <a:t>, stability, and generalization ability.</a:t>
            </a:r>
          </a:p>
          <a:p>
            <a:pPr marL="95250" indent="0">
              <a:buNone/>
            </a:pPr>
            <a:endParaRPr lang="en-US" dirty="0"/>
          </a:p>
          <a:p>
            <a:pPr marL="357188" indent="-261938"/>
            <a:endParaRPr lang="en-IN" dirty="0"/>
          </a:p>
          <a:p>
            <a:pPr marL="357188" indent="-261938"/>
            <a:endParaRPr lang="en-IN" dirty="0"/>
          </a:p>
          <a:p>
            <a:pPr marL="357188" indent="-261938"/>
            <a:endParaRPr lang="en-IN" dirty="0"/>
          </a:p>
          <a:p>
            <a:pPr marL="95250" indent="0">
              <a:buNone/>
            </a:pPr>
            <a:endParaRPr lang="en-IN" sz="1900" dirty="0"/>
          </a:p>
          <a:p>
            <a:pPr marL="95250" indent="0">
              <a:buNone/>
            </a:pPr>
            <a:endParaRPr lang="en-IN" sz="1400" dirty="0"/>
          </a:p>
          <a:p>
            <a:pPr marL="95250" indent="0">
              <a:buNone/>
            </a:pPr>
            <a:endParaRPr lang="en-IN" sz="1400" dirty="0"/>
          </a:p>
          <a:p>
            <a:pPr marL="95250" indent="0">
              <a:buNone/>
            </a:pPr>
            <a:endParaRPr lang="en-IN" sz="1400" dirty="0"/>
          </a:p>
          <a:p>
            <a:pPr marL="95250" indent="0">
              <a:buNone/>
            </a:pPr>
            <a:endParaRPr lang="en-IN" sz="1500" dirty="0"/>
          </a:p>
        </p:txBody>
      </p:sp>
      <p:sp>
        <p:nvSpPr>
          <p:cNvPr id="7" name="Rectangle 2">
            <a:extLst>
              <a:ext uri="{FF2B5EF4-FFF2-40B4-BE49-F238E27FC236}">
                <a16:creationId xmlns:a16="http://schemas.microsoft.com/office/drawing/2014/main" id="{0512863B-9533-F5C6-31D2-BF6C1DED8072}"/>
              </a:ext>
            </a:extLst>
          </p:cNvPr>
          <p:cNvSpPr>
            <a:spLocks noChangeArrowheads="1"/>
          </p:cNvSpPr>
          <p:nvPr/>
        </p:nvSpPr>
        <p:spPr bwMode="auto">
          <a:xfrm>
            <a:off x="2660650" y="13335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Table 7">
            <a:extLst>
              <a:ext uri="{FF2B5EF4-FFF2-40B4-BE49-F238E27FC236}">
                <a16:creationId xmlns:a16="http://schemas.microsoft.com/office/drawing/2014/main" id="{5A4AE3C6-99DC-E71E-49F5-911A5338AC41}"/>
              </a:ext>
            </a:extLst>
          </p:cNvPr>
          <p:cNvGraphicFramePr>
            <a:graphicFrameLocks noGrp="1"/>
          </p:cNvGraphicFramePr>
          <p:nvPr>
            <p:extLst>
              <p:ext uri="{D42A27DB-BD31-4B8C-83A1-F6EECF244321}">
                <p14:modId xmlns:p14="http://schemas.microsoft.com/office/powerpoint/2010/main" val="4020963074"/>
              </p:ext>
            </p:extLst>
          </p:nvPr>
        </p:nvGraphicFramePr>
        <p:xfrm>
          <a:off x="4444756" y="2284667"/>
          <a:ext cx="4315196" cy="3858591"/>
        </p:xfrm>
        <a:graphic>
          <a:graphicData uri="http://schemas.openxmlformats.org/drawingml/2006/table">
            <a:tbl>
              <a:tblPr>
                <a:tableStyleId>{5940675A-B579-460E-94D1-54222C63F5DA}</a:tableStyleId>
              </a:tblPr>
              <a:tblGrid>
                <a:gridCol w="850440">
                  <a:extLst>
                    <a:ext uri="{9D8B030D-6E8A-4147-A177-3AD203B41FA5}">
                      <a16:colId xmlns:a16="http://schemas.microsoft.com/office/drawing/2014/main" val="1376038415"/>
                    </a:ext>
                  </a:extLst>
                </a:gridCol>
                <a:gridCol w="866189">
                  <a:extLst>
                    <a:ext uri="{9D8B030D-6E8A-4147-A177-3AD203B41FA5}">
                      <a16:colId xmlns:a16="http://schemas.microsoft.com/office/drawing/2014/main" val="2028259705"/>
                    </a:ext>
                  </a:extLst>
                </a:gridCol>
                <a:gridCol w="866189">
                  <a:extLst>
                    <a:ext uri="{9D8B030D-6E8A-4147-A177-3AD203B41FA5}">
                      <a16:colId xmlns:a16="http://schemas.microsoft.com/office/drawing/2014/main" val="3272658507"/>
                    </a:ext>
                  </a:extLst>
                </a:gridCol>
                <a:gridCol w="866189">
                  <a:extLst>
                    <a:ext uri="{9D8B030D-6E8A-4147-A177-3AD203B41FA5}">
                      <a16:colId xmlns:a16="http://schemas.microsoft.com/office/drawing/2014/main" val="288381446"/>
                    </a:ext>
                  </a:extLst>
                </a:gridCol>
                <a:gridCol w="866189">
                  <a:extLst>
                    <a:ext uri="{9D8B030D-6E8A-4147-A177-3AD203B41FA5}">
                      <a16:colId xmlns:a16="http://schemas.microsoft.com/office/drawing/2014/main" val="3320684169"/>
                    </a:ext>
                  </a:extLst>
                </a:gridCol>
              </a:tblGrid>
              <a:tr h="295570">
                <a:tc>
                  <a:txBody>
                    <a:bodyPr/>
                    <a:lstStyle/>
                    <a:p>
                      <a:pPr>
                        <a:lnSpc>
                          <a:spcPct val="107000"/>
                        </a:lnSpc>
                        <a:spcAft>
                          <a:spcPts val="800"/>
                        </a:spcAft>
                        <a:buNone/>
                      </a:pPr>
                      <a:r>
                        <a:rPr lang="en-IN" sz="1100" b="1" kern="100" dirty="0">
                          <a:effectLst/>
                          <a:latin typeface="Times New Roman" panose="02020603050405020304" pitchFamily="18" charset="0"/>
                          <a:cs typeface="Times New Roman" panose="02020603050405020304" pitchFamily="18" charset="0"/>
                        </a:rPr>
                        <a:t>Model</a:t>
                      </a:r>
                      <a:endParaRPr lang="en-IN"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D5DCE4"/>
                    </a:solidFill>
                  </a:tcPr>
                </a:tc>
                <a:tc>
                  <a:txBody>
                    <a:bodyPr/>
                    <a:lstStyle/>
                    <a:p>
                      <a:pPr>
                        <a:lnSpc>
                          <a:spcPct val="107000"/>
                        </a:lnSpc>
                        <a:spcAft>
                          <a:spcPts val="800"/>
                        </a:spcAft>
                        <a:buNone/>
                      </a:pPr>
                      <a:r>
                        <a:rPr lang="en-IN" sz="1100" b="1" kern="100" dirty="0">
                          <a:effectLst/>
                          <a:latin typeface="Times New Roman" panose="02020603050405020304" pitchFamily="18" charset="0"/>
                          <a:cs typeface="Times New Roman" panose="02020603050405020304" pitchFamily="18" charset="0"/>
                        </a:rPr>
                        <a:t>Accuracy</a:t>
                      </a:r>
                      <a:endParaRPr lang="en-IN"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D5DCE4"/>
                    </a:solidFill>
                  </a:tcPr>
                </a:tc>
                <a:tc>
                  <a:txBody>
                    <a:bodyPr/>
                    <a:lstStyle/>
                    <a:p>
                      <a:pPr>
                        <a:lnSpc>
                          <a:spcPct val="107000"/>
                        </a:lnSpc>
                        <a:spcAft>
                          <a:spcPts val="800"/>
                        </a:spcAft>
                        <a:buNone/>
                      </a:pPr>
                      <a:r>
                        <a:rPr lang="en-IN" sz="1100" b="1" kern="100" dirty="0">
                          <a:effectLst/>
                          <a:latin typeface="Times New Roman" panose="02020603050405020304" pitchFamily="18" charset="0"/>
                          <a:cs typeface="Times New Roman" panose="02020603050405020304" pitchFamily="18" charset="0"/>
                        </a:rPr>
                        <a:t>ROC-AUC</a:t>
                      </a:r>
                      <a:endParaRPr lang="en-IN"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D5DCE4"/>
                    </a:solidFill>
                  </a:tcPr>
                </a:tc>
                <a:tc>
                  <a:txBody>
                    <a:bodyPr/>
                    <a:lstStyle/>
                    <a:p>
                      <a:pPr>
                        <a:lnSpc>
                          <a:spcPct val="107000"/>
                        </a:lnSpc>
                        <a:spcAft>
                          <a:spcPts val="800"/>
                        </a:spcAft>
                        <a:buNone/>
                      </a:pPr>
                      <a:r>
                        <a:rPr lang="en-IN" sz="1100" b="1" kern="100" dirty="0">
                          <a:effectLst/>
                          <a:latin typeface="Times New Roman" panose="02020603050405020304" pitchFamily="18" charset="0"/>
                          <a:cs typeface="Times New Roman" panose="02020603050405020304" pitchFamily="18" charset="0"/>
                        </a:rPr>
                        <a:t>F1-Score</a:t>
                      </a:r>
                      <a:endParaRPr lang="en-IN"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D5DCE4"/>
                    </a:solidFill>
                  </a:tcPr>
                </a:tc>
                <a:tc>
                  <a:txBody>
                    <a:bodyPr/>
                    <a:lstStyle/>
                    <a:p>
                      <a:pPr>
                        <a:lnSpc>
                          <a:spcPct val="107000"/>
                        </a:lnSpc>
                        <a:spcAft>
                          <a:spcPts val="800"/>
                        </a:spcAft>
                        <a:buNone/>
                      </a:pPr>
                      <a:r>
                        <a:rPr lang="en-IN" sz="1100" b="1" kern="100" dirty="0">
                          <a:effectLst/>
                          <a:latin typeface="Times New Roman" panose="02020603050405020304" pitchFamily="18" charset="0"/>
                          <a:cs typeface="Times New Roman" panose="02020603050405020304" pitchFamily="18" charset="0"/>
                        </a:rPr>
                        <a:t>Time (min)</a:t>
                      </a:r>
                      <a:endParaRPr lang="en-IN"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D5DCE4"/>
                    </a:solidFill>
                  </a:tcPr>
                </a:tc>
                <a:extLst>
                  <a:ext uri="{0D108BD9-81ED-4DB2-BD59-A6C34878D82A}">
                    <a16:rowId xmlns:a16="http://schemas.microsoft.com/office/drawing/2014/main" val="1250174166"/>
                  </a:ext>
                </a:extLst>
              </a:tr>
              <a:tr h="295570">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LSTM</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dirty="0">
                          <a:effectLst/>
                        </a:rPr>
                        <a:t>0.9544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0.9800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0.9700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1.41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667287611"/>
                  </a:ext>
                </a:extLst>
              </a:tr>
              <a:tr h="830473">
                <a:tc>
                  <a:txBody>
                    <a:bodyPr/>
                    <a:lstStyle/>
                    <a:p>
                      <a:pPr>
                        <a:lnSpc>
                          <a:spcPct val="107000"/>
                        </a:lnSpc>
                        <a:spcAft>
                          <a:spcPts val="800"/>
                        </a:spcAft>
                        <a:buNone/>
                      </a:pPr>
                      <a:r>
                        <a:rPr lang="en-US" sz="1100" kern="100" dirty="0">
                          <a:effectLst/>
                          <a:latin typeface="Times New Roman" panose="02020603050405020304" pitchFamily="18" charset="0"/>
                          <a:cs typeface="Times New Roman" panose="02020603050405020304" pitchFamily="18" charset="0"/>
                        </a:rPr>
                        <a:t>GRU on LSTM no early stopping</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dirty="0">
                          <a:effectLst/>
                        </a:rPr>
                        <a:t>0.9371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0.9600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0.9500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4.55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4194781834"/>
                  </a:ext>
                </a:extLst>
              </a:tr>
              <a:tr h="473871">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GRU on LSTM</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dirty="0">
                          <a:effectLst/>
                        </a:rPr>
                        <a:t>0.9546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0.9800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0.9700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1.07</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1769680145"/>
                  </a:ext>
                </a:extLst>
              </a:tr>
              <a:tr h="652172">
                <a:tc>
                  <a:txBody>
                    <a:bodyPr/>
                    <a:lstStyle/>
                    <a:p>
                      <a:pPr>
                        <a:lnSpc>
                          <a:spcPct val="107000"/>
                        </a:lnSpc>
                        <a:spcAft>
                          <a:spcPts val="800"/>
                        </a:spcAft>
                        <a:buNone/>
                      </a:pPr>
                      <a:r>
                        <a:rPr lang="en-US" sz="1100" kern="100" dirty="0">
                          <a:effectLst/>
                          <a:latin typeface="Times New Roman" panose="02020603050405020304" pitchFamily="18" charset="0"/>
                          <a:cs typeface="Times New Roman" panose="02020603050405020304" pitchFamily="18" charset="0"/>
                        </a:rPr>
                        <a:t>Stacked GRU on LSTM no</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a:effectLst/>
                        </a:rPr>
                        <a:t>0.9396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0.9600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0.9600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5.51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339925191"/>
                  </a:ext>
                </a:extLst>
              </a:tr>
              <a:tr h="652172">
                <a:tc>
                  <a:txBody>
                    <a:bodyPr/>
                    <a:lstStyle/>
                    <a:p>
                      <a:pPr>
                        <a:lnSpc>
                          <a:spcPct val="107000"/>
                        </a:lnSpc>
                        <a:spcAft>
                          <a:spcPts val="800"/>
                        </a:spcAft>
                        <a:buNone/>
                      </a:pPr>
                      <a:r>
                        <a:rPr lang="en-IN" sz="1100" kern="100" dirty="0">
                          <a:effectLst/>
                          <a:latin typeface="Times New Roman" panose="02020603050405020304" pitchFamily="18" charset="0"/>
                          <a:cs typeface="Times New Roman" panose="02020603050405020304" pitchFamily="18" charset="0"/>
                        </a:rPr>
                        <a:t>Stacked GRU on LSTM</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a:effectLst/>
                        </a:rPr>
                        <a:t>0.9535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0.9800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0.9700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1.43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1156644213"/>
                  </a:ext>
                </a:extLst>
              </a:tr>
              <a:tr h="652172">
                <a:tc>
                  <a:txBody>
                    <a:bodyPr/>
                    <a:lstStyle/>
                    <a:p>
                      <a:pPr>
                        <a:lnSpc>
                          <a:spcPct val="107000"/>
                        </a:lnSpc>
                        <a:spcAft>
                          <a:spcPts val="800"/>
                        </a:spcAft>
                        <a:buNone/>
                      </a:pPr>
                      <a:r>
                        <a:rPr lang="en-US" sz="1100" kern="100" dirty="0">
                          <a:effectLst/>
                          <a:latin typeface="Times New Roman" panose="02020603050405020304" pitchFamily="18" charset="0"/>
                          <a:cs typeface="Times New Roman" panose="02020603050405020304" pitchFamily="18" charset="0"/>
                        </a:rPr>
                        <a:t>Bidirectional GRU on LSTM no</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solidFill>
                      <a:srgbClr val="FFFFC9"/>
                    </a:solidFill>
                  </a:tcPr>
                </a:tc>
                <a:tc>
                  <a:txBody>
                    <a:bodyPr/>
                    <a:lstStyle/>
                    <a:p>
                      <a:pPr>
                        <a:lnSpc>
                          <a:spcPct val="107000"/>
                        </a:lnSpc>
                        <a:spcAft>
                          <a:spcPts val="800"/>
                        </a:spcAft>
                        <a:buNone/>
                      </a:pPr>
                      <a:r>
                        <a:rPr lang="en-IN" sz="1100" kern="100">
                          <a:effectLst/>
                        </a:rPr>
                        <a:t>0.9380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0.9600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a:effectLst/>
                        </a:rPr>
                        <a:t>0.9700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tc>
                  <a:txBody>
                    <a:bodyPr/>
                    <a:lstStyle/>
                    <a:p>
                      <a:pPr>
                        <a:lnSpc>
                          <a:spcPct val="107000"/>
                        </a:lnSpc>
                        <a:spcAft>
                          <a:spcPts val="800"/>
                        </a:spcAft>
                        <a:buNone/>
                      </a:pPr>
                      <a:r>
                        <a:rPr lang="en-IN" sz="1100" kern="100" dirty="0">
                          <a:effectLst/>
                        </a:rPr>
                        <a:t>1.51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63500" marB="63500">
                    <a:solidFill>
                      <a:srgbClr val="E8F1FF"/>
                    </a:solidFill>
                  </a:tcPr>
                </a:tc>
                <a:extLst>
                  <a:ext uri="{0D108BD9-81ED-4DB2-BD59-A6C34878D82A}">
                    <a16:rowId xmlns:a16="http://schemas.microsoft.com/office/drawing/2014/main" val="1206027812"/>
                  </a:ext>
                </a:extLst>
              </a:tr>
            </a:tbl>
          </a:graphicData>
        </a:graphic>
      </p:graphicFrame>
      <p:graphicFrame>
        <p:nvGraphicFramePr>
          <p:cNvPr id="9" name="Table 8">
            <a:extLst>
              <a:ext uri="{FF2B5EF4-FFF2-40B4-BE49-F238E27FC236}">
                <a16:creationId xmlns:a16="http://schemas.microsoft.com/office/drawing/2014/main" id="{2A672742-BB01-6420-808D-35A3A0D2AF06}"/>
              </a:ext>
            </a:extLst>
          </p:cNvPr>
          <p:cNvGraphicFramePr>
            <a:graphicFrameLocks noGrp="1"/>
          </p:cNvGraphicFramePr>
          <p:nvPr>
            <p:extLst>
              <p:ext uri="{D42A27DB-BD31-4B8C-83A1-F6EECF244321}">
                <p14:modId xmlns:p14="http://schemas.microsoft.com/office/powerpoint/2010/main" val="3863769802"/>
              </p:ext>
            </p:extLst>
          </p:nvPr>
        </p:nvGraphicFramePr>
        <p:xfrm>
          <a:off x="311404" y="5135758"/>
          <a:ext cx="3446016" cy="1218441"/>
        </p:xfrm>
        <a:graphic>
          <a:graphicData uri="http://schemas.openxmlformats.org/drawingml/2006/table">
            <a:tbl>
              <a:tblPr firstRow="1" bandRow="1">
                <a:tableStyleId>{5940675A-B579-460E-94D1-54222C63F5DA}</a:tableStyleId>
              </a:tblPr>
              <a:tblGrid>
                <a:gridCol w="1148672">
                  <a:extLst>
                    <a:ext uri="{9D8B030D-6E8A-4147-A177-3AD203B41FA5}">
                      <a16:colId xmlns:a16="http://schemas.microsoft.com/office/drawing/2014/main" val="2824652990"/>
                    </a:ext>
                  </a:extLst>
                </a:gridCol>
                <a:gridCol w="1148672">
                  <a:extLst>
                    <a:ext uri="{9D8B030D-6E8A-4147-A177-3AD203B41FA5}">
                      <a16:colId xmlns:a16="http://schemas.microsoft.com/office/drawing/2014/main" val="2757700613"/>
                    </a:ext>
                  </a:extLst>
                </a:gridCol>
                <a:gridCol w="1148672">
                  <a:extLst>
                    <a:ext uri="{9D8B030D-6E8A-4147-A177-3AD203B41FA5}">
                      <a16:colId xmlns:a16="http://schemas.microsoft.com/office/drawing/2014/main" val="2466811497"/>
                    </a:ext>
                  </a:extLst>
                </a:gridCol>
              </a:tblGrid>
              <a:tr h="406147">
                <a:tc>
                  <a:txBody>
                    <a:bodyPr/>
                    <a:lstStyle/>
                    <a:p>
                      <a:r>
                        <a:rPr lang="en-IN" sz="1200" b="1" dirty="0">
                          <a:latin typeface="Times New Roman" panose="02020603050405020304" pitchFamily="18" charset="0"/>
                          <a:cs typeface="Times New Roman" panose="02020603050405020304" pitchFamily="18" charset="0"/>
                        </a:rPr>
                        <a:t>Model </a:t>
                      </a:r>
                    </a:p>
                  </a:txBody>
                  <a:tcPr anchor="ctr">
                    <a:solidFill>
                      <a:srgbClr val="D5DCE4"/>
                    </a:solidFill>
                  </a:tcPr>
                </a:tc>
                <a:tc>
                  <a:txBody>
                    <a:bodyPr/>
                    <a:lstStyle/>
                    <a:p>
                      <a:r>
                        <a:rPr lang="en-IN" sz="1200" b="1" dirty="0">
                          <a:latin typeface="Times New Roman" panose="02020603050405020304" pitchFamily="18" charset="0"/>
                          <a:cs typeface="Times New Roman" panose="02020603050405020304" pitchFamily="18" charset="0"/>
                        </a:rPr>
                        <a:t>Accuracy</a:t>
                      </a:r>
                    </a:p>
                  </a:txBody>
                  <a:tcPr anchor="ctr">
                    <a:solidFill>
                      <a:srgbClr val="D5DCE4"/>
                    </a:solidFill>
                  </a:tcPr>
                </a:tc>
                <a:tc>
                  <a:txBody>
                    <a:bodyPr/>
                    <a:lstStyle/>
                    <a:p>
                      <a:r>
                        <a:rPr lang="en-IN" sz="1200" b="1" dirty="0">
                          <a:latin typeface="Times New Roman" panose="02020603050405020304" pitchFamily="18" charset="0"/>
                          <a:cs typeface="Times New Roman" panose="02020603050405020304" pitchFamily="18" charset="0"/>
                        </a:rPr>
                        <a:t>ROC-AUC</a:t>
                      </a:r>
                    </a:p>
                  </a:txBody>
                  <a:tcPr anchor="ctr">
                    <a:solidFill>
                      <a:srgbClr val="D5DCE4"/>
                    </a:solidFill>
                  </a:tcPr>
                </a:tc>
                <a:extLst>
                  <a:ext uri="{0D108BD9-81ED-4DB2-BD59-A6C34878D82A}">
                    <a16:rowId xmlns:a16="http://schemas.microsoft.com/office/drawing/2014/main" val="1439407574"/>
                  </a:ext>
                </a:extLst>
              </a:tr>
              <a:tr h="406147">
                <a:tc>
                  <a:txBody>
                    <a:bodyPr/>
                    <a:lstStyle/>
                    <a:p>
                      <a:r>
                        <a:rPr lang="en-IN"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DEBERTA-V3 </a:t>
                      </a:r>
                      <a:endParaRPr lang="en-IN" b="0" dirty="0">
                        <a:latin typeface="Times New Roman" panose="02020603050405020304" pitchFamily="18" charset="0"/>
                        <a:cs typeface="Times New Roman" panose="02020603050405020304" pitchFamily="18" charset="0"/>
                      </a:endParaRPr>
                    </a:p>
                  </a:txBody>
                  <a:tcPr>
                    <a:solidFill>
                      <a:srgbClr val="FFFFC9"/>
                    </a:solidFill>
                  </a:tcPr>
                </a:tc>
                <a:tc>
                  <a:txBody>
                    <a:bodyPr/>
                    <a:lstStyle/>
                    <a:p>
                      <a:r>
                        <a:rPr lang="en-IN" sz="1200" dirty="0"/>
                        <a:t>0.9722</a:t>
                      </a:r>
                    </a:p>
                  </a:txBody>
                  <a:tcPr>
                    <a:solidFill>
                      <a:srgbClr val="E8F1FF"/>
                    </a:solidFill>
                  </a:tcPr>
                </a:tc>
                <a:tc>
                  <a:txBody>
                    <a:bodyPr/>
                    <a:lstStyle/>
                    <a:p>
                      <a:r>
                        <a:rPr lang="en-IN" sz="1200" dirty="0"/>
                        <a:t>0.9817</a:t>
                      </a:r>
                    </a:p>
                  </a:txBody>
                  <a:tcPr>
                    <a:solidFill>
                      <a:srgbClr val="E8F1FF"/>
                    </a:solidFill>
                  </a:tcPr>
                </a:tc>
                <a:extLst>
                  <a:ext uri="{0D108BD9-81ED-4DB2-BD59-A6C34878D82A}">
                    <a16:rowId xmlns:a16="http://schemas.microsoft.com/office/drawing/2014/main" val="545624639"/>
                  </a:ext>
                </a:extLst>
              </a:tr>
              <a:tr h="406147">
                <a:tc>
                  <a:txBody>
                    <a:bodyPr/>
                    <a:lstStyle/>
                    <a:p>
                      <a:r>
                        <a:rPr lang="en-IN" sz="1200" b="0" dirty="0">
                          <a:latin typeface="Times New Roman" panose="02020603050405020304" pitchFamily="18" charset="0"/>
                          <a:cs typeface="Times New Roman" panose="02020603050405020304" pitchFamily="18" charset="0"/>
                        </a:rPr>
                        <a:t>T5</a:t>
                      </a:r>
                    </a:p>
                  </a:txBody>
                  <a:tcPr>
                    <a:solidFill>
                      <a:srgbClr val="FFFFC9"/>
                    </a:solidFill>
                  </a:tcPr>
                </a:tc>
                <a:tc>
                  <a:txBody>
                    <a:bodyPr/>
                    <a:lstStyle/>
                    <a:p>
                      <a:r>
                        <a:rPr lang="en-IN" sz="1200" dirty="0"/>
                        <a:t>0.9678</a:t>
                      </a:r>
                    </a:p>
                  </a:txBody>
                  <a:tcPr>
                    <a:solidFill>
                      <a:srgbClr val="E8F1FF"/>
                    </a:solidFill>
                  </a:tcPr>
                </a:tc>
                <a:tc>
                  <a:txBody>
                    <a:bodyPr/>
                    <a:lstStyle/>
                    <a:p>
                      <a:r>
                        <a:rPr lang="en-IN" sz="1200" dirty="0"/>
                        <a:t>0.9748</a:t>
                      </a:r>
                    </a:p>
                  </a:txBody>
                  <a:tcPr>
                    <a:solidFill>
                      <a:srgbClr val="E8F1FF"/>
                    </a:solidFill>
                  </a:tcPr>
                </a:tc>
                <a:extLst>
                  <a:ext uri="{0D108BD9-81ED-4DB2-BD59-A6C34878D82A}">
                    <a16:rowId xmlns:a16="http://schemas.microsoft.com/office/drawing/2014/main" val="4236493680"/>
                  </a:ext>
                </a:extLst>
              </a:tr>
            </a:tbl>
          </a:graphicData>
        </a:graphic>
      </p:graphicFrame>
      <p:graphicFrame>
        <p:nvGraphicFramePr>
          <p:cNvPr id="11" name="Table 10">
            <a:extLst>
              <a:ext uri="{FF2B5EF4-FFF2-40B4-BE49-F238E27FC236}">
                <a16:creationId xmlns:a16="http://schemas.microsoft.com/office/drawing/2014/main" id="{71DE50A3-EB1A-D181-D53F-3F7A0726AD2B}"/>
              </a:ext>
            </a:extLst>
          </p:cNvPr>
          <p:cNvGraphicFramePr>
            <a:graphicFrameLocks noGrp="1"/>
          </p:cNvGraphicFramePr>
          <p:nvPr>
            <p:extLst>
              <p:ext uri="{D42A27DB-BD31-4B8C-83A1-F6EECF244321}">
                <p14:modId xmlns:p14="http://schemas.microsoft.com/office/powerpoint/2010/main" val="3820705796"/>
              </p:ext>
            </p:extLst>
          </p:nvPr>
        </p:nvGraphicFramePr>
        <p:xfrm>
          <a:off x="311404" y="2290367"/>
          <a:ext cx="3765550" cy="2154077"/>
        </p:xfrm>
        <a:graphic>
          <a:graphicData uri="http://schemas.openxmlformats.org/drawingml/2006/table">
            <a:tbl>
              <a:tblPr/>
              <a:tblGrid>
                <a:gridCol w="927100">
                  <a:extLst>
                    <a:ext uri="{9D8B030D-6E8A-4147-A177-3AD203B41FA5}">
                      <a16:colId xmlns:a16="http://schemas.microsoft.com/office/drawing/2014/main" val="2735950085"/>
                    </a:ext>
                  </a:extLst>
                </a:gridCol>
                <a:gridCol w="946150">
                  <a:extLst>
                    <a:ext uri="{9D8B030D-6E8A-4147-A177-3AD203B41FA5}">
                      <a16:colId xmlns:a16="http://schemas.microsoft.com/office/drawing/2014/main" val="362782372"/>
                    </a:ext>
                  </a:extLst>
                </a:gridCol>
                <a:gridCol w="946150">
                  <a:extLst>
                    <a:ext uri="{9D8B030D-6E8A-4147-A177-3AD203B41FA5}">
                      <a16:colId xmlns:a16="http://schemas.microsoft.com/office/drawing/2014/main" val="3998774314"/>
                    </a:ext>
                  </a:extLst>
                </a:gridCol>
                <a:gridCol w="946150">
                  <a:extLst>
                    <a:ext uri="{9D8B030D-6E8A-4147-A177-3AD203B41FA5}">
                      <a16:colId xmlns:a16="http://schemas.microsoft.com/office/drawing/2014/main" val="1978096789"/>
                    </a:ext>
                  </a:extLst>
                </a:gridCol>
              </a:tblGrid>
              <a:tr h="309903">
                <a:tc>
                  <a:txBody>
                    <a:bodyPr/>
                    <a:lstStyle/>
                    <a:p>
                      <a:pPr algn="just" rtl="0" fontAlgn="t">
                        <a:buNone/>
                      </a:pPr>
                      <a:r>
                        <a:rPr lang="en-IN" sz="1200" b="1" i="0" u="none" strike="noStrike" dirty="0">
                          <a:solidFill>
                            <a:srgbClr val="434343"/>
                          </a:solidFill>
                          <a:effectLst/>
                          <a:latin typeface="Times New Roman" panose="02020603050405020304" pitchFamily="18" charset="0"/>
                        </a:rPr>
                        <a:t>Model</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gn="just" rtl="0" fontAlgn="t">
                        <a:buNone/>
                      </a:pPr>
                      <a:r>
                        <a:rPr lang="en-IN" sz="1200" b="1" i="0" u="none" strike="noStrike">
                          <a:solidFill>
                            <a:srgbClr val="434343"/>
                          </a:solidFill>
                          <a:effectLst/>
                          <a:latin typeface="Times New Roman" panose="02020603050405020304" pitchFamily="18" charset="0"/>
                        </a:rPr>
                        <a:t>Accuracy</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gn="just" rtl="0" fontAlgn="t">
                        <a:buNone/>
                      </a:pPr>
                      <a:r>
                        <a:rPr lang="en-IN" sz="1200" b="1" i="0" u="none" strike="noStrike">
                          <a:solidFill>
                            <a:srgbClr val="434343"/>
                          </a:solidFill>
                          <a:effectLst/>
                          <a:latin typeface="Times New Roman" panose="02020603050405020304" pitchFamily="18" charset="0"/>
                        </a:rPr>
                        <a:t>ROC-AUC</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gn="just" rtl="0" fontAlgn="t">
                        <a:buNone/>
                      </a:pPr>
                      <a:r>
                        <a:rPr lang="en-IN" sz="1200" b="1" i="0" u="none" strike="noStrike" dirty="0">
                          <a:solidFill>
                            <a:srgbClr val="434343"/>
                          </a:solidFill>
                          <a:effectLst/>
                          <a:latin typeface="Times New Roman" panose="02020603050405020304" pitchFamily="18" charset="0"/>
                        </a:rPr>
                        <a:t>F1-Score</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632400451"/>
                  </a:ext>
                </a:extLst>
              </a:tr>
              <a:tr h="492796">
                <a:tc>
                  <a:txBody>
                    <a:bodyPr/>
                    <a:lstStyle/>
                    <a:p>
                      <a:pPr algn="just" rtl="0" fontAlgn="t">
                        <a:buNone/>
                      </a:pPr>
                      <a:r>
                        <a:rPr lang="en-IN" sz="1200" b="0" i="0" u="none" strike="noStrike" dirty="0">
                          <a:solidFill>
                            <a:srgbClr val="1F1F1F"/>
                          </a:solidFill>
                          <a:effectLst/>
                          <a:latin typeface="Times New Roman" panose="02020603050405020304" pitchFamily="18" charset="0"/>
                        </a:rPr>
                        <a:t>Attention + LSTM</a:t>
                      </a:r>
                      <a:endParaRPr lang="en-IN" b="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9"/>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0.9621  </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a:solidFill>
                            <a:srgbClr val="1F1F1F"/>
                          </a:solidFill>
                          <a:effectLst/>
                          <a:latin typeface="Times New Roman" panose="02020603050405020304" pitchFamily="18" charset="0"/>
                        </a:rPr>
                        <a:t>0.98335    </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a:solidFill>
                            <a:srgbClr val="1F1F1F"/>
                          </a:solidFill>
                          <a:effectLst/>
                          <a:latin typeface="Times New Roman" panose="02020603050405020304" pitchFamily="18" charset="0"/>
                        </a:rPr>
                        <a:t>0.9665</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extLst>
                  <a:ext uri="{0D108BD9-81ED-4DB2-BD59-A6C34878D82A}">
                    <a16:rowId xmlns:a16="http://schemas.microsoft.com/office/drawing/2014/main" val="1823613570"/>
                  </a:ext>
                </a:extLst>
              </a:tr>
              <a:tr h="675689">
                <a:tc>
                  <a:txBody>
                    <a:bodyPr/>
                    <a:lstStyle/>
                    <a:p>
                      <a:pPr algn="just" rtl="0" fontAlgn="t">
                        <a:buNone/>
                      </a:pPr>
                      <a:r>
                        <a:rPr lang="en-IN" sz="1200" b="0" i="0" u="none" strike="noStrike" dirty="0">
                          <a:solidFill>
                            <a:srgbClr val="1F1F1F"/>
                          </a:solidFill>
                          <a:effectLst/>
                          <a:latin typeface="Times New Roman" panose="02020603050405020304" pitchFamily="18" charset="0"/>
                        </a:rPr>
                        <a:t>Attention + Stacked LSTM</a:t>
                      </a:r>
                      <a:endParaRPr lang="en-IN" b="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9"/>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0.9600  </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0.96000    </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a:solidFill>
                            <a:srgbClr val="1F1F1F"/>
                          </a:solidFill>
                          <a:effectLst/>
                          <a:latin typeface="Times New Roman" panose="02020603050405020304" pitchFamily="18" charset="0"/>
                        </a:rPr>
                        <a:t>0.9600</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extLst>
                  <a:ext uri="{0D108BD9-81ED-4DB2-BD59-A6C34878D82A}">
                    <a16:rowId xmlns:a16="http://schemas.microsoft.com/office/drawing/2014/main" val="3478929431"/>
                  </a:ext>
                </a:extLst>
              </a:tr>
              <a:tr h="675689">
                <a:tc>
                  <a:txBody>
                    <a:bodyPr/>
                    <a:lstStyle/>
                    <a:p>
                      <a:pPr algn="just" rtl="0" fontAlgn="t">
                        <a:buNone/>
                      </a:pPr>
                      <a:r>
                        <a:rPr lang="en-IN" sz="1200" b="0" dirty="0">
                          <a:effectLst/>
                          <a:latin typeface="Times New Roman" panose="02020603050405020304" pitchFamily="18" charset="0"/>
                          <a:cs typeface="Times New Roman" panose="02020603050405020304" pitchFamily="18" charset="0"/>
                        </a:rPr>
                        <a:t>Scale Dot-Product </a:t>
                      </a:r>
                      <a:r>
                        <a:rPr lang="en-IN" sz="1200" b="0" dirty="0" err="1">
                          <a:effectLst/>
                          <a:latin typeface="Times New Roman" panose="02020603050405020304" pitchFamily="18" charset="0"/>
                          <a:cs typeface="Times New Roman" panose="02020603050405020304" pitchFamily="18" charset="0"/>
                        </a:rPr>
                        <a:t>MHA+Res</a:t>
                      </a:r>
                      <a:r>
                        <a:rPr lang="en-IN" sz="1200" b="0" dirty="0">
                          <a:effectLst/>
                          <a:latin typeface="Times New Roman" panose="02020603050405020304" pitchFamily="18" charset="0"/>
                          <a:cs typeface="Times New Roman" panose="02020603050405020304" pitchFamily="18" charset="0"/>
                        </a:rPr>
                        <a:t>.</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9"/>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0.9622  </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0.98700    </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tc>
                  <a:txBody>
                    <a:bodyPr/>
                    <a:lstStyle/>
                    <a:p>
                      <a:pPr algn="just" rtl="0" fontAlgn="t">
                        <a:buNone/>
                      </a:pPr>
                      <a:r>
                        <a:rPr lang="en-IN" sz="1200" b="0" i="0" u="none" strike="noStrike" dirty="0">
                          <a:solidFill>
                            <a:srgbClr val="1F1F1F"/>
                          </a:solidFill>
                          <a:effectLst/>
                          <a:latin typeface="Times New Roman" panose="02020603050405020304" pitchFamily="18" charset="0"/>
                        </a:rPr>
                        <a:t>0.9673</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F1FF"/>
                    </a:solidFill>
                  </a:tcPr>
                </a:tc>
                <a:extLst>
                  <a:ext uri="{0D108BD9-81ED-4DB2-BD59-A6C34878D82A}">
                    <a16:rowId xmlns:a16="http://schemas.microsoft.com/office/drawing/2014/main" val="2827107893"/>
                  </a:ext>
                </a:extLst>
              </a:tr>
            </a:tbl>
          </a:graphicData>
        </a:graphic>
      </p:graphicFrame>
      <p:sp>
        <p:nvSpPr>
          <p:cNvPr id="12" name="Rectangle 3">
            <a:extLst>
              <a:ext uri="{FF2B5EF4-FFF2-40B4-BE49-F238E27FC236}">
                <a16:creationId xmlns:a16="http://schemas.microsoft.com/office/drawing/2014/main" id="{CEB1048C-B24F-51D7-B142-DA92CD9BBF56}"/>
              </a:ext>
            </a:extLst>
          </p:cNvPr>
          <p:cNvSpPr>
            <a:spLocks noChangeArrowheads="1"/>
          </p:cNvSpPr>
          <p:nvPr/>
        </p:nvSpPr>
        <p:spPr bwMode="auto">
          <a:xfrm>
            <a:off x="311404" y="229036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C25EBA7E-6235-9320-3D29-E7FD102C1B61}"/>
              </a:ext>
            </a:extLst>
          </p:cNvPr>
          <p:cNvSpPr txBox="1"/>
          <p:nvPr/>
        </p:nvSpPr>
        <p:spPr>
          <a:xfrm>
            <a:off x="171740" y="1898139"/>
            <a:ext cx="3761275" cy="338554"/>
          </a:xfrm>
          <a:prstGeom prst="rect">
            <a:avLst/>
          </a:prstGeom>
          <a:noFill/>
          <a:ln>
            <a:noFill/>
          </a:ln>
        </p:spPr>
        <p:txBody>
          <a:bodyPr wrap="square" rtlCol="0">
            <a:spAutoFit/>
          </a:bodyPr>
          <a:lstStyle/>
          <a:p>
            <a:r>
              <a:rPr lang="en-IN" sz="1600" b="1" dirty="0">
                <a:latin typeface="+mn-lt"/>
              </a:rPr>
              <a:t>Table 2: Attention-based models</a:t>
            </a:r>
          </a:p>
        </p:txBody>
      </p:sp>
      <p:sp>
        <p:nvSpPr>
          <p:cNvPr id="6" name="TextBox 5">
            <a:extLst>
              <a:ext uri="{FF2B5EF4-FFF2-40B4-BE49-F238E27FC236}">
                <a16:creationId xmlns:a16="http://schemas.microsoft.com/office/drawing/2014/main" id="{C02A6DB1-1A44-0EFA-A9A1-C794B4B50210}"/>
              </a:ext>
            </a:extLst>
          </p:cNvPr>
          <p:cNvSpPr txBox="1"/>
          <p:nvPr/>
        </p:nvSpPr>
        <p:spPr>
          <a:xfrm>
            <a:off x="4300827" y="1898134"/>
            <a:ext cx="4315196" cy="338554"/>
          </a:xfrm>
          <a:prstGeom prst="rect">
            <a:avLst/>
          </a:prstGeom>
          <a:noFill/>
        </p:spPr>
        <p:txBody>
          <a:bodyPr wrap="square" rtlCol="0">
            <a:spAutoFit/>
          </a:bodyPr>
          <a:lstStyle/>
          <a:p>
            <a:r>
              <a:rPr lang="en-IN" sz="1600" b="1" dirty="0">
                <a:latin typeface="+mn-lt"/>
              </a:rPr>
              <a:t>Table 3: LSTM/ GRU-based models</a:t>
            </a:r>
          </a:p>
        </p:txBody>
      </p:sp>
      <p:sp>
        <p:nvSpPr>
          <p:cNvPr id="13" name="TextBox 12">
            <a:extLst>
              <a:ext uri="{FF2B5EF4-FFF2-40B4-BE49-F238E27FC236}">
                <a16:creationId xmlns:a16="http://schemas.microsoft.com/office/drawing/2014/main" id="{B710BD12-D28B-13FB-D278-C73EC1D81822}"/>
              </a:ext>
            </a:extLst>
          </p:cNvPr>
          <p:cNvSpPr txBox="1"/>
          <p:nvPr/>
        </p:nvSpPr>
        <p:spPr>
          <a:xfrm>
            <a:off x="4325541" y="6115701"/>
            <a:ext cx="4315196" cy="615553"/>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Credit*</a:t>
            </a:r>
            <a:r>
              <a:rPr lang="en-IN" sz="1600" dirty="0">
                <a:latin typeface="Times New Roman" panose="02020603050405020304" pitchFamily="18" charset="0"/>
                <a:cs typeface="Times New Roman" panose="02020603050405020304" pitchFamily="18" charset="0"/>
              </a:rPr>
              <a:t>: </a:t>
            </a:r>
            <a:r>
              <a:rPr lang="en-IN" sz="1400" dirty="0">
                <a:latin typeface="+mn-lt"/>
              </a:rPr>
              <a:t>Contributed by Divyam Saini</a:t>
            </a:r>
          </a:p>
          <a:p>
            <a:endParaRPr lang="en-IN" dirty="0"/>
          </a:p>
        </p:txBody>
      </p:sp>
      <p:sp>
        <p:nvSpPr>
          <p:cNvPr id="14" name="TextBox 13">
            <a:extLst>
              <a:ext uri="{FF2B5EF4-FFF2-40B4-BE49-F238E27FC236}">
                <a16:creationId xmlns:a16="http://schemas.microsoft.com/office/drawing/2014/main" id="{A66F9462-3DD4-AB70-9AC1-5D44B7FCB003}"/>
              </a:ext>
            </a:extLst>
          </p:cNvPr>
          <p:cNvSpPr txBox="1"/>
          <p:nvPr/>
        </p:nvSpPr>
        <p:spPr>
          <a:xfrm>
            <a:off x="180206" y="4742267"/>
            <a:ext cx="4129086" cy="338554"/>
          </a:xfrm>
          <a:prstGeom prst="rect">
            <a:avLst/>
          </a:prstGeom>
          <a:noFill/>
          <a:ln>
            <a:noFill/>
          </a:ln>
        </p:spPr>
        <p:txBody>
          <a:bodyPr wrap="square" rtlCol="0">
            <a:spAutoFit/>
          </a:bodyPr>
          <a:lstStyle/>
          <a:p>
            <a:r>
              <a:rPr lang="en-IN" sz="1600" b="1" dirty="0">
                <a:latin typeface="+mn-lt"/>
              </a:rPr>
              <a:t>Table 4: Transformer-based models</a:t>
            </a:r>
          </a:p>
        </p:txBody>
      </p:sp>
      <p:sp>
        <p:nvSpPr>
          <p:cNvPr id="15" name="TextBox 14">
            <a:extLst>
              <a:ext uri="{FF2B5EF4-FFF2-40B4-BE49-F238E27FC236}">
                <a16:creationId xmlns:a16="http://schemas.microsoft.com/office/drawing/2014/main" id="{165CDD78-4622-88F7-0A00-C89F4F7286E4}"/>
              </a:ext>
            </a:extLst>
          </p:cNvPr>
          <p:cNvSpPr txBox="1"/>
          <p:nvPr/>
        </p:nvSpPr>
        <p:spPr>
          <a:xfrm>
            <a:off x="197817" y="6330403"/>
            <a:ext cx="3457787" cy="338554"/>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Credit*</a:t>
            </a:r>
            <a:r>
              <a:rPr lang="en-IN" sz="1600" dirty="0">
                <a:latin typeface="Times New Roman" panose="02020603050405020304" pitchFamily="18" charset="0"/>
                <a:cs typeface="Times New Roman" panose="02020603050405020304" pitchFamily="18" charset="0"/>
              </a:rPr>
              <a:t>: </a:t>
            </a:r>
            <a:r>
              <a:rPr lang="en-IN" sz="1400" dirty="0">
                <a:latin typeface="+mn-lt"/>
                <a:cs typeface="Times New Roman" panose="02020603050405020304" pitchFamily="18" charset="0"/>
              </a:rPr>
              <a:t>Contributed by Harshit Thakur</a:t>
            </a:r>
          </a:p>
        </p:txBody>
      </p:sp>
      <p:sp>
        <p:nvSpPr>
          <p:cNvPr id="16" name="TextBox 15">
            <a:extLst>
              <a:ext uri="{FF2B5EF4-FFF2-40B4-BE49-F238E27FC236}">
                <a16:creationId xmlns:a16="http://schemas.microsoft.com/office/drawing/2014/main" id="{AD778849-9D7A-49EA-BFE2-A7D73BA509D2}"/>
              </a:ext>
            </a:extLst>
          </p:cNvPr>
          <p:cNvSpPr txBox="1"/>
          <p:nvPr/>
        </p:nvSpPr>
        <p:spPr>
          <a:xfrm>
            <a:off x="188673" y="4409221"/>
            <a:ext cx="3008719" cy="338554"/>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Credit*</a:t>
            </a:r>
            <a:r>
              <a:rPr lang="en-IN" sz="1600" dirty="0">
                <a:latin typeface="Times New Roman" panose="02020603050405020304" pitchFamily="18" charset="0"/>
                <a:cs typeface="Times New Roman" panose="02020603050405020304" pitchFamily="18" charset="0"/>
              </a:rPr>
              <a:t>: </a:t>
            </a:r>
            <a:r>
              <a:rPr lang="en-IN" sz="1400" dirty="0">
                <a:latin typeface="+mn-lt"/>
                <a:cs typeface="Times New Roman" panose="02020603050405020304" pitchFamily="18" charset="0"/>
              </a:rPr>
              <a:t>Contributed by Soha Khan</a:t>
            </a:r>
          </a:p>
        </p:txBody>
      </p:sp>
    </p:spTree>
    <p:extLst>
      <p:ext uri="{BB962C8B-B14F-4D97-AF65-F5344CB8AC3E}">
        <p14:creationId xmlns:p14="http://schemas.microsoft.com/office/powerpoint/2010/main" val="782562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87024-D832-DAF3-7B7B-072B7E417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10314-E6F9-32E1-A97A-3F7B3427E6EC}"/>
              </a:ext>
            </a:extLst>
          </p:cNvPr>
          <p:cNvSpPr>
            <a:spLocks noGrp="1"/>
          </p:cNvSpPr>
          <p:nvPr>
            <p:ph type="title"/>
          </p:nvPr>
        </p:nvSpPr>
        <p:spPr/>
        <p:txBody>
          <a:bodyPr/>
          <a:lstStyle/>
          <a:p>
            <a:r>
              <a:rPr lang="en-IN" dirty="0"/>
              <a:t>Experimental Results &amp; Evaluation </a:t>
            </a:r>
            <a:r>
              <a:rPr lang="en-IN" dirty="0">
                <a:ea typeface="Palatino" pitchFamily="2" charset="77"/>
              </a:rPr>
              <a:t>(</a:t>
            </a:r>
            <a:r>
              <a:rPr lang="en-IN" dirty="0" err="1">
                <a:ea typeface="Palatino" pitchFamily="2" charset="77"/>
              </a:rPr>
              <a:t>cont</a:t>
            </a:r>
            <a:r>
              <a:rPr lang="en-IN" dirty="0">
                <a:ea typeface="Palatino" pitchFamily="2" charset="77"/>
              </a:rPr>
              <a:t>…)</a:t>
            </a:r>
            <a:endParaRPr lang="en-US" b="0" dirty="0"/>
          </a:p>
        </p:txBody>
      </p:sp>
      <p:sp>
        <p:nvSpPr>
          <p:cNvPr id="4" name="Content Placeholder 2">
            <a:extLst>
              <a:ext uri="{FF2B5EF4-FFF2-40B4-BE49-F238E27FC236}">
                <a16:creationId xmlns:a16="http://schemas.microsoft.com/office/drawing/2014/main" id="{A120E743-4C39-6DA9-ACDE-B1FD690AEFE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81000" indent="-285750"/>
            <a:r>
              <a:rPr lang="en-US" dirty="0"/>
              <a:t>From all the experiments, the two strongest models — </a:t>
            </a:r>
            <a:r>
              <a:rPr lang="en-US" b="1" dirty="0" err="1">
                <a:solidFill>
                  <a:srgbClr val="3333FF"/>
                </a:solidFill>
              </a:rPr>
              <a:t>RoBERTa</a:t>
            </a:r>
            <a:r>
              <a:rPr lang="en-US" dirty="0"/>
              <a:t> and the </a:t>
            </a:r>
            <a:r>
              <a:rPr lang="en-US" b="1" dirty="0">
                <a:solidFill>
                  <a:srgbClr val="3333FF"/>
                </a:solidFill>
              </a:rPr>
              <a:t>Hybrid2</a:t>
            </a:r>
            <a:r>
              <a:rPr lang="en-US" b="1" dirty="0"/>
              <a:t> (Bi-LSTM + Attention + 1-Layer GRU model) </a:t>
            </a:r>
            <a:r>
              <a:rPr lang="en-US" dirty="0"/>
              <a:t>— consistently achieved the highest accuracy, macro-F1, and ROC-AUC scores.</a:t>
            </a:r>
          </a:p>
          <a:p>
            <a:pPr marL="381000" indent="-285750"/>
            <a:r>
              <a:rPr lang="en-US" dirty="0"/>
              <a:t>These top models were finally combined using a </a:t>
            </a:r>
            <a:r>
              <a:rPr lang="en-US" b="1" dirty="0"/>
              <a:t>feature-level fusion approach</a:t>
            </a:r>
            <a:r>
              <a:rPr lang="en-US" dirty="0"/>
              <a:t>, and their fused output was evaluated through detailed metrics and visual graphs to validate performance improvement.</a:t>
            </a:r>
          </a:p>
          <a:p>
            <a:pPr marL="381000" indent="-285750"/>
            <a:r>
              <a:rPr lang="en-US" dirty="0"/>
              <a:t>You can see the complete comparison of all model results in </a:t>
            </a:r>
            <a:r>
              <a:rPr lang="en-US" b="1" dirty="0">
                <a:solidFill>
                  <a:srgbClr val="3333FF"/>
                </a:solidFill>
              </a:rPr>
              <a:t>Table 3</a:t>
            </a:r>
            <a:r>
              <a:rPr lang="en-US" dirty="0"/>
              <a:t>, where their test accuracy, AUC scores, and ROC curves are clearly presented.</a:t>
            </a:r>
            <a:endParaRPr lang="en-IN" dirty="0"/>
          </a:p>
        </p:txBody>
      </p:sp>
    </p:spTree>
    <p:extLst>
      <p:ext uri="{BB962C8B-B14F-4D97-AF65-F5344CB8AC3E}">
        <p14:creationId xmlns:p14="http://schemas.microsoft.com/office/powerpoint/2010/main" val="47084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490A-DD3E-ED96-3F48-ACC1EE64F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FE2A1-DEBF-BC25-DC90-2E708801E234}"/>
              </a:ext>
            </a:extLst>
          </p:cNvPr>
          <p:cNvSpPr>
            <a:spLocks noGrp="1"/>
          </p:cNvSpPr>
          <p:nvPr>
            <p:ph type="title"/>
          </p:nvPr>
        </p:nvSpPr>
        <p:spPr/>
        <p:txBody>
          <a:bodyPr/>
          <a:lstStyle/>
          <a:p>
            <a:r>
              <a:rPr lang="en-IN" dirty="0"/>
              <a:t>Experimental Results &amp; Evaluation </a:t>
            </a:r>
            <a:r>
              <a:rPr lang="en-IN" dirty="0">
                <a:ea typeface="Palatino" pitchFamily="2" charset="77"/>
              </a:rPr>
              <a:t>(</a:t>
            </a:r>
            <a:r>
              <a:rPr lang="en-IN" dirty="0" err="1">
                <a:ea typeface="Palatino" pitchFamily="2" charset="77"/>
              </a:rPr>
              <a:t>cont</a:t>
            </a:r>
            <a:r>
              <a:rPr lang="en-IN" dirty="0">
                <a:ea typeface="Palatino" pitchFamily="2" charset="77"/>
              </a:rPr>
              <a:t>…)</a:t>
            </a:r>
            <a:endParaRPr lang="en-US" b="0" dirty="0"/>
          </a:p>
        </p:txBody>
      </p:sp>
      <p:sp>
        <p:nvSpPr>
          <p:cNvPr id="4" name="Content Placeholder 2">
            <a:extLst>
              <a:ext uri="{FF2B5EF4-FFF2-40B4-BE49-F238E27FC236}">
                <a16:creationId xmlns:a16="http://schemas.microsoft.com/office/drawing/2014/main" id="{C3252E68-BB2F-CA57-594B-2222A855E60A}"/>
              </a:ext>
            </a:extLst>
          </p:cNvPr>
          <p:cNvSpPr txBox="1">
            <a:spLocks/>
          </p:cNvSpPr>
          <p:nvPr/>
        </p:nvSpPr>
        <p:spPr bwMode="auto">
          <a:xfrm>
            <a:off x="77118" y="749367"/>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b="1" dirty="0"/>
          </a:p>
          <a:p>
            <a:pPr marL="95250" indent="0">
              <a:buNone/>
            </a:pPr>
            <a:endParaRPr lang="en-IN" b="1" dirty="0"/>
          </a:p>
          <a:p>
            <a:pPr marL="95250" indent="0">
              <a:buNone/>
            </a:pPr>
            <a:endParaRPr lang="en-US" dirty="0"/>
          </a:p>
          <a:p>
            <a:pPr marL="357188" indent="-261938"/>
            <a:endParaRPr lang="en-IN" dirty="0"/>
          </a:p>
        </p:txBody>
      </p:sp>
      <p:graphicFrame>
        <p:nvGraphicFramePr>
          <p:cNvPr id="5" name="Table 4">
            <a:extLst>
              <a:ext uri="{FF2B5EF4-FFF2-40B4-BE49-F238E27FC236}">
                <a16:creationId xmlns:a16="http://schemas.microsoft.com/office/drawing/2014/main" id="{77ECEEA3-AA8D-08A0-C9E3-187C6BD67103}"/>
              </a:ext>
            </a:extLst>
          </p:cNvPr>
          <p:cNvGraphicFramePr>
            <a:graphicFrameLocks noGrp="1"/>
          </p:cNvGraphicFramePr>
          <p:nvPr>
            <p:extLst>
              <p:ext uri="{D42A27DB-BD31-4B8C-83A1-F6EECF244321}">
                <p14:modId xmlns:p14="http://schemas.microsoft.com/office/powerpoint/2010/main" val="1101342608"/>
              </p:ext>
            </p:extLst>
          </p:nvPr>
        </p:nvGraphicFramePr>
        <p:xfrm>
          <a:off x="228600" y="1248685"/>
          <a:ext cx="6126480" cy="5004006"/>
        </p:xfrm>
        <a:graphic>
          <a:graphicData uri="http://schemas.openxmlformats.org/drawingml/2006/table">
            <a:tbl>
              <a:tblPr firstRow="1" firstCol="1" bandRow="1">
                <a:tableStyleId>{5940675A-B579-460E-94D1-54222C63F5DA}</a:tableStyleId>
              </a:tblPr>
              <a:tblGrid>
                <a:gridCol w="2029968">
                  <a:extLst>
                    <a:ext uri="{9D8B030D-6E8A-4147-A177-3AD203B41FA5}">
                      <a16:colId xmlns:a16="http://schemas.microsoft.com/office/drawing/2014/main" val="1247978375"/>
                    </a:ext>
                  </a:extLst>
                </a:gridCol>
                <a:gridCol w="1024128">
                  <a:extLst>
                    <a:ext uri="{9D8B030D-6E8A-4147-A177-3AD203B41FA5}">
                      <a16:colId xmlns:a16="http://schemas.microsoft.com/office/drawing/2014/main" val="3622350914"/>
                    </a:ext>
                  </a:extLst>
                </a:gridCol>
                <a:gridCol w="1051560">
                  <a:extLst>
                    <a:ext uri="{9D8B030D-6E8A-4147-A177-3AD203B41FA5}">
                      <a16:colId xmlns:a16="http://schemas.microsoft.com/office/drawing/2014/main" val="4136439809"/>
                    </a:ext>
                  </a:extLst>
                </a:gridCol>
                <a:gridCol w="2020824">
                  <a:extLst>
                    <a:ext uri="{9D8B030D-6E8A-4147-A177-3AD203B41FA5}">
                      <a16:colId xmlns:a16="http://schemas.microsoft.com/office/drawing/2014/main" val="4135821441"/>
                    </a:ext>
                  </a:extLst>
                </a:gridCol>
              </a:tblGrid>
              <a:tr h="287893">
                <a:tc>
                  <a:txBody>
                    <a:bodyPr/>
                    <a:lstStyle/>
                    <a:p>
                      <a:pPr algn="ctr">
                        <a:lnSpc>
                          <a:spcPct val="107000"/>
                        </a:lnSpc>
                        <a:spcAft>
                          <a:spcPts val="800"/>
                        </a:spcAft>
                        <a:buNone/>
                      </a:pPr>
                      <a:r>
                        <a:rPr lang="en-IN" sz="1200" kern="100" dirty="0">
                          <a:effectLst/>
                        </a:rPr>
                        <a:t>Model</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D5DCE4"/>
                    </a:solidFill>
                  </a:tcPr>
                </a:tc>
                <a:tc>
                  <a:txBody>
                    <a:bodyPr/>
                    <a:lstStyle/>
                    <a:p>
                      <a:pPr algn="ctr">
                        <a:lnSpc>
                          <a:spcPct val="107000"/>
                        </a:lnSpc>
                        <a:spcAft>
                          <a:spcPts val="800"/>
                        </a:spcAft>
                        <a:buNone/>
                      </a:pPr>
                      <a:r>
                        <a:rPr lang="en-IN" sz="1200" kern="100" dirty="0">
                          <a:effectLst/>
                        </a:rPr>
                        <a:t>Test Accuracy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D5DCE4"/>
                    </a:solidFill>
                  </a:tcPr>
                </a:tc>
                <a:tc>
                  <a:txBody>
                    <a:bodyPr/>
                    <a:lstStyle/>
                    <a:p>
                      <a:pPr algn="ctr">
                        <a:lnSpc>
                          <a:spcPct val="107000"/>
                        </a:lnSpc>
                        <a:spcAft>
                          <a:spcPts val="800"/>
                        </a:spcAft>
                        <a:buNone/>
                      </a:pPr>
                      <a:r>
                        <a:rPr lang="en-IN" sz="1200" kern="100" dirty="0">
                          <a:effectLst/>
                        </a:rPr>
                        <a:t>Test AUC</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D5DCE4"/>
                    </a:solidFill>
                  </a:tcPr>
                </a:tc>
                <a:tc>
                  <a:txBody>
                    <a:bodyPr/>
                    <a:lstStyle/>
                    <a:p>
                      <a:pPr algn="ctr">
                        <a:lnSpc>
                          <a:spcPct val="107000"/>
                        </a:lnSpc>
                        <a:spcAft>
                          <a:spcPts val="800"/>
                        </a:spcAft>
                        <a:buNone/>
                      </a:pPr>
                      <a:r>
                        <a:rPr lang="en-IN" sz="1200" kern="100" dirty="0">
                          <a:effectLst/>
                        </a:rPr>
                        <a:t>ROC Curve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D5DCE4"/>
                    </a:solidFill>
                  </a:tcPr>
                </a:tc>
                <a:extLst>
                  <a:ext uri="{0D108BD9-81ED-4DB2-BD59-A6C34878D82A}">
                    <a16:rowId xmlns:a16="http://schemas.microsoft.com/office/drawing/2014/main" val="3055554737"/>
                  </a:ext>
                </a:extLst>
              </a:tr>
              <a:tr h="786141">
                <a:tc>
                  <a:txBody>
                    <a:bodyPr/>
                    <a:lstStyle/>
                    <a:p>
                      <a:pPr algn="ctr">
                        <a:lnSpc>
                          <a:spcPct val="107000"/>
                        </a:lnSpc>
                        <a:spcAft>
                          <a:spcPts val="800"/>
                        </a:spcAft>
                        <a:buNone/>
                      </a:pPr>
                      <a:r>
                        <a:rPr lang="en-IN" sz="1200" kern="100" dirty="0" err="1">
                          <a:effectLst/>
                        </a:rPr>
                        <a:t>RoBERTa</a:t>
                      </a:r>
                      <a:endParaRPr lang="en-IN" sz="1200" kern="100" dirty="0">
                        <a:effectLst/>
                      </a:endParaRPr>
                    </a:p>
                    <a:p>
                      <a:pPr algn="ctr">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FFC9"/>
                    </a:solidFill>
                  </a:tcPr>
                </a:tc>
                <a:tc>
                  <a:txBody>
                    <a:bodyPr/>
                    <a:lstStyle/>
                    <a:p>
                      <a:pPr algn="ctr">
                        <a:lnSpc>
                          <a:spcPct val="107000"/>
                        </a:lnSpc>
                        <a:spcAft>
                          <a:spcPts val="800"/>
                        </a:spcAft>
                        <a:buNone/>
                      </a:pPr>
                      <a:r>
                        <a:rPr lang="en-IN" sz="1200" kern="100" dirty="0">
                          <a:effectLst/>
                        </a:rPr>
                        <a:t>0.9795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ctr">
                        <a:lnSpc>
                          <a:spcPct val="107000"/>
                        </a:lnSpc>
                        <a:spcAft>
                          <a:spcPts val="800"/>
                        </a:spcAft>
                        <a:buNone/>
                      </a:pPr>
                      <a:r>
                        <a:rPr lang="en-IN" sz="1200" kern="100" dirty="0">
                          <a:effectLst/>
                        </a:rPr>
                        <a:t>0.9889</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l">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tc>
                <a:extLst>
                  <a:ext uri="{0D108BD9-81ED-4DB2-BD59-A6C34878D82A}">
                    <a16:rowId xmlns:a16="http://schemas.microsoft.com/office/drawing/2014/main" val="2999641523"/>
                  </a:ext>
                </a:extLst>
              </a:tr>
              <a:tr h="929728">
                <a:tc>
                  <a:txBody>
                    <a:bodyPr/>
                    <a:lstStyle/>
                    <a:p>
                      <a:pPr algn="ctr">
                        <a:lnSpc>
                          <a:spcPct val="107000"/>
                        </a:lnSpc>
                        <a:spcAft>
                          <a:spcPts val="800"/>
                        </a:spcAft>
                        <a:buNone/>
                      </a:pPr>
                      <a:r>
                        <a:rPr lang="en-IN" sz="1200" kern="100" dirty="0">
                          <a:effectLst/>
                        </a:rPr>
                        <a:t>Bi-LSTM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ctr">
                        <a:lnSpc>
                          <a:spcPct val="107000"/>
                        </a:lnSpc>
                        <a:spcAft>
                          <a:spcPts val="800"/>
                        </a:spcAft>
                        <a:buNone/>
                      </a:pPr>
                      <a:r>
                        <a:rPr lang="en-IN" sz="1200" kern="100" dirty="0">
                          <a:effectLst/>
                        </a:rPr>
                        <a:t>0.9621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ctr">
                        <a:lnSpc>
                          <a:spcPct val="107000"/>
                        </a:lnSpc>
                        <a:spcAft>
                          <a:spcPts val="800"/>
                        </a:spcAft>
                        <a:buNone/>
                      </a:pPr>
                      <a:r>
                        <a:rPr lang="en-IN" sz="1200" kern="100" dirty="0">
                          <a:effectLst/>
                        </a:rPr>
                        <a:t>0.9794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l">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tc>
                <a:extLst>
                  <a:ext uri="{0D108BD9-81ED-4DB2-BD59-A6C34878D82A}">
                    <a16:rowId xmlns:a16="http://schemas.microsoft.com/office/drawing/2014/main" val="1809753928"/>
                  </a:ext>
                </a:extLst>
              </a:tr>
              <a:tr h="945522">
                <a:tc>
                  <a:txBody>
                    <a:bodyPr/>
                    <a:lstStyle/>
                    <a:p>
                      <a:pPr algn="ctr">
                        <a:lnSpc>
                          <a:spcPct val="107000"/>
                        </a:lnSpc>
                        <a:spcAft>
                          <a:spcPts val="800"/>
                        </a:spcAft>
                        <a:buNone/>
                      </a:pPr>
                      <a:r>
                        <a:rPr lang="en-IN" sz="1100" kern="100" dirty="0">
                          <a:effectLst/>
                        </a:rPr>
                        <a:t>Hybrid1</a:t>
                      </a:r>
                    </a:p>
                    <a:p>
                      <a:pPr algn="ctr">
                        <a:lnSpc>
                          <a:spcPct val="107000"/>
                        </a:lnSpc>
                        <a:spcAft>
                          <a:spcPts val="800"/>
                        </a:spcAft>
                        <a:buNone/>
                      </a:pPr>
                      <a:r>
                        <a:rPr lang="en-IN" sz="1100" kern="100" dirty="0">
                          <a:effectLst/>
                        </a:rPr>
                        <a:t>(BiLSTM+Attn+2layer/Stacked GRU</a:t>
                      </a:r>
                      <a:r>
                        <a:rPr lang="en-IN" sz="700" kern="100" dirty="0">
                          <a:effectLst/>
                        </a:rPr>
                        <a:t>)</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ctr">
                        <a:lnSpc>
                          <a:spcPct val="107000"/>
                        </a:lnSpc>
                        <a:spcAft>
                          <a:spcPts val="800"/>
                        </a:spcAft>
                        <a:buNone/>
                      </a:pPr>
                      <a:r>
                        <a:rPr lang="en-IN" sz="1200" kern="100" dirty="0">
                          <a:effectLst/>
                        </a:rPr>
                        <a:t>0.9547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ctr">
                        <a:lnSpc>
                          <a:spcPct val="107000"/>
                        </a:lnSpc>
                        <a:spcAft>
                          <a:spcPts val="800"/>
                        </a:spcAft>
                        <a:buNone/>
                      </a:pPr>
                      <a:r>
                        <a:rPr lang="en-IN" sz="1200" kern="100" dirty="0">
                          <a:effectLst/>
                        </a:rPr>
                        <a:t>0.9791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tc>
                <a:tc>
                  <a:txBody>
                    <a:bodyPr/>
                    <a:lstStyle/>
                    <a:p>
                      <a:pPr algn="l">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tc>
                <a:extLst>
                  <a:ext uri="{0D108BD9-81ED-4DB2-BD59-A6C34878D82A}">
                    <a16:rowId xmlns:a16="http://schemas.microsoft.com/office/drawing/2014/main" val="1855405481"/>
                  </a:ext>
                </a:extLst>
              </a:tr>
              <a:tr h="931881">
                <a:tc>
                  <a:txBody>
                    <a:bodyPr/>
                    <a:lstStyle/>
                    <a:p>
                      <a:pPr algn="ctr">
                        <a:lnSpc>
                          <a:spcPct val="107000"/>
                        </a:lnSpc>
                        <a:spcAft>
                          <a:spcPts val="800"/>
                        </a:spcAft>
                        <a:buNone/>
                      </a:pPr>
                      <a:r>
                        <a:rPr lang="en-IN" sz="1200" kern="100" dirty="0">
                          <a:effectLst/>
                        </a:rPr>
                        <a:t>Hybrid2</a:t>
                      </a:r>
                      <a:br>
                        <a:rPr lang="en-IN" sz="1200" kern="100" dirty="0">
                          <a:effectLst/>
                        </a:rPr>
                      </a:br>
                      <a:r>
                        <a:rPr lang="en-IN" sz="1200" kern="100" dirty="0">
                          <a:effectLst/>
                        </a:rPr>
                        <a:t>(Bi-LSTM+Attn+1layer GRU)</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FFC9"/>
                    </a:solidFill>
                  </a:tcPr>
                </a:tc>
                <a:tc>
                  <a:txBody>
                    <a:bodyPr/>
                    <a:lstStyle/>
                    <a:p>
                      <a:pPr algn="ctr">
                        <a:lnSpc>
                          <a:spcPct val="107000"/>
                        </a:lnSpc>
                        <a:spcAft>
                          <a:spcPts val="800"/>
                        </a:spcAft>
                        <a:buNone/>
                      </a:pPr>
                      <a:r>
                        <a:rPr lang="en-IN" sz="1200" kern="100" dirty="0">
                          <a:effectLst/>
                        </a:rPr>
                        <a:t>0.9623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ctr">
                        <a:lnSpc>
                          <a:spcPct val="107000"/>
                        </a:lnSpc>
                        <a:spcAft>
                          <a:spcPts val="800"/>
                        </a:spcAft>
                        <a:buNone/>
                      </a:pPr>
                      <a:r>
                        <a:rPr lang="en-IN" sz="1200" kern="100" dirty="0">
                          <a:effectLst/>
                        </a:rPr>
                        <a:t>0.9817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l">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tc>
                <a:extLst>
                  <a:ext uri="{0D108BD9-81ED-4DB2-BD59-A6C34878D82A}">
                    <a16:rowId xmlns:a16="http://schemas.microsoft.com/office/drawing/2014/main" val="1635618794"/>
                  </a:ext>
                </a:extLst>
              </a:tr>
              <a:tr h="1029162">
                <a:tc>
                  <a:txBody>
                    <a:bodyPr/>
                    <a:lstStyle/>
                    <a:p>
                      <a:pPr algn="ctr">
                        <a:lnSpc>
                          <a:spcPct val="107000"/>
                        </a:lnSpc>
                        <a:spcAft>
                          <a:spcPts val="800"/>
                        </a:spcAft>
                        <a:buNone/>
                      </a:pPr>
                      <a:r>
                        <a:rPr lang="en-IN" sz="1200" kern="100" dirty="0">
                          <a:effectLst/>
                        </a:rPr>
                        <a:t>Fusion                   (</a:t>
                      </a:r>
                      <a:r>
                        <a:rPr lang="en-IN" sz="1200" kern="100" dirty="0" err="1">
                          <a:effectLst/>
                        </a:rPr>
                        <a:t>RoBERTa</a:t>
                      </a:r>
                      <a:r>
                        <a:rPr lang="en-IN" sz="1200" kern="100" dirty="0">
                          <a:effectLst/>
                        </a:rPr>
                        <a:t> + Hybrid2)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ctr">
                        <a:lnSpc>
                          <a:spcPct val="107000"/>
                        </a:lnSpc>
                        <a:spcAft>
                          <a:spcPts val="800"/>
                        </a:spcAft>
                        <a:buNone/>
                      </a:pPr>
                      <a:r>
                        <a:rPr lang="en-IN" sz="1200" kern="100" dirty="0">
                          <a:effectLst/>
                        </a:rPr>
                        <a:t>0.9797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ctr">
                        <a:lnSpc>
                          <a:spcPct val="107000"/>
                        </a:lnSpc>
                        <a:spcAft>
                          <a:spcPts val="800"/>
                        </a:spcAft>
                        <a:buNone/>
                      </a:pPr>
                      <a:r>
                        <a:rPr lang="en-IN" sz="1200" kern="100" dirty="0">
                          <a:effectLst/>
                        </a:rPr>
                        <a:t>0.9901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nchor="ctr">
                    <a:solidFill>
                      <a:srgbClr val="FFCDD9"/>
                    </a:solidFill>
                  </a:tcPr>
                </a:tc>
                <a:tc>
                  <a:txBody>
                    <a:bodyPr/>
                    <a:lstStyle/>
                    <a:p>
                      <a:pPr algn="l">
                        <a:lnSpc>
                          <a:spcPct val="107000"/>
                        </a:lnSpc>
                        <a:spcAft>
                          <a:spcPts val="800"/>
                        </a:spcAft>
                        <a:buNone/>
                      </a:pPr>
                      <a:r>
                        <a:rPr lang="en-IN" sz="700" kern="100" dirty="0">
                          <a:effectLst/>
                        </a:rPr>
                        <a:t> </a:t>
                      </a:r>
                      <a:endParaRPr lang="en-IN"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037" marR="46037" marT="0" marB="0"/>
                </a:tc>
                <a:extLst>
                  <a:ext uri="{0D108BD9-81ED-4DB2-BD59-A6C34878D82A}">
                    <a16:rowId xmlns:a16="http://schemas.microsoft.com/office/drawing/2014/main" val="538222167"/>
                  </a:ext>
                </a:extLst>
              </a:tr>
            </a:tbl>
          </a:graphicData>
        </a:graphic>
      </p:graphicFrame>
      <p:pic>
        <p:nvPicPr>
          <p:cNvPr id="6" name="Picture 5">
            <a:extLst>
              <a:ext uri="{FF2B5EF4-FFF2-40B4-BE49-F238E27FC236}">
                <a16:creationId xmlns:a16="http://schemas.microsoft.com/office/drawing/2014/main" id="{52E8D276-94E3-B94A-34D0-095B0D0C88EB}"/>
              </a:ext>
            </a:extLst>
          </p:cNvPr>
          <p:cNvPicPr>
            <a:picLocks noChangeAspect="1"/>
          </p:cNvPicPr>
          <p:nvPr/>
        </p:nvPicPr>
        <p:blipFill>
          <a:blip r:embed="rId3"/>
          <a:stretch>
            <a:fillRect/>
          </a:stretch>
        </p:blipFill>
        <p:spPr>
          <a:xfrm>
            <a:off x="4450570" y="1694273"/>
            <a:ext cx="1728107" cy="674023"/>
          </a:xfrm>
          <a:prstGeom prst="rect">
            <a:avLst/>
          </a:prstGeom>
        </p:spPr>
      </p:pic>
      <p:pic>
        <p:nvPicPr>
          <p:cNvPr id="7" name="Picture 6">
            <a:extLst>
              <a:ext uri="{FF2B5EF4-FFF2-40B4-BE49-F238E27FC236}">
                <a16:creationId xmlns:a16="http://schemas.microsoft.com/office/drawing/2014/main" id="{355B1F7B-B8EF-638C-D65D-07042E70FCFD}"/>
              </a:ext>
            </a:extLst>
          </p:cNvPr>
          <p:cNvPicPr>
            <a:picLocks noChangeAspect="1"/>
          </p:cNvPicPr>
          <p:nvPr/>
        </p:nvPicPr>
        <p:blipFill>
          <a:blip r:embed="rId4"/>
          <a:stretch>
            <a:fillRect/>
          </a:stretch>
        </p:blipFill>
        <p:spPr>
          <a:xfrm>
            <a:off x="4450570" y="2547018"/>
            <a:ext cx="1728107" cy="731520"/>
          </a:xfrm>
          <a:prstGeom prst="rect">
            <a:avLst/>
          </a:prstGeom>
        </p:spPr>
      </p:pic>
      <p:pic>
        <p:nvPicPr>
          <p:cNvPr id="8" name="Picture 7">
            <a:extLst>
              <a:ext uri="{FF2B5EF4-FFF2-40B4-BE49-F238E27FC236}">
                <a16:creationId xmlns:a16="http://schemas.microsoft.com/office/drawing/2014/main" id="{6C8897C7-E3F5-6D52-D0A3-FC46363F0F1E}"/>
              </a:ext>
            </a:extLst>
          </p:cNvPr>
          <p:cNvPicPr>
            <a:picLocks noChangeAspect="1"/>
          </p:cNvPicPr>
          <p:nvPr/>
        </p:nvPicPr>
        <p:blipFill>
          <a:blip r:embed="rId5"/>
          <a:stretch>
            <a:fillRect/>
          </a:stretch>
        </p:blipFill>
        <p:spPr>
          <a:xfrm>
            <a:off x="4393044" y="4432207"/>
            <a:ext cx="1939925" cy="731520"/>
          </a:xfrm>
          <a:prstGeom prst="rect">
            <a:avLst/>
          </a:prstGeom>
        </p:spPr>
      </p:pic>
      <p:pic>
        <p:nvPicPr>
          <p:cNvPr id="9" name="Picture 8">
            <a:extLst>
              <a:ext uri="{FF2B5EF4-FFF2-40B4-BE49-F238E27FC236}">
                <a16:creationId xmlns:a16="http://schemas.microsoft.com/office/drawing/2014/main" id="{7E1E1720-623D-056E-C718-2EF9F08A8099}"/>
              </a:ext>
            </a:extLst>
          </p:cNvPr>
          <p:cNvPicPr>
            <a:picLocks noChangeAspect="1"/>
          </p:cNvPicPr>
          <p:nvPr/>
        </p:nvPicPr>
        <p:blipFill>
          <a:blip r:embed="rId6"/>
          <a:srcRect l="1966" r="7663"/>
          <a:stretch>
            <a:fillRect/>
          </a:stretch>
        </p:blipFill>
        <p:spPr>
          <a:xfrm>
            <a:off x="4393044" y="5377112"/>
            <a:ext cx="1824873" cy="731521"/>
          </a:xfrm>
          <a:prstGeom prst="rect">
            <a:avLst/>
          </a:prstGeom>
        </p:spPr>
      </p:pic>
      <p:sp>
        <p:nvSpPr>
          <p:cNvPr id="3" name="TextBox 2">
            <a:extLst>
              <a:ext uri="{FF2B5EF4-FFF2-40B4-BE49-F238E27FC236}">
                <a16:creationId xmlns:a16="http://schemas.microsoft.com/office/drawing/2014/main" id="{9C0ED310-27F8-E06A-0439-5EC8A3905FF8}"/>
              </a:ext>
            </a:extLst>
          </p:cNvPr>
          <p:cNvSpPr txBox="1"/>
          <p:nvPr/>
        </p:nvSpPr>
        <p:spPr>
          <a:xfrm>
            <a:off x="110168" y="862355"/>
            <a:ext cx="8137720" cy="615553"/>
          </a:xfrm>
          <a:prstGeom prst="rect">
            <a:avLst/>
          </a:prstGeom>
          <a:noFill/>
        </p:spPr>
        <p:txBody>
          <a:bodyPr wrap="square" rtlCol="0">
            <a:spAutoFit/>
          </a:bodyPr>
          <a:lstStyle/>
          <a:p>
            <a:r>
              <a:rPr lang="en-IN" sz="1600" b="1" dirty="0">
                <a:latin typeface="+mn-lt"/>
              </a:rPr>
              <a:t>Table 5: Performance comparison of BERT-based, RNN-based and  hybrid-models</a:t>
            </a:r>
          </a:p>
          <a:p>
            <a:endParaRPr lang="en-IN" dirty="0"/>
          </a:p>
        </p:txBody>
      </p:sp>
      <p:sp>
        <p:nvSpPr>
          <p:cNvPr id="10" name="TextBox 9">
            <a:extLst>
              <a:ext uri="{FF2B5EF4-FFF2-40B4-BE49-F238E27FC236}">
                <a16:creationId xmlns:a16="http://schemas.microsoft.com/office/drawing/2014/main" id="{6A751528-D404-F2E5-355B-F0CF5B96F213}"/>
              </a:ext>
            </a:extLst>
          </p:cNvPr>
          <p:cNvSpPr txBox="1"/>
          <p:nvPr/>
        </p:nvSpPr>
        <p:spPr>
          <a:xfrm>
            <a:off x="119312" y="6223974"/>
            <a:ext cx="3371504" cy="338554"/>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Credit*</a:t>
            </a:r>
            <a:r>
              <a:rPr lang="en-IN" sz="1600" dirty="0">
                <a:latin typeface="Times New Roman" panose="02020603050405020304" pitchFamily="18" charset="0"/>
                <a:cs typeface="Times New Roman" panose="02020603050405020304" pitchFamily="18" charset="0"/>
              </a:rPr>
              <a:t>: </a:t>
            </a:r>
            <a:r>
              <a:rPr lang="en-IN" sz="1400" dirty="0">
                <a:latin typeface="+mn-lt"/>
                <a:cs typeface="Times New Roman" panose="02020603050405020304" pitchFamily="18" charset="0"/>
              </a:rPr>
              <a:t>Contributed by Madhav</a:t>
            </a:r>
          </a:p>
        </p:txBody>
      </p:sp>
    </p:spTree>
    <p:extLst>
      <p:ext uri="{BB962C8B-B14F-4D97-AF65-F5344CB8AC3E}">
        <p14:creationId xmlns:p14="http://schemas.microsoft.com/office/powerpoint/2010/main" val="1261174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316B4-9462-89A1-0567-C909BE33C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7829F-7CDC-0DF8-74C5-27DF33DFCC84}"/>
              </a:ext>
            </a:extLst>
          </p:cNvPr>
          <p:cNvSpPr>
            <a:spLocks noGrp="1"/>
          </p:cNvSpPr>
          <p:nvPr>
            <p:ph type="title"/>
          </p:nvPr>
        </p:nvSpPr>
        <p:spPr/>
        <p:txBody>
          <a:bodyPr/>
          <a:lstStyle/>
          <a:p>
            <a:r>
              <a:rPr lang="en-IN" dirty="0"/>
              <a:t>Key Learnings</a:t>
            </a:r>
            <a:endParaRPr lang="en-US" b="0" dirty="0"/>
          </a:p>
        </p:txBody>
      </p:sp>
      <p:sp>
        <p:nvSpPr>
          <p:cNvPr id="4" name="Content Placeholder 2">
            <a:extLst>
              <a:ext uri="{FF2B5EF4-FFF2-40B4-BE49-F238E27FC236}">
                <a16:creationId xmlns:a16="http://schemas.microsoft.com/office/drawing/2014/main" id="{4403AF8F-6FBA-9E30-6C8F-4CAC3F27D093}"/>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81000" indent="-285750"/>
            <a:r>
              <a:rPr lang="en-US" dirty="0"/>
              <a:t>Significant learning was gained in cleaning and preprocessing large text datasets, including handling encoding issues, removing noise, and ensuring consistent formatting for model training.</a:t>
            </a:r>
          </a:p>
          <a:p>
            <a:pPr marL="381000" indent="-285750"/>
            <a:r>
              <a:rPr lang="en-US" dirty="0"/>
              <a:t>A deeper understanding was developed of how to design, train, and evaluate deep learning architectures such as </a:t>
            </a:r>
            <a:r>
              <a:rPr lang="en-US" dirty="0" err="1"/>
              <a:t>RoBERTa</a:t>
            </a:r>
            <a:r>
              <a:rPr lang="en-US" dirty="0"/>
              <a:t> and Hybrid Bi-LSTM with Attention and GRU.</a:t>
            </a:r>
          </a:p>
          <a:p>
            <a:pPr marL="381000" indent="-285750"/>
            <a:r>
              <a:rPr lang="en-US" dirty="0"/>
              <a:t>Practical experience was gained in implementing feature-level fusion, combining two high-performing models into a unified system to improve accuracy and robustness.</a:t>
            </a:r>
            <a:endParaRPr lang="en-IN" dirty="0"/>
          </a:p>
        </p:txBody>
      </p:sp>
    </p:spTree>
    <p:extLst>
      <p:ext uri="{BB962C8B-B14F-4D97-AF65-F5344CB8AC3E}">
        <p14:creationId xmlns:p14="http://schemas.microsoft.com/office/powerpoint/2010/main" val="4142453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0878-8FE6-6431-E84F-16336E6DE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143DA-2CB4-07C6-001C-3A639B4BCADB}"/>
              </a:ext>
            </a:extLst>
          </p:cNvPr>
          <p:cNvSpPr>
            <a:spLocks noGrp="1"/>
          </p:cNvSpPr>
          <p:nvPr>
            <p:ph type="title"/>
          </p:nvPr>
        </p:nvSpPr>
        <p:spPr/>
        <p:txBody>
          <a:bodyPr/>
          <a:lstStyle/>
          <a:p>
            <a:r>
              <a:rPr lang="en-IN" dirty="0">
                <a:ea typeface="Palatino" pitchFamily="2" charset="77"/>
              </a:rPr>
              <a:t>Work Contribution and Attendance</a:t>
            </a:r>
            <a:endParaRPr lang="en-US" b="0" dirty="0"/>
          </a:p>
        </p:txBody>
      </p:sp>
      <p:sp>
        <p:nvSpPr>
          <p:cNvPr id="4" name="Content Placeholder 2">
            <a:extLst>
              <a:ext uri="{FF2B5EF4-FFF2-40B4-BE49-F238E27FC236}">
                <a16:creationId xmlns:a16="http://schemas.microsoft.com/office/drawing/2014/main" id="{33864F80-A98D-C3A6-300F-743060AF58A2}"/>
              </a:ext>
            </a:extLst>
          </p:cNvPr>
          <p:cNvSpPr txBox="1">
            <a:spLocks/>
          </p:cNvSpPr>
          <p:nvPr/>
        </p:nvSpPr>
        <p:spPr bwMode="auto">
          <a:xfrm>
            <a:off x="77118" y="804231"/>
            <a:ext cx="8956714" cy="5172419"/>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7F6ED005-6EC0-5EE2-8CB4-7008F054C64D}"/>
              </a:ext>
            </a:extLst>
          </p:cNvPr>
          <p:cNvGraphicFramePr>
            <a:graphicFrameLocks noGrp="1"/>
          </p:cNvGraphicFramePr>
          <p:nvPr>
            <p:extLst>
              <p:ext uri="{D42A27DB-BD31-4B8C-83A1-F6EECF244321}">
                <p14:modId xmlns:p14="http://schemas.microsoft.com/office/powerpoint/2010/main" val="317305341"/>
              </p:ext>
            </p:extLst>
          </p:nvPr>
        </p:nvGraphicFramePr>
        <p:xfrm>
          <a:off x="110168" y="804231"/>
          <a:ext cx="8923664" cy="5596083"/>
        </p:xfrm>
        <a:graphic>
          <a:graphicData uri="http://schemas.openxmlformats.org/drawingml/2006/table">
            <a:tbl>
              <a:tblPr firstRow="1" bandRow="1">
                <a:tableStyleId>{00A15C55-8517-42AA-B614-E9B94910E393}</a:tableStyleId>
              </a:tblPr>
              <a:tblGrid>
                <a:gridCol w="802019">
                  <a:extLst>
                    <a:ext uri="{9D8B030D-6E8A-4147-A177-3AD203B41FA5}">
                      <a16:colId xmlns:a16="http://schemas.microsoft.com/office/drawing/2014/main" val="1580173846"/>
                    </a:ext>
                  </a:extLst>
                </a:gridCol>
                <a:gridCol w="1163996">
                  <a:extLst>
                    <a:ext uri="{9D8B030D-6E8A-4147-A177-3AD203B41FA5}">
                      <a16:colId xmlns:a16="http://schemas.microsoft.com/office/drawing/2014/main" val="1787721097"/>
                    </a:ext>
                  </a:extLst>
                </a:gridCol>
                <a:gridCol w="3985313">
                  <a:extLst>
                    <a:ext uri="{9D8B030D-6E8A-4147-A177-3AD203B41FA5}">
                      <a16:colId xmlns:a16="http://schemas.microsoft.com/office/drawing/2014/main" val="1940941142"/>
                    </a:ext>
                  </a:extLst>
                </a:gridCol>
                <a:gridCol w="1140062">
                  <a:extLst>
                    <a:ext uri="{9D8B030D-6E8A-4147-A177-3AD203B41FA5}">
                      <a16:colId xmlns:a16="http://schemas.microsoft.com/office/drawing/2014/main" val="1693280867"/>
                    </a:ext>
                  </a:extLst>
                </a:gridCol>
                <a:gridCol w="787291">
                  <a:extLst>
                    <a:ext uri="{9D8B030D-6E8A-4147-A177-3AD203B41FA5}">
                      <a16:colId xmlns:a16="http://schemas.microsoft.com/office/drawing/2014/main" val="3130860608"/>
                    </a:ext>
                  </a:extLst>
                </a:gridCol>
                <a:gridCol w="1044983">
                  <a:extLst>
                    <a:ext uri="{9D8B030D-6E8A-4147-A177-3AD203B41FA5}">
                      <a16:colId xmlns:a16="http://schemas.microsoft.com/office/drawing/2014/main" val="2032934039"/>
                    </a:ext>
                  </a:extLst>
                </a:gridCol>
              </a:tblGrid>
              <a:tr h="365090">
                <a:tc gridSpan="6">
                  <a:txBody>
                    <a:bodyPr/>
                    <a:lstStyle/>
                    <a:p>
                      <a:pPr algn="l"/>
                      <a:r>
                        <a:rPr lang="en-US" sz="1300" b="1" i="0" dirty="0">
                          <a:solidFill>
                            <a:schemeClr val="tx1"/>
                          </a:solidFill>
                          <a:latin typeface="Helvetica" pitchFamily="2" charset="0"/>
                        </a:rPr>
                        <a:t>GitHub Repository URL: https://github.com/gitsoha/Deepfake-News-Shield</a:t>
                      </a: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1846737965"/>
                  </a:ext>
                </a:extLst>
              </a:tr>
              <a:tr h="669450">
                <a:tc>
                  <a:txBody>
                    <a:bodyPr/>
                    <a:lstStyle/>
                    <a:p>
                      <a:pPr algn="ctr"/>
                      <a:r>
                        <a:rPr lang="en-US" sz="1300" b="0" i="0" dirty="0">
                          <a:solidFill>
                            <a:schemeClr val="tx1"/>
                          </a:solidFill>
                          <a:latin typeface="Helvetica" pitchFamily="2" charset="0"/>
                        </a:rPr>
                        <a:t>Team Member</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Roll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Work Done</a:t>
                      </a:r>
                    </a:p>
                    <a:p>
                      <a:pPr algn="ctr"/>
                      <a:r>
                        <a:rPr lang="en-US" sz="1300" b="0" i="0" dirty="0">
                          <a:solidFill>
                            <a:schemeClr val="tx1"/>
                          </a:solidFill>
                          <a:latin typeface="Helvetica" pitchFamily="2" charset="0"/>
                        </a:rPr>
                        <a:t>(provide complete details)</a:t>
                      </a:r>
                    </a:p>
                  </a:txBody>
                  <a:tcPr>
                    <a:solidFill>
                      <a:schemeClr val="accent6">
                        <a:lumMod val="60000"/>
                        <a:lumOff val="4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solidFill>
                            <a:schemeClr val="tx1"/>
                          </a:solidFill>
                          <a:latin typeface="Helvetica" pitchFamily="2" charset="0"/>
                        </a:rPr>
                        <a:t>Work Contribution (%)</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Lines of Code</a:t>
                      </a:r>
                    </a:p>
                    <a:p>
                      <a:pPr algn="ctr"/>
                      <a:r>
                        <a:rPr lang="en-US" sz="1300" b="0" i="0" dirty="0">
                          <a:solidFill>
                            <a:schemeClr val="tx1"/>
                          </a:solidFill>
                          <a:latin typeface="Helvetica" pitchFamily="2" charset="0"/>
                        </a:rPr>
                        <a:t>(if any)</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Lab Attendance (%)</a:t>
                      </a:r>
                    </a:p>
                  </a:txBody>
                  <a:tcPr>
                    <a:solidFill>
                      <a:schemeClr val="accent6">
                        <a:lumMod val="60000"/>
                        <a:lumOff val="40000"/>
                      </a:schemeClr>
                    </a:solidFill>
                  </a:tcPr>
                </a:tc>
                <a:extLst>
                  <a:ext uri="{0D108BD9-81ED-4DB2-BD59-A6C34878D82A}">
                    <a16:rowId xmlns:a16="http://schemas.microsoft.com/office/drawing/2014/main" val="2495431070"/>
                  </a:ext>
                </a:extLst>
              </a:tr>
              <a:tr h="124964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221030283</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Designed and finalized the complete ETE PPT.</a:t>
                      </a:r>
                      <a:endParaRPr lang="en-US" sz="1200" b="0" i="0" dirty="0">
                        <a:latin typeface="Helvetica" pitchFamily="2" charset="0"/>
                      </a:endParaRPr>
                    </a:p>
                    <a:p>
                      <a:pPr marL="171450" indent="-171450">
                        <a:buFont typeface="Arial" panose="020B0604020202020204" pitchFamily="34" charset="0"/>
                        <a:buChar char="•"/>
                      </a:pPr>
                      <a:r>
                        <a:rPr lang="en-US" sz="1300" b="0" i="0" dirty="0">
                          <a:latin typeface="Helvetica" pitchFamily="2" charset="0"/>
                        </a:rPr>
                        <a:t>Trained </a:t>
                      </a:r>
                      <a:r>
                        <a:rPr lang="en-US" sz="1300" b="0" i="0" dirty="0" err="1">
                          <a:latin typeface="Helvetica" pitchFamily="2" charset="0"/>
                        </a:rPr>
                        <a:t>RoBERTa</a:t>
                      </a:r>
                      <a:r>
                        <a:rPr lang="en-US" sz="1300" b="0" i="0" dirty="0">
                          <a:latin typeface="Helvetica" pitchFamily="2" charset="0"/>
                        </a:rPr>
                        <a:t> and Hybrid (Bi-LSTM + Attention + GRU) models.</a:t>
                      </a:r>
                    </a:p>
                    <a:p>
                      <a:pPr marL="171450" indent="-171450">
                        <a:buFont typeface="Arial" panose="020B0604020202020204" pitchFamily="34" charset="0"/>
                        <a:buChar char="•"/>
                      </a:pPr>
                      <a:r>
                        <a:rPr lang="en-US" sz="1300" b="0" i="0" dirty="0">
                          <a:latin typeface="Helvetica" pitchFamily="2" charset="0"/>
                        </a:rPr>
                        <a:t>Performed feature-level fusion of the top two models and evaluated final results.</a:t>
                      </a:r>
                    </a:p>
                    <a:p>
                      <a:pPr marL="171450" indent="-171450">
                        <a:buFont typeface="Arial" panose="020B0604020202020204" pitchFamily="34" charset="0"/>
                        <a:buChar char="•"/>
                      </a:pPr>
                      <a:r>
                        <a:rPr lang="en-US" sz="1300" b="0" i="0" dirty="0">
                          <a:latin typeface="Helvetica" pitchFamily="2" charset="0"/>
                        </a:rPr>
                        <a:t>Created the MTE report.</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25</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100</a:t>
                      </a:r>
                    </a:p>
                  </a:txBody>
                  <a:tcPr>
                    <a:solidFill>
                      <a:schemeClr val="accent5">
                        <a:lumMod val="20000"/>
                        <a:lumOff val="80000"/>
                      </a:schemeClr>
                    </a:solidFill>
                  </a:tcPr>
                </a:tc>
                <a:extLst>
                  <a:ext uri="{0D108BD9-81ED-4DB2-BD59-A6C34878D82A}">
                    <a16:rowId xmlns:a16="http://schemas.microsoft.com/office/drawing/2014/main" val="3440570599"/>
                  </a:ext>
                </a:extLst>
              </a:tr>
              <a:tr h="1056244">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221031049</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Implemented and tested LSTM-attn. models.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Enhanced bi-</a:t>
                      </a:r>
                      <a:r>
                        <a:rPr lang="en-US" sz="1300" b="0" i="0" dirty="0" err="1">
                          <a:latin typeface="Helvetica" pitchFamily="2" charset="0"/>
                        </a:rPr>
                        <a:t>lstm</a:t>
                      </a:r>
                      <a:r>
                        <a:rPr lang="en-US" sz="1300" b="0" i="0" dirty="0">
                          <a:latin typeface="Helvetica" pitchFamily="2" charset="0"/>
                        </a:rPr>
                        <a:t> with multiple attn. and residual.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Created Comparison of all models and updated the report of ETE.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Created the MTE PPT.</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25</a:t>
                      </a:r>
                    </a:p>
                  </a:txBody>
                  <a:tcPr>
                    <a:solidFill>
                      <a:schemeClr val="accent6">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100</a:t>
                      </a:r>
                    </a:p>
                  </a:txBody>
                  <a:tcPr>
                    <a:solidFill>
                      <a:schemeClr val="accent6">
                        <a:lumMod val="20000"/>
                        <a:lumOff val="80000"/>
                      </a:schemeClr>
                    </a:solidFill>
                  </a:tcPr>
                </a:tc>
                <a:extLst>
                  <a:ext uri="{0D108BD9-81ED-4DB2-BD59-A6C34878D82A}">
                    <a16:rowId xmlns:a16="http://schemas.microsoft.com/office/drawing/2014/main" val="2590066489"/>
                  </a:ext>
                </a:extLst>
              </a:tr>
              <a:tr h="1056244">
                <a:tc>
                  <a:txBody>
                    <a:bodyPr/>
                    <a:lstStyle/>
                    <a:p>
                      <a:pPr algn="ctr"/>
                      <a:r>
                        <a:rPr lang="en-US" sz="1300" b="0" i="0" dirty="0">
                          <a:latin typeface="Helvetica" pitchFamily="2" charset="0"/>
                        </a:rPr>
                        <a:t>3.</a:t>
                      </a:r>
                    </a:p>
                  </a:txBody>
                  <a:tcPr>
                    <a:solidFill>
                      <a:schemeClr val="accent5">
                        <a:lumMod val="20000"/>
                        <a:lumOff val="80000"/>
                      </a:schemeClr>
                    </a:solidFill>
                  </a:tcPr>
                </a:tc>
                <a:tc>
                  <a:txBody>
                    <a:bodyPr/>
                    <a:lstStyle/>
                    <a:p>
                      <a:pPr algn="ctr"/>
                      <a:r>
                        <a:rPr lang="en-US" sz="1300" b="0" i="0" dirty="0">
                          <a:latin typeface="Helvetica" pitchFamily="2" charset="0"/>
                        </a:rPr>
                        <a:t>221031013</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Worked on </a:t>
                      </a:r>
                      <a:r>
                        <a:rPr lang="en-US" sz="1300" b="0" i="0" dirty="0" err="1">
                          <a:latin typeface="Helvetica" pitchFamily="2" charset="0"/>
                        </a:rPr>
                        <a:t>DeBERTa</a:t>
                      </a:r>
                      <a:r>
                        <a:rPr lang="en-US" sz="1300" b="0" i="0" dirty="0">
                          <a:latin typeface="Helvetica" pitchFamily="2" charset="0"/>
                        </a:rPr>
                        <a:t> model.</a:t>
                      </a:r>
                    </a:p>
                    <a:p>
                      <a:pPr marL="171450" indent="-171450">
                        <a:buFont typeface="Arial" panose="020B0604020202020204" pitchFamily="34" charset="0"/>
                        <a:buChar char="•"/>
                      </a:pPr>
                      <a:r>
                        <a:rPr lang="en-US" sz="1300" b="0" i="0" dirty="0">
                          <a:latin typeface="Helvetica" pitchFamily="2" charset="0"/>
                        </a:rPr>
                        <a:t>Added GRU layer over </a:t>
                      </a:r>
                      <a:r>
                        <a:rPr lang="en-US" sz="1300" b="0" i="0" dirty="0" err="1">
                          <a:latin typeface="Helvetica" pitchFamily="2" charset="0"/>
                        </a:rPr>
                        <a:t>DeBERTa</a:t>
                      </a:r>
                      <a:r>
                        <a:rPr lang="en-US" sz="1300" b="0" i="0" dirty="0">
                          <a:latin typeface="Helvetica" pitchFamily="2" charset="0"/>
                        </a:rPr>
                        <a:t> model.</a:t>
                      </a:r>
                    </a:p>
                    <a:p>
                      <a:pPr marL="171450" indent="-171450">
                        <a:buFont typeface="Arial" panose="020B0604020202020204" pitchFamily="34" charset="0"/>
                        <a:buChar char="•"/>
                      </a:pPr>
                      <a:r>
                        <a:rPr lang="en-US" sz="1300" b="0" i="0" dirty="0">
                          <a:latin typeface="Helvetica" pitchFamily="2" charset="0"/>
                        </a:rPr>
                        <a:t>Made the hybrid of (DeBERTa+T5).</a:t>
                      </a:r>
                    </a:p>
                    <a:p>
                      <a:pPr marL="171450" indent="-171450">
                        <a:buFont typeface="Arial" panose="020B0604020202020204" pitchFamily="34" charset="0"/>
                        <a:buChar char="•"/>
                      </a:pPr>
                      <a:r>
                        <a:rPr lang="en-US" sz="1300" b="0" i="0" dirty="0">
                          <a:latin typeface="Helvetica" pitchFamily="2" charset="0"/>
                        </a:rPr>
                        <a:t>Created the MTE PPT.</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25</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90.86</a:t>
                      </a:r>
                    </a:p>
                  </a:txBody>
                  <a:tcPr>
                    <a:solidFill>
                      <a:schemeClr val="accent5">
                        <a:lumMod val="20000"/>
                        <a:lumOff val="80000"/>
                      </a:schemeClr>
                    </a:solidFill>
                  </a:tcPr>
                </a:tc>
                <a:extLst>
                  <a:ext uri="{0D108BD9-81ED-4DB2-BD59-A6C34878D82A}">
                    <a16:rowId xmlns:a16="http://schemas.microsoft.com/office/drawing/2014/main" val="3646395450"/>
                  </a:ext>
                </a:extLst>
              </a:tr>
              <a:tr h="1126749">
                <a:tc>
                  <a:txBody>
                    <a:bodyPr/>
                    <a:lstStyle/>
                    <a:p>
                      <a:pPr algn="ctr"/>
                      <a:r>
                        <a:rPr lang="en-US" sz="1300" b="0" i="0" dirty="0">
                          <a:latin typeface="Helvetica" pitchFamily="2" charset="0"/>
                        </a:rPr>
                        <a:t>4.</a:t>
                      </a:r>
                    </a:p>
                  </a:txBody>
                  <a:tcPr>
                    <a:solidFill>
                      <a:schemeClr val="accent5">
                        <a:lumMod val="20000"/>
                        <a:lumOff val="80000"/>
                      </a:schemeClr>
                    </a:solidFill>
                  </a:tcPr>
                </a:tc>
                <a:tc>
                  <a:txBody>
                    <a:bodyPr/>
                    <a:lstStyle/>
                    <a:p>
                      <a:pPr algn="ctr"/>
                      <a:r>
                        <a:rPr lang="en-US" sz="1300" b="0" i="0" dirty="0">
                          <a:latin typeface="Helvetica" pitchFamily="2" charset="0"/>
                        </a:rPr>
                        <a:t>221030070</a:t>
                      </a:r>
                    </a:p>
                  </a:txBody>
                  <a:tcPr>
                    <a:solidFill>
                      <a:schemeClr val="accent5">
                        <a:lumMod val="20000"/>
                        <a:lumOff val="80000"/>
                      </a:schemeClr>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Trained LSTM and Bi-LSTM models.</a:t>
                      </a:r>
                    </a:p>
                    <a:p>
                      <a:pPr marL="171450" indent="-171450">
                        <a:buFont typeface="Arial" panose="020B0604020202020204" pitchFamily="34" charset="0"/>
                        <a:buChar char="•"/>
                      </a:pPr>
                      <a:r>
                        <a:rPr lang="en-US" sz="1300" b="0" i="0" dirty="0">
                          <a:latin typeface="Helvetica" pitchFamily="2" charset="0"/>
                        </a:rPr>
                        <a:t>added 3 types of GRU layers on both the models.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added 3 types of Stacked layers on both the models.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Created the MTE PPT.</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25</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100</a:t>
                      </a:r>
                    </a:p>
                  </a:txBody>
                  <a:tcPr>
                    <a:solidFill>
                      <a:schemeClr val="accent5">
                        <a:lumMod val="20000"/>
                        <a:lumOff val="80000"/>
                      </a:schemeClr>
                    </a:solidFill>
                  </a:tcPr>
                </a:tc>
                <a:extLst>
                  <a:ext uri="{0D108BD9-81ED-4DB2-BD59-A6C34878D82A}">
                    <a16:rowId xmlns:a16="http://schemas.microsoft.com/office/drawing/2014/main" val="776886544"/>
                  </a:ext>
                </a:extLst>
              </a:tr>
            </a:tbl>
          </a:graphicData>
        </a:graphic>
      </p:graphicFrame>
    </p:spTree>
    <p:extLst>
      <p:ext uri="{BB962C8B-B14F-4D97-AF65-F5344CB8AC3E}">
        <p14:creationId xmlns:p14="http://schemas.microsoft.com/office/powerpoint/2010/main" val="1919280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3194-9C46-7B10-5D70-B9C3D9876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3875B-8D9F-C28E-9A27-52775848F5B9}"/>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 </a:t>
            </a:r>
            <a:r>
              <a:rPr lang="en-IN" b="0" dirty="0">
                <a:ea typeface="Palatino" pitchFamily="2" charset="77"/>
              </a:rPr>
              <a:t>(as mentioned in weekly log)</a:t>
            </a:r>
            <a:endParaRPr lang="en-US" b="0" dirty="0"/>
          </a:p>
        </p:txBody>
      </p:sp>
      <p:sp>
        <p:nvSpPr>
          <p:cNvPr id="4" name="Content Placeholder 2">
            <a:extLst>
              <a:ext uri="{FF2B5EF4-FFF2-40B4-BE49-F238E27FC236}">
                <a16:creationId xmlns:a16="http://schemas.microsoft.com/office/drawing/2014/main" id="{5BA942A6-C262-448C-36C3-8A22D5548AE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898BA634-6669-9F87-EF31-1C45794045B7}"/>
              </a:ext>
            </a:extLst>
          </p:cNvPr>
          <p:cNvGraphicFramePr>
            <a:graphicFrameLocks noGrp="1"/>
          </p:cNvGraphicFramePr>
          <p:nvPr>
            <p:extLst>
              <p:ext uri="{D42A27DB-BD31-4B8C-83A1-F6EECF244321}">
                <p14:modId xmlns:p14="http://schemas.microsoft.com/office/powerpoint/2010/main" val="1025182480"/>
              </p:ext>
            </p:extLst>
          </p:nvPr>
        </p:nvGraphicFramePr>
        <p:xfrm>
          <a:off x="110168" y="881350"/>
          <a:ext cx="8835528" cy="5073470"/>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426082">
                <a:tc gridSpan="4">
                  <a:txBody>
                    <a:bodyPr/>
                    <a:lstStyle/>
                    <a:p>
                      <a:pPr algn="ctr"/>
                      <a:r>
                        <a:rPr lang="en-US" sz="1300" b="1" i="0" dirty="0">
                          <a:solidFill>
                            <a:schemeClr val="tx1"/>
                          </a:solidFill>
                          <a:latin typeface="Helvetica" pitchFamily="2" charset="0"/>
                        </a:rPr>
                        <a:t>No. of Meetings with Supervisor: 13</a:t>
                      </a: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2275471582"/>
                  </a:ext>
                </a:extLst>
              </a:tr>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11/09/2025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18/09/2025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Very</a:t>
                      </a:r>
                      <a:r>
                        <a:rPr lang="en-US" sz="1300" b="0" i="0" baseline="0" dirty="0">
                          <a:latin typeface="Helvetica" pitchFamily="2" charset="0"/>
                        </a:rPr>
                        <a:t> few research papers.</a:t>
                      </a:r>
                      <a:endParaRPr lang="en-US" sz="1300" b="0" i="0" dirty="0">
                        <a:latin typeface="Helvetica" pitchFamily="2" charset="0"/>
                      </a:endParaRPr>
                    </a:p>
                    <a:p>
                      <a:pPr marL="171450" indent="-171450">
                        <a:buFont typeface="Arial" panose="020B0604020202020204" pitchFamily="34" charset="0"/>
                        <a:buChar char="•"/>
                      </a:pPr>
                      <a:r>
                        <a:rPr lang="en-US" sz="1300" b="0" i="0" dirty="0">
                          <a:latin typeface="Helvetica" pitchFamily="2" charset="0"/>
                        </a:rPr>
                        <a:t>Read</a:t>
                      </a:r>
                      <a:r>
                        <a:rPr lang="en-US" sz="1300" b="0" i="0" baseline="0" dirty="0">
                          <a:latin typeface="Helvetica" pitchFamily="2" charset="0"/>
                        </a:rPr>
                        <a:t> more research articles, while papers, books or any other related material</a:t>
                      </a: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18/09/2025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22/09/2025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Work on report and ppt</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3.</a:t>
                      </a:r>
                    </a:p>
                  </a:txBody>
                  <a:tcPr>
                    <a:solidFill>
                      <a:schemeClr val="accent5">
                        <a:lumMod val="20000"/>
                        <a:lumOff val="80000"/>
                      </a:schemeClr>
                    </a:solidFill>
                  </a:tcPr>
                </a:tc>
                <a:tc>
                  <a:txBody>
                    <a:bodyPr/>
                    <a:lstStyle/>
                    <a:p>
                      <a:pPr algn="ctr"/>
                      <a:r>
                        <a:rPr lang="en-US" sz="1300" b="0" i="0" dirty="0">
                          <a:latin typeface="Helvetica" pitchFamily="2" charset="0"/>
                        </a:rPr>
                        <a:t>22/09/2025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25/09/2025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Work on report and ppt</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646395450"/>
                  </a:ext>
                </a:extLst>
              </a:tr>
              <a:tr h="828000">
                <a:tc>
                  <a:txBody>
                    <a:bodyPr/>
                    <a:lstStyle/>
                    <a:p>
                      <a:pPr algn="ctr"/>
                      <a:r>
                        <a:rPr lang="en-US" sz="1300" b="0" i="0" dirty="0">
                          <a:latin typeface="Helvetica" pitchFamily="2" charset="0"/>
                        </a:rPr>
                        <a:t>4.</a:t>
                      </a:r>
                    </a:p>
                  </a:txBody>
                  <a:tcPr>
                    <a:solidFill>
                      <a:schemeClr val="accent6">
                        <a:lumMod val="20000"/>
                        <a:lumOff val="80000"/>
                      </a:schemeClr>
                    </a:solidFill>
                  </a:tcPr>
                </a:tc>
                <a:tc>
                  <a:txBody>
                    <a:bodyPr/>
                    <a:lstStyle/>
                    <a:p>
                      <a:pPr algn="ctr"/>
                      <a:r>
                        <a:rPr lang="en-US" sz="1300" b="0" i="0" dirty="0">
                          <a:latin typeface="Helvetica" pitchFamily="2" charset="0"/>
                        </a:rPr>
                        <a:t>25/09/2025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29/09/2025</a:t>
                      </a:r>
                    </a:p>
                  </a:txBody>
                  <a:tcPr>
                    <a:solidFill>
                      <a:schemeClr val="accent6">
                        <a:lumMod val="20000"/>
                        <a:lumOff val="80000"/>
                      </a:schemeClr>
                    </a:solidFill>
                  </a:tcPr>
                </a:tc>
                <a:tc>
                  <a:txBody>
                    <a:bodyPr/>
                    <a:lstStyle/>
                    <a:p>
                      <a:pPr marL="0" indent="0">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3451082333"/>
                  </a:ext>
                </a:extLst>
              </a:tr>
              <a:tr h="828000">
                <a:tc>
                  <a:txBody>
                    <a:bodyPr/>
                    <a:lstStyle/>
                    <a:p>
                      <a:pPr algn="ctr"/>
                      <a:r>
                        <a:rPr lang="en-US" sz="1300" b="0" i="0" dirty="0">
                          <a:latin typeface="Helvetica" pitchFamily="2" charset="0"/>
                        </a:rPr>
                        <a:t>5.</a:t>
                      </a:r>
                    </a:p>
                  </a:txBody>
                  <a:tcPr>
                    <a:solidFill>
                      <a:schemeClr val="accent5">
                        <a:lumMod val="20000"/>
                        <a:lumOff val="80000"/>
                      </a:schemeClr>
                    </a:solidFill>
                  </a:tcPr>
                </a:tc>
                <a:tc>
                  <a:txBody>
                    <a:bodyPr/>
                    <a:lstStyle/>
                    <a:p>
                      <a:pPr algn="ctr"/>
                      <a:r>
                        <a:rPr lang="en-US" sz="1300" b="0" i="0" dirty="0">
                          <a:latin typeface="Helvetica" pitchFamily="2" charset="0"/>
                        </a:rPr>
                        <a:t>20/10/2025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27/10/2025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Build more models</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1072130321"/>
                  </a:ext>
                </a:extLst>
              </a:tr>
            </a:tbl>
          </a:graphicData>
        </a:graphic>
      </p:graphicFrame>
    </p:spTree>
    <p:extLst>
      <p:ext uri="{BB962C8B-B14F-4D97-AF65-F5344CB8AC3E}">
        <p14:creationId xmlns:p14="http://schemas.microsoft.com/office/powerpoint/2010/main" val="117391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E7F-6D85-EBF6-EAD4-18BE8EC57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EF7BF-D279-302B-94BF-3DB4010A5811}"/>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67675676-26F3-304D-6B9E-B3644390EFB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367900DB-DF9E-B5EC-0B92-06A7F2390E13}"/>
              </a:ext>
            </a:extLst>
          </p:cNvPr>
          <p:cNvGraphicFramePr>
            <a:graphicFrameLocks noGrp="1"/>
          </p:cNvGraphicFramePr>
          <p:nvPr>
            <p:extLst>
              <p:ext uri="{D42A27DB-BD31-4B8C-83A1-F6EECF244321}">
                <p14:modId xmlns:p14="http://schemas.microsoft.com/office/powerpoint/2010/main" val="3221300022"/>
              </p:ext>
            </p:extLst>
          </p:nvPr>
        </p:nvGraphicFramePr>
        <p:xfrm>
          <a:off x="110168" y="881350"/>
          <a:ext cx="8835528" cy="5531308"/>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6.</a:t>
                      </a:r>
                    </a:p>
                  </a:txBody>
                  <a:tcPr>
                    <a:solidFill>
                      <a:schemeClr val="accent5">
                        <a:lumMod val="20000"/>
                        <a:lumOff val="80000"/>
                      </a:schemeClr>
                    </a:solidFill>
                  </a:tcPr>
                </a:tc>
                <a:tc>
                  <a:txBody>
                    <a:bodyPr/>
                    <a:lstStyle/>
                    <a:p>
                      <a:pPr algn="ctr"/>
                      <a:r>
                        <a:rPr lang="en-US" sz="1300" b="0" i="0" dirty="0">
                          <a:latin typeface="Helvetica" pitchFamily="2" charset="0"/>
                        </a:rPr>
                        <a:t>27/10/2025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31/10/2025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Need to work hard!</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7.</a:t>
                      </a:r>
                    </a:p>
                  </a:txBody>
                  <a:tcPr>
                    <a:solidFill>
                      <a:schemeClr val="accent6">
                        <a:lumMod val="20000"/>
                        <a:lumOff val="80000"/>
                      </a:schemeClr>
                    </a:solidFill>
                  </a:tcPr>
                </a:tc>
                <a:tc>
                  <a:txBody>
                    <a:bodyPr/>
                    <a:lstStyle/>
                    <a:p>
                      <a:pPr algn="ctr"/>
                      <a:r>
                        <a:rPr lang="en-US" sz="1300" b="0" i="0" dirty="0">
                          <a:latin typeface="Helvetica" pitchFamily="2" charset="0"/>
                        </a:rPr>
                        <a:t>31/10/2025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04/11/2025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Work on dataset details, feature </a:t>
                      </a:r>
                      <a:r>
                        <a:rPr lang="en-US" sz="1300" b="0" i="0" dirty="0" err="1">
                          <a:latin typeface="Helvetica" pitchFamily="2" charset="0"/>
                        </a:rPr>
                        <a:t>engg</a:t>
                      </a:r>
                      <a:r>
                        <a:rPr lang="en-US" sz="1300" b="0" i="0" dirty="0">
                          <a:latin typeface="Helvetica" pitchFamily="2" charset="0"/>
                        </a:rPr>
                        <a:t>., hyperparameter tuning</a:t>
                      </a:r>
                    </a:p>
                    <a:p>
                      <a:pPr marL="171450" indent="-171450">
                        <a:buFont typeface="Arial" panose="020B0604020202020204" pitchFamily="34" charset="0"/>
                        <a:buChar char="•"/>
                      </a:pPr>
                      <a:r>
                        <a:rPr lang="en-US" sz="1300" b="0" i="0" dirty="0">
                          <a:latin typeface="Helvetica" pitchFamily="2" charset="0"/>
                        </a:rPr>
                        <a:t>Explore hybrid/fusion models</a:t>
                      </a:r>
                    </a:p>
                  </a:txBody>
                  <a:tcPr>
                    <a:solidFill>
                      <a:schemeClr val="accent6">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8.</a:t>
                      </a:r>
                    </a:p>
                  </a:txBody>
                  <a:tcPr>
                    <a:solidFill>
                      <a:schemeClr val="accent5">
                        <a:lumMod val="20000"/>
                        <a:lumOff val="80000"/>
                      </a:schemeClr>
                    </a:solidFill>
                  </a:tcPr>
                </a:tc>
                <a:tc>
                  <a:txBody>
                    <a:bodyPr/>
                    <a:lstStyle/>
                    <a:p>
                      <a:pPr algn="ctr"/>
                      <a:r>
                        <a:rPr lang="en-US" sz="1300" b="0" i="0" dirty="0">
                          <a:latin typeface="Helvetica" pitchFamily="2" charset="0"/>
                        </a:rPr>
                        <a:t>04/11/2025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07/11/2025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Ultimately, we’ll go for multimodal system!</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646395450"/>
                  </a:ext>
                </a:extLst>
              </a:tr>
              <a:tr h="828000">
                <a:tc>
                  <a:txBody>
                    <a:bodyPr/>
                    <a:lstStyle/>
                    <a:p>
                      <a:pPr algn="ctr"/>
                      <a:r>
                        <a:rPr lang="en-US" sz="1300" b="0" i="0" dirty="0">
                          <a:latin typeface="Helvetica" pitchFamily="2" charset="0"/>
                        </a:rPr>
                        <a:t>9.</a:t>
                      </a:r>
                    </a:p>
                  </a:txBody>
                  <a:tcPr>
                    <a:solidFill>
                      <a:schemeClr val="accent6">
                        <a:lumMod val="20000"/>
                        <a:lumOff val="80000"/>
                      </a:schemeClr>
                    </a:solidFill>
                  </a:tcPr>
                </a:tc>
                <a:tc>
                  <a:txBody>
                    <a:bodyPr/>
                    <a:lstStyle/>
                    <a:p>
                      <a:pPr algn="ctr"/>
                      <a:r>
                        <a:rPr lang="en-US" sz="1300" b="0" i="0" dirty="0">
                          <a:latin typeface="Helvetica" pitchFamily="2" charset="0"/>
                        </a:rPr>
                        <a:t>07/11/2025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10/11/2025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Soha need to put sincere efforts</a:t>
                      </a:r>
                    </a:p>
                  </a:txBody>
                  <a:tcPr>
                    <a:solidFill>
                      <a:schemeClr val="accent6">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3451082333"/>
                  </a:ext>
                </a:extLst>
              </a:tr>
              <a:tr h="828000">
                <a:tc>
                  <a:txBody>
                    <a:bodyPr/>
                    <a:lstStyle/>
                    <a:p>
                      <a:pPr algn="ctr"/>
                      <a:r>
                        <a:rPr lang="en-US" sz="1300" b="0" i="0" dirty="0">
                          <a:latin typeface="Helvetica" pitchFamily="2" charset="0"/>
                        </a:rPr>
                        <a:t>10.</a:t>
                      </a:r>
                    </a:p>
                  </a:txBody>
                  <a:tcPr>
                    <a:solidFill>
                      <a:schemeClr val="accent5">
                        <a:lumMod val="20000"/>
                        <a:lumOff val="80000"/>
                      </a:schemeClr>
                    </a:solidFill>
                  </a:tcPr>
                </a:tc>
                <a:tc>
                  <a:txBody>
                    <a:bodyPr/>
                    <a:lstStyle/>
                    <a:p>
                      <a:pPr algn="ctr"/>
                      <a:r>
                        <a:rPr lang="en-US" sz="1300" b="0" i="0" dirty="0">
                          <a:latin typeface="Helvetica" pitchFamily="2" charset="0"/>
                        </a:rPr>
                        <a:t>10/11/2025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12/11/2025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Update google docs regularly!</a:t>
                      </a:r>
                    </a:p>
                    <a:p>
                      <a:pPr marL="171450" indent="-171450">
                        <a:buFont typeface="Arial" panose="020B0604020202020204" pitchFamily="34" charset="0"/>
                        <a:buChar char="•"/>
                      </a:pPr>
                      <a:r>
                        <a:rPr lang="en-US" sz="1300" b="0" i="0" dirty="0">
                          <a:latin typeface="Helvetica" pitchFamily="2" charset="0"/>
                        </a:rPr>
                        <a:t>Needs to check the performance on a regular basis!</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1072130321"/>
                  </a:ext>
                </a:extLst>
              </a:tr>
              <a:tr h="828000">
                <a:tc>
                  <a:txBody>
                    <a:bodyPr/>
                    <a:lstStyle/>
                    <a:p>
                      <a:pPr algn="ctr"/>
                      <a:r>
                        <a:rPr lang="en-US" sz="1300" b="0" i="0" dirty="0">
                          <a:latin typeface="Helvetica" pitchFamily="2" charset="0"/>
                        </a:rPr>
                        <a:t>11.</a:t>
                      </a:r>
                    </a:p>
                  </a:txBody>
                  <a:tcPr>
                    <a:solidFill>
                      <a:schemeClr val="accent5">
                        <a:lumMod val="20000"/>
                        <a:lumOff val="80000"/>
                      </a:schemeClr>
                    </a:solidFill>
                  </a:tcPr>
                </a:tc>
                <a:tc>
                  <a:txBody>
                    <a:bodyPr/>
                    <a:lstStyle/>
                    <a:p>
                      <a:pPr algn="ctr"/>
                      <a:r>
                        <a:rPr lang="en-US" sz="1300" b="0" i="0" dirty="0">
                          <a:latin typeface="Helvetica" pitchFamily="2" charset="0"/>
                        </a:rPr>
                        <a:t>12/11/2025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15/11/2025</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latin typeface="Helvetica" pitchFamily="2" charset="0"/>
                      </a:endParaRP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Record/write everything(project report, google docs)</a:t>
                      </a:r>
                    </a:p>
                    <a:p>
                      <a:pPr marL="171450" indent="-171450">
                        <a:buFont typeface="Arial" panose="020B0604020202020204" pitchFamily="34" charset="0"/>
                        <a:buChar char="•"/>
                      </a:pPr>
                      <a:r>
                        <a:rPr lang="en-US" sz="1300" b="0" i="0" dirty="0">
                          <a:latin typeface="Helvetica" pitchFamily="2" charset="0"/>
                        </a:rPr>
                        <a:t>Note down execution time for every model</a:t>
                      </a:r>
                    </a:p>
                    <a:p>
                      <a:pPr marL="171450" indent="-171450">
                        <a:buFont typeface="Arial" panose="020B0604020202020204" pitchFamily="34" charset="0"/>
                        <a:buChar char="•"/>
                      </a:pPr>
                      <a:r>
                        <a:rPr lang="en-US" sz="1300" b="0" i="0" dirty="0">
                          <a:latin typeface="Helvetica" pitchFamily="2" charset="0"/>
                        </a:rPr>
                        <a:t>Neatly draw comparison b/w various models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300" b="0" i="0" dirty="0">
                        <a:latin typeface="Helvetica" pitchFamily="2" charset="0"/>
                      </a:endParaRP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2311027958"/>
                  </a:ext>
                </a:extLst>
              </a:tr>
            </a:tbl>
          </a:graphicData>
        </a:graphic>
      </p:graphicFrame>
    </p:spTree>
    <p:extLst>
      <p:ext uri="{BB962C8B-B14F-4D97-AF65-F5344CB8AC3E}">
        <p14:creationId xmlns:p14="http://schemas.microsoft.com/office/powerpoint/2010/main" val="1884040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44572-1CF0-2372-8A6E-04F2C262D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46038-625C-9F30-E005-52F0E4A00032}"/>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D4EF69AB-0EB2-83B9-9963-99AA25A30EC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BC3E18F9-AA85-1B1E-9B29-9972FA52F812}"/>
              </a:ext>
            </a:extLst>
          </p:cNvPr>
          <p:cNvGraphicFramePr>
            <a:graphicFrameLocks noGrp="1"/>
          </p:cNvGraphicFramePr>
          <p:nvPr>
            <p:extLst>
              <p:ext uri="{D42A27DB-BD31-4B8C-83A1-F6EECF244321}">
                <p14:modId xmlns:p14="http://schemas.microsoft.com/office/powerpoint/2010/main" val="1669553968"/>
              </p:ext>
            </p:extLst>
          </p:nvPr>
        </p:nvGraphicFramePr>
        <p:xfrm>
          <a:off x="110168" y="881350"/>
          <a:ext cx="8835528" cy="2991388"/>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12.</a:t>
                      </a:r>
                    </a:p>
                  </a:txBody>
                  <a:tcPr>
                    <a:solidFill>
                      <a:schemeClr val="accent5">
                        <a:lumMod val="20000"/>
                        <a:lumOff val="80000"/>
                      </a:schemeClr>
                    </a:solidFill>
                  </a:tcPr>
                </a:tc>
                <a:tc>
                  <a:txBody>
                    <a:bodyPr/>
                    <a:lstStyle/>
                    <a:p>
                      <a:pPr algn="ctr"/>
                      <a:r>
                        <a:rPr lang="en-US" sz="1300" b="0" i="0" dirty="0">
                          <a:latin typeface="Helvetica" pitchFamily="2" charset="0"/>
                        </a:rPr>
                        <a:t>15/11/2025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20/11/2025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Don’t copy &amp; paste code from </a:t>
                      </a:r>
                      <a:r>
                        <a:rPr lang="en-US" sz="1300" b="0" i="0" dirty="0" err="1">
                          <a:latin typeface="Helvetica" pitchFamily="2" charset="0"/>
                        </a:rPr>
                        <a:t>Chatgpt</a:t>
                      </a:r>
                      <a:r>
                        <a:rPr lang="en-US" sz="1300" b="0" i="0" dirty="0">
                          <a:latin typeface="Helvetica" pitchFamily="2" charset="0"/>
                        </a:rPr>
                        <a:t> without understanding each statement(Soha, Harshit, Divyam)</a:t>
                      </a:r>
                    </a:p>
                  </a:txBody>
                  <a:tcPr>
                    <a:solidFill>
                      <a:schemeClr val="accent5">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13.</a:t>
                      </a:r>
                    </a:p>
                  </a:txBody>
                  <a:tcPr>
                    <a:solidFill>
                      <a:schemeClr val="accent6">
                        <a:lumMod val="20000"/>
                        <a:lumOff val="80000"/>
                      </a:schemeClr>
                    </a:solidFill>
                  </a:tcPr>
                </a:tc>
                <a:tc>
                  <a:txBody>
                    <a:bodyPr/>
                    <a:lstStyle/>
                    <a:p>
                      <a:pPr algn="ctr"/>
                      <a:r>
                        <a:rPr lang="en-US" sz="1300" b="0" i="0" dirty="0">
                          <a:latin typeface="Helvetica" pitchFamily="2" charset="0"/>
                        </a:rPr>
                        <a:t>20/11/2025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21/11/2025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PR to be checked on Monday!</a:t>
                      </a:r>
                    </a:p>
                  </a:txBody>
                  <a:tcPr>
                    <a:solidFill>
                      <a:schemeClr val="accent6">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14.</a:t>
                      </a:r>
                    </a:p>
                  </a:txBody>
                  <a:tcPr>
                    <a:solidFill>
                      <a:schemeClr val="accent5">
                        <a:lumMod val="20000"/>
                        <a:lumOff val="80000"/>
                      </a:schemeClr>
                    </a:solidFill>
                  </a:tcPr>
                </a:tc>
                <a:tc>
                  <a:txBody>
                    <a:bodyPr/>
                    <a:lstStyle/>
                    <a:p>
                      <a:pPr algn="ctr"/>
                      <a:r>
                        <a:rPr lang="en-US" sz="1300" b="0" i="0" dirty="0">
                          <a:latin typeface="Helvetica" pitchFamily="2" charset="0"/>
                        </a:rPr>
                        <a:t>dd/mm/2025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dd/mm/2025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Remark 1</a:t>
                      </a:r>
                    </a:p>
                    <a:p>
                      <a:pPr marL="171450" indent="-171450">
                        <a:buFont typeface="Arial" panose="020B0604020202020204" pitchFamily="34" charset="0"/>
                        <a:buChar char="•"/>
                      </a:pPr>
                      <a:r>
                        <a:rPr lang="en-US" sz="1300" b="0" i="0" dirty="0">
                          <a:latin typeface="Helvetica" pitchFamily="2" charset="0"/>
                        </a:rPr>
                        <a:t>Remark 2</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Remark 3</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646395450"/>
                  </a:ext>
                </a:extLst>
              </a:tr>
            </a:tbl>
          </a:graphicData>
        </a:graphic>
      </p:graphicFrame>
    </p:spTree>
    <p:extLst>
      <p:ext uri="{BB962C8B-B14F-4D97-AF65-F5344CB8AC3E}">
        <p14:creationId xmlns:p14="http://schemas.microsoft.com/office/powerpoint/2010/main" val="4158006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3876-A327-89E8-5925-E417551A9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6DCD2-A236-23D9-E151-3D3D3A17C615}"/>
              </a:ext>
            </a:extLst>
          </p:cNvPr>
          <p:cNvSpPr>
            <a:spLocks noGrp="1"/>
          </p:cNvSpPr>
          <p:nvPr>
            <p:ph type="title"/>
          </p:nvPr>
        </p:nvSpPr>
        <p:spPr/>
        <p:txBody>
          <a:bodyPr/>
          <a:lstStyle/>
          <a:p>
            <a:r>
              <a:rPr lang="en-IN" sz="2400" dirty="0">
                <a:ea typeface="Palatino" pitchFamily="2" charset="77"/>
              </a:rPr>
              <a:t>Future Work</a:t>
            </a:r>
            <a:endParaRPr lang="en-US" dirty="0"/>
          </a:p>
        </p:txBody>
      </p:sp>
      <p:sp>
        <p:nvSpPr>
          <p:cNvPr id="4" name="Content Placeholder 2">
            <a:extLst>
              <a:ext uri="{FF2B5EF4-FFF2-40B4-BE49-F238E27FC236}">
                <a16:creationId xmlns:a16="http://schemas.microsoft.com/office/drawing/2014/main" id="{7660EB7E-41FA-08CF-E919-AE860B61B137}"/>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US" b="1" dirty="0">
                <a:ea typeface="Palatino" pitchFamily="2" charset="77"/>
              </a:rPr>
              <a:t>Adding image-based detection using Vision Transformer (</a:t>
            </a:r>
            <a:r>
              <a:rPr lang="en-US" b="1" dirty="0" err="1">
                <a:ea typeface="Palatino" pitchFamily="2" charset="77"/>
              </a:rPr>
              <a:t>ViT</a:t>
            </a:r>
            <a:r>
              <a:rPr lang="en-US" b="1" dirty="0">
                <a:ea typeface="Palatino" pitchFamily="2" charset="77"/>
              </a:rPr>
              <a:t>) or </a:t>
            </a:r>
            <a:r>
              <a:rPr lang="en-US" b="1" dirty="0" err="1">
                <a:ea typeface="Palatino" pitchFamily="2" charset="77"/>
              </a:rPr>
              <a:t>EfficientNet</a:t>
            </a:r>
            <a:r>
              <a:rPr lang="en-US" b="1" dirty="0">
                <a:ea typeface="Palatino" pitchFamily="2" charset="77"/>
              </a:rPr>
              <a:t> models: </a:t>
            </a:r>
            <a:r>
              <a:rPr lang="en-US" dirty="0">
                <a:ea typeface="Palatino" pitchFamily="2" charset="77"/>
              </a:rPr>
              <a:t>This can help the system catch fake news that contains edited or misleading images. Models like </a:t>
            </a:r>
            <a:r>
              <a:rPr lang="en-US" dirty="0" err="1">
                <a:ea typeface="Palatino" pitchFamily="2" charset="77"/>
              </a:rPr>
              <a:t>ViT</a:t>
            </a:r>
            <a:r>
              <a:rPr lang="en-US" dirty="0">
                <a:ea typeface="Palatino" pitchFamily="2" charset="77"/>
              </a:rPr>
              <a:t> or </a:t>
            </a:r>
            <a:r>
              <a:rPr lang="en-US" dirty="0" err="1">
                <a:ea typeface="Palatino" pitchFamily="2" charset="77"/>
              </a:rPr>
              <a:t>EfficientNet</a:t>
            </a:r>
            <a:r>
              <a:rPr lang="en-US" dirty="0">
                <a:ea typeface="Palatino" pitchFamily="2" charset="77"/>
              </a:rPr>
              <a:t> B4 can understand visual patterns that the text model cannot see.</a:t>
            </a:r>
          </a:p>
          <a:p>
            <a:pPr marL="357188" indent="-261938"/>
            <a:r>
              <a:rPr lang="en-US" b="1" dirty="0">
                <a:ea typeface="Palatino" pitchFamily="2" charset="77"/>
              </a:rPr>
              <a:t>Building a multi modal fusion model: </a:t>
            </a:r>
            <a:r>
              <a:rPr lang="en-US" dirty="0">
                <a:ea typeface="Palatino" pitchFamily="2" charset="77"/>
              </a:rPr>
              <a:t>A fusion model that mixes text, images, and metadata can provide a more complete view of the content. This usually helps the classifier keep stronger and more accurate.</a:t>
            </a:r>
          </a:p>
          <a:p>
            <a:pPr marL="357188" indent="-261938"/>
            <a:r>
              <a:rPr lang="en-US" b="1" dirty="0">
                <a:ea typeface="Palatino" pitchFamily="2" charset="77"/>
              </a:rPr>
              <a:t>Deploying the final system using Flask: </a:t>
            </a:r>
            <a:r>
              <a:rPr lang="en-US" dirty="0">
                <a:ea typeface="Palatino" pitchFamily="2" charset="77"/>
              </a:rPr>
              <a:t>The model can be turned into a simple web application so users can test it in real time. Deployment also helps check how the system performs on new and unseen data.</a:t>
            </a:r>
            <a:endParaRPr lang="en-IN" sz="1800" dirty="0">
              <a:ea typeface="Palatino" pitchFamily="2" charset="77"/>
            </a:endParaRPr>
          </a:p>
        </p:txBody>
      </p:sp>
    </p:spTree>
    <p:extLst>
      <p:ext uri="{BB962C8B-B14F-4D97-AF65-F5344CB8AC3E}">
        <p14:creationId xmlns:p14="http://schemas.microsoft.com/office/powerpoint/2010/main" val="3116760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Plan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800" dirty="0">
              <a:ea typeface="Palatino" pitchFamily="2" charset="77"/>
            </a:endParaRPr>
          </a:p>
        </p:txBody>
      </p:sp>
      <p:pic>
        <p:nvPicPr>
          <p:cNvPr id="10" name="Picture 9">
            <a:extLst>
              <a:ext uri="{FF2B5EF4-FFF2-40B4-BE49-F238E27FC236}">
                <a16:creationId xmlns:a16="http://schemas.microsoft.com/office/drawing/2014/main" id="{68F07B88-EB2E-4AEC-6F55-1E601DE15ABB}"/>
              </a:ext>
            </a:extLst>
          </p:cNvPr>
          <p:cNvPicPr>
            <a:picLocks noChangeAspect="1"/>
          </p:cNvPicPr>
          <p:nvPr/>
        </p:nvPicPr>
        <p:blipFill>
          <a:blip r:embed="rId2"/>
          <a:srcRect l="1751" t="3764" r="1917" b="2605"/>
          <a:stretch>
            <a:fillRect/>
          </a:stretch>
        </p:blipFill>
        <p:spPr>
          <a:xfrm>
            <a:off x="219456" y="1179576"/>
            <a:ext cx="8677656" cy="4434840"/>
          </a:xfrm>
          <a:prstGeom prst="rect">
            <a:avLst/>
          </a:prstGeom>
        </p:spPr>
      </p:pic>
    </p:spTree>
    <p:extLst>
      <p:ext uri="{BB962C8B-B14F-4D97-AF65-F5344CB8AC3E}">
        <p14:creationId xmlns:p14="http://schemas.microsoft.com/office/powerpoint/2010/main" val="3318162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1F48E-8043-E578-D0A1-B6FB3E7E0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6F785-4A7B-DAE7-64CC-0F22711E96FB}"/>
              </a:ext>
            </a:extLst>
          </p:cNvPr>
          <p:cNvSpPr>
            <a:spLocks noGrp="1"/>
          </p:cNvSpPr>
          <p:nvPr>
            <p:ph type="title"/>
          </p:nvPr>
        </p:nvSpPr>
        <p:spPr/>
        <p:txBody>
          <a:bodyPr/>
          <a:lstStyle/>
          <a:p>
            <a:r>
              <a:rPr lang="en-IN" sz="2400" dirty="0">
                <a:ea typeface="Palatino" pitchFamily="2" charset="77"/>
              </a:rPr>
              <a:t>References</a:t>
            </a:r>
            <a:endParaRPr lang="en-US" dirty="0"/>
          </a:p>
        </p:txBody>
      </p:sp>
      <p:sp>
        <p:nvSpPr>
          <p:cNvPr id="4" name="Content Placeholder 2">
            <a:extLst>
              <a:ext uri="{FF2B5EF4-FFF2-40B4-BE49-F238E27FC236}">
                <a16:creationId xmlns:a16="http://schemas.microsoft.com/office/drawing/2014/main" id="{079A5B7E-E983-70CE-1C2B-1CFEE5B0FAD3}"/>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468000" indent="-468000">
              <a:spcBef>
                <a:spcPts val="546"/>
              </a:spcBef>
              <a:buNone/>
            </a:pPr>
            <a:r>
              <a:rPr lang="en-IN" sz="1400" dirty="0"/>
              <a:t>[1]	D. K. Sharma and S. Garg, “IFND: a benchmark dataset for fake news detection,” Complex &amp; Intelligent       Systems, 2023.</a:t>
            </a:r>
          </a:p>
          <a:p>
            <a:pPr marL="468000" indent="-468000">
              <a:spcBef>
                <a:spcPts val="546"/>
              </a:spcBef>
              <a:buNone/>
            </a:pPr>
            <a:r>
              <a:rPr lang="en-IN" sz="1400" dirty="0"/>
              <a:t>[2] 	W. Y. Wang, “Liar, Liar Pants on Fire: A New Benchmark Dataset for Fake News Detection,” ACL Workshop, 2017.</a:t>
            </a:r>
          </a:p>
          <a:p>
            <a:pPr marL="468000" indent="-468000">
              <a:spcBef>
                <a:spcPts val="546"/>
              </a:spcBef>
              <a:buNone/>
            </a:pPr>
            <a:r>
              <a:rPr lang="en-IN" sz="1400" dirty="0"/>
              <a:t>[3]	S. Shah and S. Patel, “A Comprehensive Survey of Fake News Detection Techniques,” Journal of Computer Science, vol. 21, no. 4, pp. 982–990, 2025.</a:t>
            </a:r>
          </a:p>
          <a:p>
            <a:pPr marL="468000" indent="-468000">
              <a:spcBef>
                <a:spcPts val="546"/>
              </a:spcBef>
              <a:buNone/>
            </a:pPr>
            <a:r>
              <a:rPr lang="en-IN" sz="1400" dirty="0"/>
              <a:t>[4] 	W. Y. Wang, “Liar, Liar Pants on Fire: A New Benchmark Dataset for Fake News Detection,” Proceedings of the 55th Annual Meeting of the Association for Computational Linguistics, pp. 423–428, 2017.</a:t>
            </a:r>
          </a:p>
          <a:p>
            <a:pPr marL="468000" indent="-468000">
              <a:spcBef>
                <a:spcPts val="546"/>
              </a:spcBef>
              <a:buNone/>
            </a:pPr>
            <a:r>
              <a:rPr lang="en-IN" sz="1400" dirty="0"/>
              <a:t>[5]	A. Rossler, D. Cozzolino, L. </a:t>
            </a:r>
            <a:r>
              <a:rPr lang="en-IN" sz="1400" dirty="0" err="1"/>
              <a:t>Verdoliva</a:t>
            </a:r>
            <a:r>
              <a:rPr lang="en-IN" sz="1400" dirty="0"/>
              <a:t>, C. Riess, J. Thies, and M. </a:t>
            </a:r>
            <a:r>
              <a:rPr lang="en-IN" sz="1400" dirty="0" err="1"/>
              <a:t>NieBner</a:t>
            </a:r>
            <a:r>
              <a:rPr lang="en-IN" sz="1400" dirty="0"/>
              <a:t>, “</a:t>
            </a:r>
            <a:r>
              <a:rPr lang="en-IN" sz="1400" dirty="0" err="1"/>
              <a:t>FaceForensics</a:t>
            </a:r>
            <a:r>
              <a:rPr lang="en-IN" sz="1400" dirty="0"/>
              <a:t>++: Learning to Detect Manipulated Facial Images,” IEEE/CVF International Conference on Computer Vision (ICCV), pp. 1–11, 2019.</a:t>
            </a:r>
          </a:p>
          <a:p>
            <a:pPr marL="468000" indent="-468000">
              <a:spcBef>
                <a:spcPts val="546"/>
              </a:spcBef>
              <a:buNone/>
            </a:pPr>
            <a:r>
              <a:rPr lang="en-IN" sz="1400" dirty="0"/>
              <a:t>[6]	M. Zidan, A. Sleem, A. Nabil, and M. Othman, “Multimodal Fake News Detection: A Survey of Text and Visual Content Integration Methods,” International Journal of Computers and Informatics, vol. 7, pp. 13–25, 2025.</a:t>
            </a:r>
          </a:p>
          <a:p>
            <a:pPr marL="468000" indent="-468000">
              <a:spcBef>
                <a:spcPts val="546"/>
              </a:spcBef>
              <a:buNone/>
            </a:pPr>
            <a:r>
              <a:rPr lang="en-IN" sz="1400" dirty="0"/>
              <a:t>[7]	Q. Jiang, S. Liu, S. Miao, H. Yi, X. Jin, Y. Kou, and H. Duan, “RMLD-HFTF: A Hybrid Multimodal Deep Learning Framework for Face Forgery Detection,” Discover Computing, vol. 28, no. 10, pp. 1–14, 2025.</a:t>
            </a:r>
          </a:p>
          <a:p>
            <a:pPr marL="95250" indent="0">
              <a:buNone/>
            </a:pPr>
            <a:endParaRPr lang="en-IN" sz="1400" dirty="0"/>
          </a:p>
        </p:txBody>
      </p:sp>
    </p:spTree>
    <p:extLst>
      <p:ext uri="{BB962C8B-B14F-4D97-AF65-F5344CB8AC3E}">
        <p14:creationId xmlns:p14="http://schemas.microsoft.com/office/powerpoint/2010/main" val="43315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0791-3F4D-C8EA-6632-B1C3EC8E3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7DADB-37A7-3298-E4FE-623C45115032}"/>
              </a:ext>
            </a:extLst>
          </p:cNvPr>
          <p:cNvSpPr>
            <a:spLocks noGrp="1"/>
          </p:cNvSpPr>
          <p:nvPr>
            <p:ph type="title"/>
          </p:nvPr>
        </p:nvSpPr>
        <p:spPr/>
        <p:txBody>
          <a:bodyPr/>
          <a:lstStyle/>
          <a:p>
            <a:r>
              <a:rPr lang="en-IN" sz="2400" dirty="0">
                <a:ea typeface="Palatino" pitchFamily="2" charset="77"/>
              </a:rPr>
              <a:t>References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dirty="0"/>
          </a:p>
        </p:txBody>
      </p:sp>
      <p:sp>
        <p:nvSpPr>
          <p:cNvPr id="4" name="Content Placeholder 2">
            <a:extLst>
              <a:ext uri="{FF2B5EF4-FFF2-40B4-BE49-F238E27FC236}">
                <a16:creationId xmlns:a16="http://schemas.microsoft.com/office/drawing/2014/main" id="{FE0A155F-E9D3-CE9B-ED58-F6066AA93EA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468000" indent="-468000">
              <a:spcBef>
                <a:spcPts val="546"/>
              </a:spcBef>
              <a:buNone/>
            </a:pPr>
            <a:r>
              <a:rPr lang="en-IN" sz="1400" dirty="0"/>
              <a:t>[8]	M. F. </a:t>
            </a:r>
            <a:r>
              <a:rPr lang="en-IN" sz="1400" dirty="0" err="1"/>
              <a:t>Mridha</a:t>
            </a:r>
            <a:r>
              <a:rPr lang="en-IN" sz="1400" dirty="0"/>
              <a:t>, A. J. Keya, M. A. Hamid, M. M. </a:t>
            </a:r>
            <a:r>
              <a:rPr lang="en-IN" sz="1400" dirty="0" err="1"/>
              <a:t>Monowar</a:t>
            </a:r>
            <a:r>
              <a:rPr lang="en-IN" sz="1400" dirty="0"/>
              <a:t>, and M. S. Rahman, “A Comprehensive Review on Fake News Detection With Deep Learning,” IEEE Access, vol. 9, pp. 156749–156772, 2021, </a:t>
            </a:r>
            <a:r>
              <a:rPr lang="en-IN" sz="1400" dirty="0" err="1"/>
              <a:t>doi</a:t>
            </a:r>
            <a:r>
              <a:rPr lang="en-IN" sz="1400" dirty="0"/>
              <a:t>: 10.1109/ACCESS.2021.3129329.</a:t>
            </a:r>
          </a:p>
          <a:p>
            <a:pPr marL="468000" indent="-468000">
              <a:spcBef>
                <a:spcPts val="546"/>
              </a:spcBef>
              <a:buNone/>
            </a:pPr>
            <a:r>
              <a:rPr lang="en-IN" sz="1400" dirty="0"/>
              <a:t>[9]	</a:t>
            </a:r>
            <a:r>
              <a:rPr lang="en-US" sz="1400" dirty="0"/>
              <a:t>C.-M. Rosca, A. Stancu, and E. M. </a:t>
            </a:r>
            <a:r>
              <a:rPr lang="en-US" sz="1400" dirty="0" err="1"/>
              <a:t>Iovanovici</a:t>
            </a:r>
            <a:r>
              <a:rPr lang="en-US" sz="1400" dirty="0"/>
              <a:t>, “The New Paradigm of Deepfake Detection at the Text Level,” Appl. Sci., vol. 15, art. 2560, Feb. 27, 2025, </a:t>
            </a:r>
            <a:r>
              <a:rPr lang="en-US" sz="1400" dirty="0" err="1"/>
              <a:t>doi</a:t>
            </a:r>
            <a:r>
              <a:rPr lang="en-US" sz="1400" dirty="0"/>
              <a:t>: 10.3390/app15052560. </a:t>
            </a:r>
            <a:endParaRPr lang="en-IN" sz="1400" dirty="0"/>
          </a:p>
          <a:p>
            <a:pPr marL="468000" indent="-468000">
              <a:spcBef>
                <a:spcPts val="546"/>
              </a:spcBef>
              <a:buNone/>
            </a:pPr>
            <a:r>
              <a:rPr lang="en-IN" sz="1400" dirty="0"/>
              <a:t>[10</a:t>
            </a:r>
            <a:r>
              <a:rPr lang="en-US" sz="1400" dirty="0"/>
              <a:t>]	A. Heidari, N. J. </a:t>
            </a:r>
            <a:r>
              <a:rPr lang="en-US" sz="1400" dirty="0" err="1"/>
              <a:t>Navimipour</a:t>
            </a:r>
            <a:r>
              <a:rPr lang="en-US" sz="1400" dirty="0"/>
              <a:t>, H. Dag, and M. Unal, “Deepfake detection using deep learning methods: A systematic and comprehensive review,” WIREs Data Mining and Knowledge Discovery, vol. 14, no. 2, Feb. 2024, Art. no. e1520. </a:t>
            </a:r>
            <a:endParaRPr lang="en-IN" sz="1400" dirty="0"/>
          </a:p>
          <a:p>
            <a:pPr marL="468000" indent="-468000">
              <a:spcBef>
                <a:spcPts val="546"/>
              </a:spcBef>
              <a:buNone/>
            </a:pPr>
            <a:r>
              <a:rPr lang="en-US" sz="1400" dirty="0"/>
              <a:t>[11]	N. Shakya and P. Poudyal, "Detection of Fake News Using Deep Neural Networks," Kathmandu University Journal of Science, Engineering and Technology, vol. 16, no. 2, pp. 110–119, 2022.</a:t>
            </a:r>
          </a:p>
          <a:p>
            <a:pPr marL="468000" indent="-468000">
              <a:spcBef>
                <a:spcPts val="546"/>
              </a:spcBef>
              <a:buNone/>
            </a:pPr>
            <a:r>
              <a:rPr lang="en-US" sz="1400" dirty="0"/>
              <a:t>[12]	R. </a:t>
            </a:r>
            <a:r>
              <a:rPr lang="en-US" sz="1400" dirty="0" err="1"/>
              <a:t>Tolosana</a:t>
            </a:r>
            <a:r>
              <a:rPr lang="en-US" sz="1400" dirty="0"/>
              <a:t>, R. Vera-Rodriguez, J. </a:t>
            </a:r>
            <a:r>
              <a:rPr lang="en-US" sz="1400" dirty="0" err="1"/>
              <a:t>Fierrez</a:t>
            </a:r>
            <a:r>
              <a:rPr lang="en-US" sz="1400" dirty="0"/>
              <a:t>, A. Morales, and J. Ortega-Garcia, "</a:t>
            </a:r>
            <a:r>
              <a:rPr lang="en-US" sz="1400" dirty="0" err="1"/>
              <a:t>DeepFakes</a:t>
            </a:r>
            <a:r>
              <a:rPr lang="en-US" sz="1400" dirty="0"/>
              <a:t> and Beyond: A Survey of Face Manipulation and Fake Detection," Information Fusion (Elsevier), 2020.</a:t>
            </a:r>
          </a:p>
          <a:p>
            <a:pPr marL="468000" indent="-468000">
              <a:spcBef>
                <a:spcPts val="546"/>
              </a:spcBef>
              <a:buNone/>
            </a:pPr>
            <a:r>
              <a:rPr lang="en-IN" sz="1400" dirty="0"/>
              <a:t>[13]	Z. He, et al., "</a:t>
            </a:r>
            <a:r>
              <a:rPr lang="en-IN" sz="1400" dirty="0" err="1"/>
              <a:t>GazeForensics</a:t>
            </a:r>
            <a:r>
              <a:rPr lang="en-IN" sz="1400" dirty="0"/>
              <a:t>: </a:t>
            </a:r>
            <a:r>
              <a:rPr lang="en-IN" sz="1400" dirty="0" err="1"/>
              <a:t>DeepFake</a:t>
            </a:r>
            <a:r>
              <a:rPr lang="en-IN" sz="1400" dirty="0"/>
              <a:t> Detection via Gaze-guided Spatial Inconsistency Learning," </a:t>
            </a:r>
            <a:r>
              <a:rPr lang="en-IN" sz="1400" dirty="0" err="1"/>
              <a:t>arXiv</a:t>
            </a:r>
            <a:r>
              <a:rPr lang="en-IN" sz="1400" dirty="0"/>
              <a:t> preprint, 2023.</a:t>
            </a:r>
          </a:p>
          <a:p>
            <a:pPr marL="468000" indent="-468000">
              <a:spcBef>
                <a:spcPts val="546"/>
              </a:spcBef>
              <a:buNone/>
            </a:pPr>
            <a:r>
              <a:rPr lang="en-IN" sz="1400" dirty="0"/>
              <a:t>[14]	B. </a:t>
            </a:r>
            <a:r>
              <a:rPr lang="en-IN" sz="1400" dirty="0" err="1"/>
              <a:t>Dolhansky</a:t>
            </a:r>
            <a:r>
              <a:rPr lang="en-IN" sz="1400" dirty="0"/>
              <a:t>, J. Bitton, B. Pflaum, J. Lu, R. Howes, M. Wang, and C. C. Ferrer, "The </a:t>
            </a:r>
            <a:r>
              <a:rPr lang="en-IN" sz="1400" dirty="0" err="1"/>
              <a:t>DeepFake</a:t>
            </a:r>
            <a:r>
              <a:rPr lang="en-IN" sz="1400" dirty="0"/>
              <a:t> Detection Challenge (DFDC) Dataset," </a:t>
            </a:r>
            <a:r>
              <a:rPr lang="en-IN" sz="1400" dirty="0" err="1"/>
              <a:t>arXiv</a:t>
            </a:r>
            <a:r>
              <a:rPr lang="en-IN" sz="1400" dirty="0"/>
              <a:t> preprint arXiv:2006.07397, 2020.</a:t>
            </a:r>
          </a:p>
          <a:p>
            <a:pPr marL="95250" indent="0">
              <a:buNone/>
            </a:pPr>
            <a:endParaRPr lang="en-IN" sz="1400" dirty="0"/>
          </a:p>
        </p:txBody>
      </p:sp>
    </p:spTree>
    <p:extLst>
      <p:ext uri="{BB962C8B-B14F-4D97-AF65-F5344CB8AC3E}">
        <p14:creationId xmlns:p14="http://schemas.microsoft.com/office/powerpoint/2010/main" val="2165737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3511-0F7F-F11A-25AC-F90AE212A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B333C-88E2-E923-F098-307CB8E1AC83}"/>
              </a:ext>
            </a:extLst>
          </p:cNvPr>
          <p:cNvSpPr>
            <a:spLocks noGrp="1"/>
          </p:cNvSpPr>
          <p:nvPr>
            <p:ph type="title"/>
          </p:nvPr>
        </p:nvSpPr>
        <p:spPr/>
        <p:txBody>
          <a:bodyPr/>
          <a:lstStyle/>
          <a:p>
            <a:r>
              <a:rPr lang="en-IN" dirty="0">
                <a:ea typeface="Palatino" pitchFamily="2" charset="77"/>
              </a:rPr>
              <a:t>References </a:t>
            </a:r>
            <a:r>
              <a:rPr lang="en-IN" b="0" dirty="0">
                <a:ea typeface="Palatino" pitchFamily="2" charset="77"/>
              </a:rPr>
              <a:t>(</a:t>
            </a:r>
            <a:r>
              <a:rPr lang="en-IN" b="0" dirty="0" err="1">
                <a:ea typeface="Palatino" pitchFamily="2" charset="77"/>
              </a:rPr>
              <a:t>cont</a:t>
            </a:r>
            <a:r>
              <a:rPr lang="en-IN"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5FB6A98A-54DB-CAAD-5BF0-E5E011F8BBD9}"/>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468000" indent="-468000">
              <a:spcBef>
                <a:spcPts val="546"/>
              </a:spcBef>
              <a:buNone/>
            </a:pPr>
            <a:r>
              <a:rPr lang="en-US" sz="1400" dirty="0"/>
              <a:t>[15]	5. B. B. Gupta, S. Kumar, Shubham, and A. Jaiswal, "Deep Fake: An Overview," in (SITET-2020), 2021.</a:t>
            </a:r>
          </a:p>
          <a:p>
            <a:pPr marL="468000" indent="-468000">
              <a:spcBef>
                <a:spcPts val="546"/>
              </a:spcBef>
              <a:buNone/>
            </a:pPr>
            <a:r>
              <a:rPr lang="en-US" sz="1400" dirty="0"/>
              <a:t>[16]	M. Westerlund, "The Emergence of Deepfake Technology: A Review," Technology Innovation Management Review, vol. 9, no. 11, pp. 39–52, Nov. 2019. </a:t>
            </a:r>
          </a:p>
          <a:p>
            <a:pPr marL="468000" indent="-468000">
              <a:spcBef>
                <a:spcPts val="546"/>
              </a:spcBef>
              <a:buNone/>
            </a:pPr>
            <a:r>
              <a:rPr lang="en-US" sz="1400" dirty="0"/>
              <a:t>[17]	</a:t>
            </a:r>
            <a:r>
              <a:rPr lang="en-IN" sz="1400" dirty="0"/>
              <a:t>S. Singhal, R. R. Shah, T. Chakraborty, P. Kumaraguru, and S. Satoh, "</a:t>
            </a:r>
            <a:r>
              <a:rPr lang="en-IN" sz="1400" dirty="0" err="1"/>
              <a:t>SpotFake</a:t>
            </a:r>
            <a:r>
              <a:rPr lang="en-IN" sz="1400" dirty="0"/>
              <a:t>: A Multi-modal Framework for Fake News Detection," in Proc. IEEE Int. Conf. Multimedia Big Data (</a:t>
            </a:r>
            <a:r>
              <a:rPr lang="en-IN" sz="1400" dirty="0" err="1"/>
              <a:t>BigMM</a:t>
            </a:r>
            <a:r>
              <a:rPr lang="en-IN" sz="1400" dirty="0"/>
              <a:t>), 2019. </a:t>
            </a:r>
            <a:endParaRPr lang="en-US" sz="1400" dirty="0"/>
          </a:p>
          <a:p>
            <a:pPr marL="468000" indent="-468000">
              <a:spcBef>
                <a:spcPts val="546"/>
              </a:spcBef>
              <a:buNone/>
            </a:pPr>
            <a:r>
              <a:rPr lang="en-US" sz="1400" dirty="0"/>
              <a:t>[18]	R. K. Das, "Fake News Detection After LLM Laundering: Measurement and Explanation," </a:t>
            </a:r>
            <a:r>
              <a:rPr lang="en-US" sz="1400" dirty="0" err="1"/>
              <a:t>arXiv</a:t>
            </a:r>
            <a:r>
              <a:rPr lang="en-US" sz="1400" dirty="0"/>
              <a:t> preprint arXiv:2501.18649, 2025. </a:t>
            </a:r>
          </a:p>
          <a:p>
            <a:pPr marL="468000" indent="-468000">
              <a:spcBef>
                <a:spcPts val="546"/>
              </a:spcBef>
              <a:buNone/>
            </a:pPr>
            <a:r>
              <a:rPr lang="en-US" sz="1400" dirty="0"/>
              <a:t>[19]	F. Siddiqui, J. Yang, S. Xiao, and M. Fahad, "Enhanced deepfake detection with </a:t>
            </a:r>
            <a:r>
              <a:rPr lang="en-US" sz="1400" dirty="0" err="1"/>
              <a:t>DenseNet</a:t>
            </a:r>
            <a:r>
              <a:rPr lang="en-US" sz="1400" dirty="0"/>
              <a:t> and Cross-</a:t>
            </a:r>
            <a:r>
              <a:rPr lang="en-US" sz="1400" dirty="0" err="1"/>
              <a:t>ViT</a:t>
            </a:r>
            <a:r>
              <a:rPr lang="en-US" sz="1400" dirty="0"/>
              <a:t>," Expert Systems With Applications, vol. 267, p. 126150, 2025. </a:t>
            </a:r>
          </a:p>
          <a:p>
            <a:pPr marL="468000" indent="-468000">
              <a:spcBef>
                <a:spcPts val="546"/>
              </a:spcBef>
              <a:buNone/>
            </a:pPr>
            <a:r>
              <a:rPr lang="en-US" sz="1400" dirty="0"/>
              <a:t>[20]	</a:t>
            </a:r>
            <a:r>
              <a:rPr lang="en-IN" sz="1400" dirty="0"/>
              <a:t>R. </a:t>
            </a:r>
            <a:r>
              <a:rPr lang="en-IN" sz="1400" dirty="0" err="1"/>
              <a:t>Tolosana</a:t>
            </a:r>
            <a:r>
              <a:rPr lang="en-IN" sz="1400" dirty="0"/>
              <a:t>, R. Vera-Rodriguez, J. </a:t>
            </a:r>
            <a:r>
              <a:rPr lang="en-IN" sz="1400" dirty="0" err="1"/>
              <a:t>Fierrez</a:t>
            </a:r>
            <a:r>
              <a:rPr lang="en-IN" sz="1400" dirty="0"/>
              <a:t>, A. Morales, and J. Ortega-Garcia, "</a:t>
            </a:r>
            <a:r>
              <a:rPr lang="en-IN" sz="1400" dirty="0" err="1"/>
              <a:t>DeepFakes</a:t>
            </a:r>
            <a:r>
              <a:rPr lang="en-IN" sz="1400" dirty="0"/>
              <a:t> and Beyond: A Survey of Face Manipulation and Fake Detection," </a:t>
            </a:r>
            <a:r>
              <a:rPr lang="en-IN" sz="1400" dirty="0" err="1"/>
              <a:t>arXiv</a:t>
            </a:r>
            <a:r>
              <a:rPr lang="en-IN" sz="1400" dirty="0"/>
              <a:t> preprint arXiv:2001.00179, 2020. </a:t>
            </a:r>
          </a:p>
          <a:p>
            <a:pPr marL="468000" indent="-468000">
              <a:spcBef>
                <a:spcPts val="546"/>
              </a:spcBef>
              <a:buNone/>
            </a:pPr>
            <a:r>
              <a:rPr lang="en-US" sz="1400" dirty="0"/>
              <a:t>[21]	diagrams.net, "diagrams.net – Free Online Diagram Software," diagrams.net, 2025. [Online].</a:t>
            </a:r>
          </a:p>
          <a:p>
            <a:pPr marL="468000" indent="-468000">
              <a:spcBef>
                <a:spcPts val="546"/>
              </a:spcBef>
              <a:buNone/>
            </a:pPr>
            <a:r>
              <a:rPr lang="en-US" sz="1400" dirty="0"/>
              <a:t>[22]	“</a:t>
            </a:r>
            <a:r>
              <a:rPr lang="en-US" sz="1400" dirty="0" err="1"/>
              <a:t>DeepFake</a:t>
            </a:r>
            <a:r>
              <a:rPr lang="en-US" sz="1400" dirty="0"/>
              <a:t> Detection Using Deep Learning | IEEE Based Project 2024,” </a:t>
            </a:r>
            <a:r>
              <a:rPr lang="en-US" sz="1400" i="1" dirty="0"/>
              <a:t>YouTube</a:t>
            </a:r>
            <a:r>
              <a:rPr lang="en-US" sz="1400" dirty="0"/>
              <a:t>, published last year.</a:t>
            </a:r>
          </a:p>
          <a:p>
            <a:pPr marL="468000" indent="-468000">
              <a:spcBef>
                <a:spcPts val="546"/>
              </a:spcBef>
              <a:buNone/>
            </a:pPr>
            <a:r>
              <a:rPr lang="en-US" sz="1400" dirty="0"/>
              <a:t>[23]	P. Agarwal, “Fake News Detection: An Investigation based on ML” </a:t>
            </a:r>
            <a:r>
              <a:rPr lang="en-US" sz="1400" i="1" dirty="0"/>
              <a:t>ACM / IEEE-style conference</a:t>
            </a:r>
            <a:r>
              <a:rPr lang="en-US" sz="1400" dirty="0"/>
              <a:t>, 2022.</a:t>
            </a:r>
          </a:p>
          <a:p>
            <a:pPr marL="468000" indent="-468000">
              <a:spcBef>
                <a:spcPts val="546"/>
              </a:spcBef>
              <a:buNone/>
            </a:pPr>
            <a:r>
              <a:rPr lang="en-US" sz="1400" dirty="0"/>
              <a:t>[24]	“Deepfake Image Detection | Fake Image Detection | Using Deep Learning,” </a:t>
            </a:r>
            <a:r>
              <a:rPr lang="en-US" sz="1400" i="1" dirty="0"/>
              <a:t>YouTube</a:t>
            </a:r>
            <a:r>
              <a:rPr lang="en-US" sz="1400" dirty="0"/>
              <a:t>, Dec. 21, 2024. </a:t>
            </a:r>
          </a:p>
          <a:p>
            <a:pPr marL="95250" indent="0">
              <a:buNone/>
            </a:pPr>
            <a:endParaRPr lang="en-US" sz="1400" dirty="0"/>
          </a:p>
          <a:p>
            <a:pPr marL="357188" indent="-261938"/>
            <a:endParaRPr lang="en-IN" dirty="0"/>
          </a:p>
        </p:txBody>
      </p:sp>
    </p:spTree>
    <p:extLst>
      <p:ext uri="{BB962C8B-B14F-4D97-AF65-F5344CB8AC3E}">
        <p14:creationId xmlns:p14="http://schemas.microsoft.com/office/powerpoint/2010/main" val="4203847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960125"/>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ctr">
              <a:lnSpc>
                <a:spcPct val="150000"/>
              </a:lnSpc>
              <a:buNone/>
            </a:pPr>
            <a:endParaRPr lang="en-IN" sz="2000" b="1" dirty="0">
              <a:ea typeface="Palatino" pitchFamily="2" charset="77"/>
            </a:endParaRPr>
          </a:p>
          <a:p>
            <a:pPr marL="95250" indent="0" algn="ctr">
              <a:lnSpc>
                <a:spcPct val="150000"/>
              </a:lnSpc>
              <a:buNone/>
            </a:pPr>
            <a:r>
              <a:rPr lang="en-IN" sz="2000" b="1" dirty="0">
                <a:ea typeface="Palatino" pitchFamily="2" charset="77"/>
              </a:rPr>
              <a:t>Thanks</a:t>
            </a:r>
            <a:r>
              <a:rPr lang="en-IN" sz="1400" dirty="0">
                <a:ea typeface="Palatino" pitchFamily="2" charset="77"/>
              </a:rPr>
              <a:t>.</a:t>
            </a:r>
          </a:p>
        </p:txBody>
      </p:sp>
      <p:pic>
        <p:nvPicPr>
          <p:cNvPr id="1034" name="Picture 10" descr="🙏">
            <a:extLst>
              <a:ext uri="{FF2B5EF4-FFF2-40B4-BE49-F238E27FC236}">
                <a16:creationId xmlns:a16="http://schemas.microsoft.com/office/drawing/2014/main" id="{75E1F11E-915E-CA0A-3D1E-80341D39E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9164" y="2663328"/>
            <a:ext cx="765672" cy="76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028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316&quot;&gt;&lt;object type=&quot;3&quot; unique_id=&quot;10317&quot;&gt;&lt;property id=&quot;20148&quot; value=&quot;5&quot;/&gt;&lt;property id=&quot;20300&quot; value=&quot;Slide 1 - &amp;quot;A Novel Framework for Analysis of Big Data&amp;quot;&quot;/&gt;&lt;property id=&quot;20307&quot; value=&quot;325&quot;/&gt;&lt;/object&gt;&lt;object type=&quot;3&quot; unique_id=&quot;10325&quot;&gt;&lt;property id=&quot;20148&quot; value=&quot;5&quot;/&gt;&lt;property id=&quot;20300&quot; value=&quot;Slide 3 - &amp;quot;Introduction&amp;quot;&quot;/&gt;&lt;property id=&quot;20307&quot; value=&quot;392&quot;/&gt;&lt;/object&gt;&lt;object type=&quot;3&quot; unique_id=&quot;10327&quot;&gt;&lt;property id=&quot;20148&quot; value=&quot;5&quot;/&gt;&lt;property id=&quot;20300&quot; value=&quot;Slide 4 - &amp;quot;Introduction (cont…)&amp;quot;&quot;/&gt;&lt;property id=&quot;20307&quot; value=&quot;395&quot;/&gt;&lt;/object&gt;&lt;object type=&quot;3&quot; unique_id=&quot;10333&quot;&gt;&lt;property id=&quot;20148&quot; value=&quot;5&quot;/&gt;&lt;property id=&quot;20300&quot; value=&quot;Slide 5 - &amp;quot;Big Data – A Definition&amp;quot;&quot;/&gt;&lt;property id=&quot;20307&quot; value=&quot;386&quot;/&gt;&lt;/object&gt;&lt;object type=&quot;3&quot; unique_id=&quot;10334&quot;&gt;&lt;property id=&quot;20148&quot; value=&quot;5&quot;/&gt;&lt;property id=&quot;20300&quot; value=&quot;Slide 6 - &amp;quot;Characteristics of Big Data&amp;quot;&quot;/&gt;&lt;property id=&quot;20307&quot; value=&quot;355&quot;/&gt;&lt;/object&gt;&lt;object type=&quot;3&quot; unique_id=&quot;10339&quot;&gt;&lt;property id=&quot;20148&quot; value=&quot;5&quot;/&gt;&lt;property id=&quot;20300&quot; value=&quot;Slide 7 - &amp;quot;Big Data Analytics&amp;quot;&quot;/&gt;&lt;property id=&quot;20307&quot; value=&quot;387&quot;/&gt;&lt;/object&gt;&lt;object type=&quot;3&quot; unique_id=&quot;10369&quot;&gt;&lt;property id=&quot;20148&quot; value=&quot;5&quot;/&gt;&lt;property id=&quot;20300&quot; value=&quot;Slide 8 - &amp;quot;List of Development Tools&amp;quot;&quot;/&gt;&lt;property id=&quot;20307&quot; value=&quot;505&quot;/&gt;&lt;/object&gt;&lt;object type=&quot;3&quot; unique_id=&quot;10371&quot;&gt;&lt;property id=&quot;20148&quot; value=&quot;5&quot;/&gt;&lt;property id=&quot;20300&quot; value=&quot;Slide 11 - &amp;quot;Malware Classification: A Case Study&amp;quot;&quot;/&gt;&lt;property id=&quot;20307&quot; value=&quot;514&quot;/&gt;&lt;/object&gt;&lt;object type=&quot;3&quot; unique_id=&quot;10372&quot;&gt;&lt;property id=&quot;20148&quot; value=&quot;5&quot;/&gt;&lt;property id=&quot;20300&quot; value=&quot;Slide 55&quot;/&gt;&lt;property id=&quot;20307&quot; value=&quot;452&quot;/&gt;&lt;/object&gt;&lt;object type=&quot;3&quot; unique_id=&quot;11475&quot;&gt;&lt;property id=&quot;20148&quot; value=&quot;5&quot;/&gt;&lt;property id=&quot;20300&quot; value=&quot;Slide 2 - &amp;quot;Outline&amp;quot;&quot;/&gt;&lt;property id=&quot;20307&quot; value=&quot;516&quot;/&gt;&lt;/object&gt;&lt;object type=&quot;3&quot; unique_id=&quot;11477&quot;&gt;&lt;property id=&quot;20148&quot; value=&quot;5&quot;/&gt;&lt;property id=&quot;20300&quot; value=&quot;Slide 21 - &amp;quot;Research Gaps&amp;quot;&quot;/&gt;&lt;property id=&quot;20307&quot; value=&quot;517&quot;/&gt;&lt;/object&gt;&lt;object type=&quot;3&quot; unique_id=&quot;11478&quot;&gt;&lt;property id=&quot;20148&quot; value=&quot;5&quot;/&gt;&lt;property id=&quot;20300&quot; value=&quot;Slide 22 - &amp;quot;Research Gaps (Cont…)&amp;quot;&quot;/&gt;&lt;property id=&quot;20307&quot; value=&quot;528&quot;/&gt;&lt;/object&gt;&lt;object type=&quot;3&quot; unique_id=&quot;11479&quot;&gt;&lt;property id=&quot;20148&quot; value=&quot;5&quot;/&gt;&lt;property id=&quot;20300&quot; value=&quot;Slide 23 - &amp;quot;Problem Definition&amp;quot;&quot;/&gt;&lt;property id=&quot;20307&quot; value=&quot;519&quot;/&gt;&lt;/object&gt;&lt;object type=&quot;3&quot; unique_id=&quot;11480&quot;&gt;&lt;property id=&quot;20148&quot; value=&quot;5&quot;/&gt;&lt;property id=&quot;20300&quot; value=&quot;Slide 24 - &amp;quot;Research Objectives&amp;quot;&quot;/&gt;&lt;property id=&quot;20307&quot; value=&quot;518&quot;/&gt;&lt;/object&gt;&lt;object type=&quot;3&quot; unique_id=&quot;11481&quot;&gt;&lt;property id=&quot;20148&quot; value=&quot;5&quot;/&gt;&lt;property id=&quot;20300&quot; value=&quot;Slide 25 - &amp;quot;Research Objectives 1&amp;quot;&quot;/&gt;&lt;property id=&quot;20307&quot; value=&quot;520&quot;/&gt;&lt;/object&gt;&lt;object type=&quot;3&quot; unique_id=&quot;11482&quot;&gt;&lt;property id=&quot;20148&quot; value=&quot;5&quot;/&gt;&lt;property id=&quot;20300&quot; value=&quot;Slide 26 - &amp;quot;Research Objectives 2&amp;quot;&quot;/&gt;&lt;property id=&quot;20307&quot; value=&quot;530&quot;/&gt;&lt;/object&gt;&lt;object type=&quot;3&quot; unique_id=&quot;11483&quot;&gt;&lt;property id=&quot;20148&quot; value=&quot;5&quot;/&gt;&lt;property id=&quot;20300&quot; value=&quot;Slide 27 - &amp;quot;Research Objectives 3&amp;quot;&quot;/&gt;&lt;property id=&quot;20307&quot; value=&quot;531&quot;/&gt;&lt;/object&gt;&lt;object type=&quot;3&quot; unique_id=&quot;11484&quot;&gt;&lt;property id=&quot;20148&quot; value=&quot;5&quot;/&gt;&lt;property id=&quot;20300&quot; value=&quot;Slide 28 - &amp;quot;Architecture for Big Data Analytics&amp;quot;&quot;/&gt;&lt;property id=&quot;20307&quot; value=&quot;522&quot;/&gt;&lt;/object&gt;&lt;object type=&quot;3&quot; unique_id=&quot;11485&quot;&gt;&lt;property id=&quot;20148&quot; value=&quot;5&quot;/&gt;&lt;property id=&quot;20300&quot; value=&quot;Slide 50 - &amp;quot;Key Contributions&amp;quot;&quot;/&gt;&lt;property id=&quot;20307&quot; value=&quot;523&quot;/&gt;&lt;/object&gt;&lt;object type=&quot;3&quot; unique_id=&quot;11486&quot;&gt;&lt;property id=&quot;20148&quot; value=&quot;5&quot;/&gt;&lt;property id=&quot;20300&quot; value=&quot;Slide 51 - &amp;quot;Key Contributions&amp;quot;&quot;/&gt;&lt;property id=&quot;20307&quot; value=&quot;529&quot;/&gt;&lt;/object&gt;&lt;object type=&quot;3&quot; unique_id=&quot;11487&quot;&gt;&lt;property id=&quot;20148&quot; value=&quot;5&quot;/&gt;&lt;property id=&quot;20300&quot; value=&quot;Slide 52 - &amp;quot;Future Scope&amp;quot;&quot;/&gt;&lt;property id=&quot;20307&quot; value=&quot;524&quot;/&gt;&lt;/object&gt;&lt;object type=&quot;3&quot; unique_id=&quot;11488&quot;&gt;&lt;property id=&quot;20148&quot; value=&quot;5&quot;/&gt;&lt;property id=&quot;20300&quot; value=&quot;Slide 53 - &amp;quot;List of Publications&amp;quot;&quot;/&gt;&lt;property id=&quot;20307&quot; value=&quot;525&quot;/&gt;&lt;/object&gt;&lt;object type=&quot;3&quot; unique_id=&quot;11489&quot;&gt;&lt;property id=&quot;20148&quot; value=&quot;5&quot;/&gt;&lt;property id=&quot;20300&quot; value=&quot;Slide 54 - &amp;quot;References&amp;quot;&quot;/&gt;&lt;property id=&quot;20307&quot; value=&quot;526&quot;/&gt;&lt;/object&gt;&lt;object type=&quot;3&quot; unique_id=&quot;12645&quot;&gt;&lt;property id=&quot;20148&quot; value=&quot;5&quot;/&gt;&lt;property id=&quot;20300&quot; value=&quot;Slide 31&quot;/&gt;&lt;property id=&quot;20307&quot; value=&quot;533&quot;/&gt;&lt;/object&gt;&lt;object type=&quot;3&quot; unique_id=&quot;12646&quot;&gt;&lt;property id=&quot;20148&quot; value=&quot;5&quot;/&gt;&lt;property id=&quot;20300&quot; value=&quot;Slide 32&quot;/&gt;&lt;property id=&quot;20307&quot; value=&quot;534&quot;/&gt;&lt;/object&gt;&lt;object type=&quot;3&quot; unique_id=&quot;12647&quot;&gt;&lt;property id=&quot;20148&quot; value=&quot;5&quot;/&gt;&lt;property id=&quot;20300&quot; value=&quot;Slide 33&quot;/&gt;&lt;property id=&quot;20307&quot; value=&quot;535&quot;/&gt;&lt;/object&gt;&lt;object type=&quot;3&quot; unique_id=&quot;13251&quot;&gt;&lt;property id=&quot;20148&quot; value=&quot;5&quot;/&gt;&lt;property id=&quot;20300&quot; value=&quot;Slide 29 - &amp;quot;Data Preparation&amp;quot;&quot;/&gt;&lt;property id=&quot;20307&quot; value=&quot;537&quot;/&gt;&lt;/object&gt;&lt;object type=&quot;3&quot; unique_id=&quot;13252&quot;&gt;&lt;property id=&quot;20148&quot; value=&quot;5&quot;/&gt;&lt;property id=&quot;20300&quot; value=&quot;Slide 30 - &amp;quot;Functional Flow of Malware Trend Analysis&amp;quot;&quot;/&gt;&lt;property id=&quot;20307&quot; value=&quot;536&quot;/&gt;&lt;/object&gt;&lt;object type=&quot;3&quot; unique_id=&quot;13253&quot;&gt;&lt;property id=&quot;20148&quot; value=&quot;5&quot;/&gt;&lt;property id=&quot;20300&quot; value=&quot;Slide 34 - &amp;quot;Conclusion&amp;quot;&quot;/&gt;&lt;property id=&quot;20307&quot; value=&quot;538&quot;/&gt;&lt;/object&gt;&lt;object type=&quot;3&quot; unique_id=&quot;14250&quot;&gt;&lt;property id=&quot;20148&quot; value=&quot;5&quot;/&gt;&lt;property id=&quot;20300&quot; value=&quot;Slide 16 - &amp;quot;Comparison of open source big data stream processing frameworks&amp;quot;&quot;/&gt;&lt;property id=&quot;20307&quot; value=&quot;542&quot;/&gt;&lt;/object&gt;&lt;object type=&quot;3&quot; unique_id=&quot;14251&quot;&gt;&lt;property id=&quot;20148&quot; value=&quot;5&quot;/&gt;&lt;property id=&quot;20300&quot; value=&quot;Slide 17 - &amp;quot;Comparison of open source big data stream processing frameworks&amp;quot;&quot;/&gt;&lt;property id=&quot;20307&quot; value=&quot;545&quot;/&gt;&lt;/object&gt;&lt;object type=&quot;3&quot; unique_id=&quot;15004&quot;&gt;&lt;property id=&quot;20148&quot; value=&quot;5&quot;/&gt;&lt;property id=&quot;20300&quot; value=&quot;Slide 18 - &amp;quot;Malware Detection and Classification Techniques&amp;quot;&quot;/&gt;&lt;property id=&quot;20307&quot; value=&quot;548&quot;/&gt;&lt;/object&gt;&lt;object type=&quot;3&quot; unique_id=&quot;15005&quot;&gt;&lt;property id=&quot;20148&quot; value=&quot;5&quot;/&gt;&lt;property id=&quot;20300&quot; value=&quot;Slide 19 - &amp;quot;Malware Detection and Classification Techniques&amp;quot;&quot;/&gt;&lt;property id=&quot;20307&quot; value=&quot;549&quot;/&gt;&lt;/object&gt;&lt;object type=&quot;3&quot; unique_id=&quot;15006&quot;&gt;&lt;property id=&quot;20148&quot; value=&quot;5&quot;/&gt;&lt;property id=&quot;20300&quot; value=&quot;Slide 20 - &amp;quot;Malware Detection and Classification Techniques&amp;quot;&quot;/&gt;&lt;property id=&quot;20307&quot; value=&quot;550&quot;/&gt;&lt;/object&gt;&lt;object type=&quot;3&quot; unique_id=&quot;15624&quot;&gt;&lt;property id=&quot;20148&quot; value=&quot;5&quot;/&gt;&lt;property id=&quot;20300&quot; value=&quot;Slide 12 - &amp;quot;Literature Review&amp;quot;&quot;/&gt;&lt;property id=&quot;20307&quot; value=&quot;552&quot;/&gt;&lt;/object&gt;&lt;object type=&quot;3&quot; unique_id=&quot;15625&quot;&gt;&lt;property id=&quot;20148&quot; value=&quot;5&quot;/&gt;&lt;property id=&quot;20300&quot; value=&quot;Slide 13 - &amp;quot;A bibliometric study of relevant literature in academics/industry&amp;quot;&quot;/&gt;&lt;property id=&quot;20307&quot; value=&quot;553&quot;/&gt;&lt;/object&gt;&lt;object type=&quot;3&quot; unique_id=&quot;15626&quot;&gt;&lt;property id=&quot;20148&quot; value=&quot;5&quot;/&gt;&lt;property id=&quot;20300&quot; value=&quot;Slide 14 - &amp;quot;Literature Review&amp;quot;&quot;/&gt;&lt;property id=&quot;20307&quot; value=&quot;551&quot;/&gt;&lt;/object&gt;&lt;object type=&quot;3&quot; unique_id=&quot;15627&quot;&gt;&lt;property id=&quot;20148&quot; value=&quot;5&quot;/&gt;&lt;property id=&quot;20300&quot; value=&quot;Slide 15 - &amp;quot;Comparison of open source big data stream processing frameworks&amp;quot;&quot;/&gt;&lt;property id=&quot;20307&quot; value=&quot;556&quot;/&gt;&lt;/object&gt;&lt;object type=&quot;3&quot; unique_id=&quot;16029&quot;&gt;&lt;property id=&quot;20148&quot; value=&quot;5&quot;/&gt;&lt;property id=&quot;20300&quot; value=&quot;Slide 35 - &amp;quot;Big Data Framework for Zero-Day Malware Classification&amp;quot;&quot;/&gt;&lt;property id=&quot;20307&quot; value=&quot;557&quot;/&gt;&lt;/object&gt;&lt;object type=&quot;3&quot; unique_id=&quot;16030&quot;&gt;&lt;property id=&quot;20148&quot; value=&quot;5&quot;/&gt;&lt;property id=&quot;20300&quot; value=&quot;Slide 42 - &amp;quot;Improving Malware Detection using Big Data and EL&amp;quot;&quot;/&gt;&lt;property id=&quot;20307&quot; value=&quot;558&quot;/&gt;&lt;/object&gt;&lt;object type=&quot;3&quot; unique_id=&quot;16031&quot;&gt;&lt;property id=&quot;20148&quot; value=&quot;5&quot;/&gt;&lt;property id=&quot;20300&quot; value=&quot;Slide 49 - &amp;quot;Malware Classification using Big Data and Deep Neural Network&amp;quot;&quot;/&gt;&lt;property id=&quot;20307&quot; value=&quot;559&quot;/&gt;&lt;/object&gt;&lt;object type=&quot;3&quot; unique_id=&quot;16282&quot;&gt;&lt;property id=&quot;20148&quot; value=&quot;5&quot;/&gt;&lt;property id=&quot;20300&quot; value=&quot;Slide 44 - &amp;quot;Proposed Schemes&amp;quot;&quot;/&gt;&lt;property id=&quot;20307&quot; value=&quot;560&quot;/&gt;&lt;/object&gt;&lt;object type=&quot;3&quot; unique_id=&quot;16872&quot;&gt;&lt;property id=&quot;20148&quot; value=&quot;5&quot;/&gt;&lt;property id=&quot;20300&quot; value=&quot;Slide 43 - &amp;quot;Feature Vectorization&amp;quot;&quot;/&gt;&lt;property id=&quot;20307&quot; value=&quot;562&quot;/&gt;&lt;/object&gt;&lt;object type=&quot;3&quot; unique_id=&quot;16873&quot;&gt;&lt;property id=&quot;20148&quot; value=&quot;5&quot;/&gt;&lt;property id=&quot;20300&quot; value=&quot;Slide 45 - &amp;quot;Experimental Results and Evaluation&amp;quot;&quot;/&gt;&lt;property id=&quot;20307&quot; value=&quot;561&quot;/&gt;&lt;/object&gt;&lt;object type=&quot;3&quot; unique_id=&quot;16874&quot;&gt;&lt;property id=&quot;20148&quot; value=&quot;5&quot;/&gt;&lt;property id=&quot;20300&quot; value=&quot;Slide 46 - &amp;quot;Evaluation Results&amp;quot;&quot;/&gt;&lt;property id=&quot;20307&quot; value=&quot;563&quot;/&gt;&lt;/object&gt;&lt;object type=&quot;3&quot; unique_id=&quot;16875&quot;&gt;&lt;property id=&quot;20148&quot; value=&quot;5&quot;/&gt;&lt;property id=&quot;20300&quot; value=&quot;Slide 47 - &amp;quot;Evaluation Results&amp;quot;&quot;/&gt;&lt;property id=&quot;20307&quot; value=&quot;564&quot;/&gt;&lt;/object&gt;&lt;object type=&quot;3&quot; unique_id=&quot;16876&quot;&gt;&lt;property id=&quot;20148&quot; value=&quot;5&quot;/&gt;&lt;property id=&quot;20300&quot; value=&quot;Slide 48 - &amp;quot;Conclusion&amp;quot;&quot;/&gt;&lt;property id=&quot;20307&quot; value=&quot;565&quot;/&gt;&lt;/object&gt;&lt;object type=&quot;3&quot; unique_id=&quot;17661&quot;&gt;&lt;property id=&quot;20148&quot; value=&quot;5&quot;/&gt;&lt;property id=&quot;20300&quot; value=&quot;Slide 36 - &amp;quot;Data Preparation&amp;quot;&quot;/&gt;&lt;property id=&quot;20307&quot; value=&quot;566&quot;/&gt;&lt;/object&gt;&lt;object type=&quot;3&quot; unique_id=&quot;17662&quot;&gt;&lt;property id=&quot;20148&quot; value=&quot;5&quot;/&gt;&lt;property id=&quot;20300&quot; value=&quot;Slide 37 - &amp;quot;Big Data Framework for Malware Classification&amp;quot;&quot;/&gt;&lt;property id=&quot;20307&quot; value=&quot;568&quot;/&gt;&lt;/object&gt;&lt;object type=&quot;3&quot; unique_id=&quot;17663&quot;&gt;&lt;property id=&quot;20148&quot; value=&quot;5&quot;/&gt;&lt;property id=&quot;20300&quot; value=&quot;Slide 38 - &amp;quot;Feature Extraction&amp;quot;&quot;/&gt;&lt;property id=&quot;20307&quot; value=&quot;571&quot;/&gt;&lt;/object&gt;&lt;object type=&quot;3&quot; unique_id=&quot;17664&quot;&gt;&lt;property id=&quot;20148&quot; value=&quot;5&quot;/&gt;&lt;property id=&quot;20300&quot; value=&quot;Slide 39 - &amp;quot;Impact of Features on Malware Classification&amp;quot;&quot;/&gt;&lt;property id=&quot;20307&quot; value=&quot;569&quot;/&gt;&lt;/object&gt;&lt;object type=&quot;3&quot; unique_id=&quot;17665&quot;&gt;&lt;property id=&quot;20148&quot; value=&quot;5&quot;/&gt;&lt;property id=&quot;20300&quot; value=&quot;Slide 40 - &amp;quot;Experimental Results&amp;quot;&quot;/&gt;&lt;property id=&quot;20307&quot; value=&quot;570&quot;/&gt;&lt;/object&gt;&lt;object type=&quot;3&quot; unique_id=&quot;18034&quot;&gt;&lt;property id=&quot;20148&quot; value=&quot;5&quot;/&gt;&lt;property id=&quot;20300&quot; value=&quot;Slide 41 - &amp;quot;Conclusion&amp;quot;&quot;/&gt;&lt;property id=&quot;20307&quot; value=&quot;572&quot;/&gt;&lt;/object&gt;&lt;object type=&quot;3&quot; unique_id=&quot;20918&quot;&gt;&lt;property id=&quot;20148&quot; value=&quot;5&quot;/&gt;&lt;property id=&quot;20300&quot; value=&quot;Slide 9 - &amp;quot;Scalable Machine Learning Libraries&amp;quot;&quot;/&gt;&lt;property id=&quot;20307&quot; value=&quot;575&quot;/&gt;&lt;/object&gt;&lt;object type=&quot;3&quot; unique_id=&quot;20919&quot;&gt;&lt;property id=&quot;20148&quot; value=&quot;5&quot;/&gt;&lt;property id=&quot;20300&quot; value=&quot;Slide 10 - &amp;quot;High Level Conceptual Architecture of Big Data Security Analytics&amp;quot;&quot;/&gt;&lt;property id=&quot;20307&quot; value=&quot;576&quot;/&gt;&lt;/object&gt;&lt;/object&gt;&lt;object type=&quot;8&quot; unique_id=&quot;10430&quot;&gt;&lt;/object&gt;&lt;/object&gt;&lt;/database&gt;"/>
  <p:tag name="SECTOMILLISECCONVERTED" val="1"/>
</p:tagLst>
</file>

<file path=ppt/theme/theme1.xml><?xml version="1.0" encoding="utf-8"?>
<a:theme xmlns:a="http://schemas.openxmlformats.org/drawingml/2006/main"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1_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1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22589</TotalTime>
  <Words>5375</Words>
  <Application>Microsoft Office PowerPoint</Application>
  <PresentationFormat>On-screen Show (4:3)</PresentationFormat>
  <Paragraphs>803</Paragraphs>
  <Slides>41</Slides>
  <Notes>8</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41</vt:i4>
      </vt:variant>
    </vt:vector>
  </HeadingPairs>
  <TitlesOfParts>
    <vt:vector size="58" baseType="lpstr">
      <vt:lpstr>MS PGothic</vt:lpstr>
      <vt:lpstr>Aptos</vt:lpstr>
      <vt:lpstr>Arial</vt:lpstr>
      <vt:lpstr>Calibri</vt:lpstr>
      <vt:lpstr>Calibri Light</vt:lpstr>
      <vt:lpstr>Corbel</vt:lpstr>
      <vt:lpstr>Courier New</vt:lpstr>
      <vt:lpstr>Franklin Gothic Medium</vt:lpstr>
      <vt:lpstr>Helvetica</vt:lpstr>
      <vt:lpstr>Palatino</vt:lpstr>
      <vt:lpstr>Tahoma</vt:lpstr>
      <vt:lpstr>Times New Roman</vt:lpstr>
      <vt:lpstr>Verdana</vt:lpstr>
      <vt:lpstr>Webdings</vt:lpstr>
      <vt:lpstr>Wingdings</vt:lpstr>
      <vt:lpstr>1_os-8</vt:lpstr>
      <vt:lpstr>Custom Design</vt:lpstr>
      <vt:lpstr>Deepfake-News Shield: Detecting False Articles and Manipulated Photos</vt:lpstr>
      <vt:lpstr>Outline</vt:lpstr>
      <vt:lpstr>Introduction</vt:lpstr>
      <vt:lpstr>Problem Statement</vt:lpstr>
      <vt:lpstr>Objectives</vt:lpstr>
      <vt:lpstr>Literature Review</vt:lpstr>
      <vt:lpstr>Literature Review (cont…)</vt:lpstr>
      <vt:lpstr>Literature Review (cont…)</vt:lpstr>
      <vt:lpstr>Literature Review (cont…)</vt:lpstr>
      <vt:lpstr>Literature Review (cont…)</vt:lpstr>
      <vt:lpstr>Work Done (after Mid-Term Evaluation)</vt:lpstr>
      <vt:lpstr>Project Design</vt:lpstr>
      <vt:lpstr>Project Design (cont…)</vt:lpstr>
      <vt:lpstr>Project Design (cont…)</vt:lpstr>
      <vt:lpstr>Project Design (cont…)</vt:lpstr>
      <vt:lpstr>Project Design (cont…)</vt:lpstr>
      <vt:lpstr>Project Design (cont…)</vt:lpstr>
      <vt:lpstr>Tools, Technologies and Languages</vt:lpstr>
      <vt:lpstr>Dataset</vt:lpstr>
      <vt:lpstr>Dataset</vt:lpstr>
      <vt:lpstr>Implementation</vt:lpstr>
      <vt:lpstr>Implementation (cont…)</vt:lpstr>
      <vt:lpstr>Implementation (cont…)</vt:lpstr>
      <vt:lpstr>Implementation (cont…)</vt:lpstr>
      <vt:lpstr>Implementation (cont…)</vt:lpstr>
      <vt:lpstr>Implementation (cont…)</vt:lpstr>
      <vt:lpstr>Implementation (cont…)</vt:lpstr>
      <vt:lpstr>Experimental Results &amp; Evaluation</vt:lpstr>
      <vt:lpstr>Experimental Results &amp; Evaluation (cont…)</vt:lpstr>
      <vt:lpstr>Experimental Results &amp; Evaluation (cont…)</vt:lpstr>
      <vt:lpstr>Key Learnings</vt:lpstr>
      <vt:lpstr>Work Contribution and Attendance</vt:lpstr>
      <vt:lpstr>Supervisor Interactions (as mentioned in weekly log)</vt:lpstr>
      <vt:lpstr>Supervisor Interactions (cont…)</vt:lpstr>
      <vt:lpstr>Supervisor Interactions (cont…)</vt:lpstr>
      <vt:lpstr>Future Work</vt:lpstr>
      <vt:lpstr>Project Plan</vt:lpstr>
      <vt:lpstr>References</vt:lpstr>
      <vt:lpstr>References (cont…)</vt:lpstr>
      <vt:lpstr>References (cont…)</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Processes</dc:title>
  <dc:creator>Marilyn Turnamian</dc:creator>
  <cp:lastModifiedBy>Madhav Gupta</cp:lastModifiedBy>
  <cp:revision>1526</cp:revision>
  <cp:lastPrinted>2025-09-08T06:45:20Z</cp:lastPrinted>
  <dcterms:created xsi:type="dcterms:W3CDTF">2008-07-20T15:16:37Z</dcterms:created>
  <dcterms:modified xsi:type="dcterms:W3CDTF">2025-12-04T09:52:34Z</dcterms:modified>
</cp:coreProperties>
</file>